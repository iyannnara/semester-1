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1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672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377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050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68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141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832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467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7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526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894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000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A4C434D-1820-49D7-B40D-06E56ABB2E09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19EBCBE-94E4-473B-8C74-C98F9D2A2349}" type="slidenum">
              <a:rPr lang="en-ID" smtClean="0"/>
              <a:t>‹#›</a:t>
            </a:fld>
            <a:endParaRPr lang="en-ID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8179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8881-7F26-D9E2-5EAD-DBF94EA86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1226171"/>
            <a:ext cx="10993549" cy="1475013"/>
          </a:xfrm>
        </p:spPr>
        <p:txBody>
          <a:bodyPr>
            <a:normAutofit/>
          </a:bodyPr>
          <a:lstStyle/>
          <a:p>
            <a:pPr algn="ctr"/>
            <a:r>
              <a:rPr lang="en-ID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Crisis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BA081-3771-2625-1CF1-CEAA816A4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51495">
            <a:off x="3902953" y="3600178"/>
            <a:ext cx="3320807" cy="238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6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EB35-4DA0-D70F-347A-9983A130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 err="1">
                <a:latin typeface="Arial Black" panose="020B0A04020102020204" pitchFamily="34" charset="0"/>
              </a:rPr>
              <a:t>Definisi</a:t>
            </a:r>
            <a:endParaRPr lang="en-ID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B1060-8856-F966-0E7B-0067E65D9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i="1" dirty="0"/>
              <a:t>Software Crisis </a:t>
            </a:r>
            <a:r>
              <a:rPr lang="en-ID" dirty="0"/>
              <a:t>(</a:t>
            </a:r>
            <a:r>
              <a:rPr lang="en-ID" dirty="0" err="1"/>
              <a:t>Krisis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istilah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pada masa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ilmu</a:t>
            </a:r>
            <a:r>
              <a:rPr lang="en-ID" dirty="0"/>
              <a:t> </a:t>
            </a:r>
            <a:r>
              <a:rPr lang="en-ID" dirty="0" err="1"/>
              <a:t>komputasi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program </a:t>
            </a:r>
            <a:r>
              <a:rPr lang="en-ID" dirty="0" err="1"/>
              <a:t>komputer</a:t>
            </a:r>
            <a:r>
              <a:rPr lang="en-ID" dirty="0"/>
              <a:t> yang </a:t>
            </a:r>
            <a:r>
              <a:rPr lang="en-ID" dirty="0" err="1"/>
              <a:t>berguna</a:t>
            </a:r>
            <a:r>
              <a:rPr lang="en-ID" dirty="0"/>
              <a:t> dan </a:t>
            </a:r>
            <a:r>
              <a:rPr lang="en-ID" dirty="0" err="1"/>
              <a:t>efisien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</a:p>
          <a:p>
            <a:r>
              <a:rPr lang="en-ID" i="1" dirty="0"/>
              <a:t>Software Crisis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ketidakmampuan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software </a:t>
            </a:r>
            <a:r>
              <a:rPr lang="en-ID" dirty="0" err="1"/>
              <a:t>berkualitas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jadwal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para </a:t>
            </a:r>
            <a:r>
              <a:rPr lang="en-ID" dirty="0" err="1"/>
              <a:t>pelanggan</a:t>
            </a:r>
            <a:r>
              <a:rPr lang="en-ID" dirty="0"/>
              <a:t>. </a:t>
            </a:r>
          </a:p>
          <a:p>
            <a:r>
              <a:rPr lang="en-ID" i="1" dirty="0"/>
              <a:t>Software Crisis</a:t>
            </a:r>
            <a:r>
              <a:rPr lang="en-ID" dirty="0"/>
              <a:t> juga </a:t>
            </a:r>
            <a:r>
              <a:rPr lang="en-ID" dirty="0" err="1"/>
              <a:t>mengacu</a:t>
            </a:r>
            <a:r>
              <a:rPr lang="en-ID" dirty="0"/>
              <a:t> pada </a:t>
            </a:r>
            <a:r>
              <a:rPr lang="en-ID" dirty="0" err="1"/>
              <a:t>ketidakmampuan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mempekerjakan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programmer </a:t>
            </a:r>
            <a:r>
              <a:rPr lang="en-ID" dirty="0" err="1"/>
              <a:t>berkualitas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165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969D-7166-B252-784B-F79E22EF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5400" b="1" dirty="0"/>
              <a:t>Ciri-Ciri Utama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D935-DD37-D897-FA0B-9B6E8B221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D" b="1" dirty="0" err="1"/>
              <a:t>Pembengkakan</a:t>
            </a:r>
            <a:r>
              <a:rPr lang="en-ID" b="1" dirty="0"/>
              <a:t> </a:t>
            </a:r>
            <a:r>
              <a:rPr lang="en-ID" b="1" dirty="0" err="1"/>
              <a:t>biaya</a:t>
            </a:r>
            <a:r>
              <a:rPr lang="en-ID" dirty="0"/>
              <a:t>: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menghabiskan</a:t>
            </a:r>
            <a:r>
              <a:rPr lang="en-ID" dirty="0"/>
              <a:t> </a:t>
            </a:r>
            <a:r>
              <a:rPr lang="en-ID" dirty="0" err="1"/>
              <a:t>anggaran</a:t>
            </a:r>
            <a:r>
              <a:rPr lang="en-ID" dirty="0"/>
              <a:t> </a:t>
            </a:r>
            <a:r>
              <a:rPr lang="en-ID" dirty="0" err="1"/>
              <a:t>melebihi</a:t>
            </a:r>
            <a:r>
              <a:rPr lang="en-ID" dirty="0"/>
              <a:t> </a:t>
            </a:r>
            <a:r>
              <a:rPr lang="en-ID" dirty="0" err="1"/>
              <a:t>perkiraan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Keterlambatan</a:t>
            </a:r>
            <a:r>
              <a:rPr lang="en-ID" b="1" dirty="0"/>
              <a:t> </a:t>
            </a:r>
            <a:r>
              <a:rPr lang="en-ID" b="1" dirty="0" err="1"/>
              <a:t>waktu</a:t>
            </a:r>
            <a:r>
              <a:rPr lang="en-ID" dirty="0"/>
              <a:t>: </a:t>
            </a:r>
            <a:r>
              <a:rPr lang="en-ID" dirty="0" err="1"/>
              <a:t>Pengerjaan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melebihi</a:t>
            </a:r>
            <a:r>
              <a:rPr lang="en-ID" dirty="0"/>
              <a:t> </a:t>
            </a:r>
            <a:r>
              <a:rPr lang="en-ID" dirty="0" err="1"/>
              <a:t>tenggat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ditentukan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Kualitas</a:t>
            </a:r>
            <a:r>
              <a:rPr lang="en-ID" b="1" dirty="0"/>
              <a:t> </a:t>
            </a:r>
            <a:r>
              <a:rPr lang="en-ID" b="1" dirty="0" err="1"/>
              <a:t>rendah</a:t>
            </a:r>
            <a:r>
              <a:rPr lang="en-ID" dirty="0"/>
              <a:t>: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stabil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rusak</a:t>
            </a:r>
            <a:r>
              <a:rPr lang="en-ID" dirty="0"/>
              <a:t>.</a:t>
            </a:r>
          </a:p>
          <a:p>
            <a:pPr lvl="0"/>
            <a:r>
              <a:rPr lang="en-ID" b="1" dirty="0"/>
              <a:t>Tidak </a:t>
            </a:r>
            <a:r>
              <a:rPr lang="en-ID" b="1" dirty="0" err="1"/>
              <a:t>sesuai</a:t>
            </a:r>
            <a:r>
              <a:rPr lang="en-ID" b="1" dirty="0"/>
              <a:t> </a:t>
            </a:r>
            <a:r>
              <a:rPr lang="en-ID" b="1" dirty="0" err="1"/>
              <a:t>kebutuhan</a:t>
            </a:r>
            <a:r>
              <a:rPr lang="en-ID" dirty="0"/>
              <a:t>: Hasil </a:t>
            </a:r>
            <a:r>
              <a:rPr lang="en-ID" dirty="0" err="1"/>
              <a:t>akhir</a:t>
            </a:r>
            <a:r>
              <a:rPr lang="en-ID" dirty="0"/>
              <a:t> program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gagal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  <a:p>
            <a:pPr lvl="0"/>
            <a:r>
              <a:rPr lang="en-ID" b="1" dirty="0"/>
              <a:t>Sulit </a:t>
            </a:r>
            <a:r>
              <a:rPr lang="en-ID" b="1" dirty="0" err="1"/>
              <a:t>dipelihara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52505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C041-965D-1F6B-9A88-423A9F542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5400" b="1" dirty="0" err="1"/>
              <a:t>Penyebab</a:t>
            </a:r>
            <a:r>
              <a:rPr lang="en-ID" sz="5400" b="1" dirty="0"/>
              <a:t> Utama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3A39A-B19A-1616-3F55-E2CFB53CF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910"/>
            <a:ext cx="10515600" cy="4611053"/>
          </a:xfrm>
        </p:spPr>
        <p:txBody>
          <a:bodyPr>
            <a:normAutofit/>
          </a:bodyPr>
          <a:lstStyle/>
          <a:p>
            <a:pPr lvl="0"/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meningkat</a:t>
            </a:r>
            <a:r>
              <a:rPr lang="en-ID" dirty="0"/>
              <a:t>: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 dan </a:t>
            </a:r>
            <a:r>
              <a:rPr lang="en-ID" dirty="0" err="1"/>
              <a:t>masalah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 </a:t>
            </a:r>
            <a:r>
              <a:rPr lang="en-ID" dirty="0" err="1"/>
              <a:t>tumbuh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. </a:t>
            </a:r>
          </a:p>
          <a:p>
            <a:pPr lvl="0"/>
            <a:r>
              <a:rPr lang="en-ID" dirty="0" err="1"/>
              <a:t>Komputer</a:t>
            </a:r>
            <a:r>
              <a:rPr lang="en-ID" dirty="0"/>
              <a:t>  yang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canggih</a:t>
            </a:r>
            <a:r>
              <a:rPr lang="en-ID" dirty="0"/>
              <a:t>,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yang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dan </a:t>
            </a:r>
            <a:r>
              <a:rPr lang="en-ID" dirty="0" err="1"/>
              <a:t>kompleks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-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konvensional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(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, </a:t>
            </a:r>
            <a:r>
              <a:rPr lang="en-ID" dirty="0" err="1"/>
              <a:t>waktu</a:t>
            </a:r>
            <a:r>
              <a:rPr lang="en-ID" dirty="0"/>
              <a:t>, dan </a:t>
            </a:r>
            <a:r>
              <a:rPr lang="en-ID" dirty="0" err="1"/>
              <a:t>kualitas</a:t>
            </a:r>
            <a:r>
              <a:rPr lang="en-ID" dirty="0"/>
              <a:t>).</a:t>
            </a:r>
          </a:p>
          <a:p>
            <a:pPr lvl="0"/>
            <a:r>
              <a:rPr lang="en-ID" dirty="0" err="1"/>
              <a:t>K</a:t>
            </a:r>
            <a:r>
              <a:rPr lang="en-ID" dirty="0" err="1">
                <a:effectLst/>
              </a:rPr>
              <a:t>urangnya</a:t>
            </a:r>
            <a:r>
              <a:rPr lang="en-ID" dirty="0">
                <a:effectLst/>
              </a:rPr>
              <a:t> programmer yang </a:t>
            </a:r>
            <a:r>
              <a:rPr lang="en-ID" dirty="0" err="1">
                <a:effectLst/>
              </a:rPr>
              <a:t>bekerja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sama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sehingga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banyak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pekerjaan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terkonsentrasi</a:t>
            </a:r>
            <a:r>
              <a:rPr lang="en-ID" dirty="0">
                <a:effectLst/>
              </a:rPr>
              <a:t> pada </a:t>
            </a:r>
            <a:r>
              <a:rPr lang="en-ID" dirty="0" err="1">
                <a:effectLst/>
              </a:rPr>
              <a:t>satu</a:t>
            </a:r>
            <a:r>
              <a:rPr lang="en-ID" dirty="0">
                <a:effectLst/>
              </a:rPr>
              <a:t> programmer yang </a:t>
            </a:r>
            <a:r>
              <a:rPr lang="en-ID" dirty="0" err="1">
                <a:effectLst/>
              </a:rPr>
              <a:t>harus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fokus</a:t>
            </a:r>
            <a:r>
              <a:rPr lang="en-ID" dirty="0">
                <a:effectLst/>
              </a:rPr>
              <a:t> pada </a:t>
            </a:r>
            <a:r>
              <a:rPr lang="en-ID" dirty="0" err="1">
                <a:effectLst/>
              </a:rPr>
              <a:t>banyak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aspek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perangkat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lunak</a:t>
            </a:r>
            <a:r>
              <a:rPr lang="en-ID" dirty="0">
                <a:effectLst/>
              </a:rPr>
              <a:t>. </a:t>
            </a:r>
            <a:r>
              <a:rPr lang="en-ID" dirty="0" err="1">
                <a:effectLst/>
              </a:rPr>
              <a:t>Akibatnya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ada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kemungkinan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besar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mereka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melupakan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sesuatu</a:t>
            </a:r>
            <a:r>
              <a:rPr lang="en-ID" dirty="0">
                <a:effectLst/>
              </a:rPr>
              <a:t>, yang </a:t>
            </a:r>
            <a:r>
              <a:rPr lang="en-ID" dirty="0" err="1">
                <a:effectLst/>
              </a:rPr>
              <a:t>akan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menghasilkan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perangkat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lunak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spesifikasi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buruk</a:t>
            </a:r>
            <a:endParaRPr lang="en-ID" dirty="0"/>
          </a:p>
          <a:p>
            <a:pPr lvl="0"/>
            <a:r>
              <a:rPr lang="en-ID" dirty="0"/>
              <a:t>Metode </a:t>
            </a:r>
            <a:r>
              <a:rPr lang="en-ID" dirty="0" err="1"/>
              <a:t>kuno</a:t>
            </a:r>
            <a:r>
              <a:rPr lang="en-ID" dirty="0"/>
              <a:t>: Tim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, </a:t>
            </a:r>
            <a:r>
              <a:rPr lang="en-ID" dirty="0" err="1"/>
              <a:t>alat</a:t>
            </a:r>
            <a:r>
              <a:rPr lang="en-ID" dirty="0"/>
              <a:t>, dan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lama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menghadapi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yang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. </a:t>
            </a:r>
          </a:p>
          <a:p>
            <a:pPr lvl="0"/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perencanaan</a:t>
            </a:r>
            <a:r>
              <a:rPr lang="en-ID" dirty="0"/>
              <a:t>: Belum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kerangka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411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BB82-50A7-880E-C3F8-DEF18281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8000" b="1" dirty="0"/>
              <a:t>Solusi</a:t>
            </a:r>
            <a:endParaRPr lang="en-ID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BE2F-A849-1403-B6F8-7CE3565F6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D" sz="3600" dirty="0" err="1"/>
              <a:t>Masalah</a:t>
            </a:r>
            <a:r>
              <a:rPr lang="en-ID" sz="3600" dirty="0"/>
              <a:t> </a:t>
            </a:r>
            <a:r>
              <a:rPr lang="en-ID" sz="3600" i="1" dirty="0"/>
              <a:t>software crisis</a:t>
            </a:r>
            <a:r>
              <a:rPr lang="en-ID" sz="3600" dirty="0"/>
              <a:t> </a:t>
            </a:r>
            <a:r>
              <a:rPr lang="en-ID" sz="3600" dirty="0" err="1"/>
              <a:t>memunculkan</a:t>
            </a:r>
            <a:r>
              <a:rPr lang="en-ID" sz="3600" dirty="0"/>
              <a:t> </a:t>
            </a:r>
            <a:r>
              <a:rPr lang="en-ID" sz="3600" dirty="0" err="1"/>
              <a:t>bidang</a:t>
            </a:r>
            <a:r>
              <a:rPr lang="en-ID" sz="3600" dirty="0"/>
              <a:t> </a:t>
            </a:r>
            <a:r>
              <a:rPr lang="en-ID" sz="3600" b="1" dirty="0" err="1"/>
              <a:t>Rekayasa</a:t>
            </a:r>
            <a:r>
              <a:rPr lang="en-ID" sz="3600" b="1" dirty="0"/>
              <a:t> </a:t>
            </a:r>
            <a:r>
              <a:rPr lang="en-ID" sz="3600" b="1" dirty="0" err="1"/>
              <a:t>Perangkat</a:t>
            </a:r>
            <a:r>
              <a:rPr lang="en-ID" sz="3600" b="1" dirty="0"/>
              <a:t> Lunak</a:t>
            </a:r>
            <a:r>
              <a:rPr lang="en-ID" sz="3600" dirty="0"/>
              <a:t> (</a:t>
            </a:r>
            <a:r>
              <a:rPr lang="en-ID" sz="3600" i="1" dirty="0"/>
              <a:t>software engineering</a:t>
            </a:r>
            <a:r>
              <a:rPr lang="en-ID" sz="3600" dirty="0"/>
              <a:t>). </a:t>
            </a:r>
            <a:r>
              <a:rPr lang="en-ID" sz="3600" dirty="0" err="1"/>
              <a:t>Pendekatan</a:t>
            </a:r>
            <a:r>
              <a:rPr lang="en-ID" sz="3600" dirty="0"/>
              <a:t> </a:t>
            </a:r>
            <a:r>
              <a:rPr lang="en-ID" sz="3600" dirty="0" err="1"/>
              <a:t>ini</a:t>
            </a:r>
            <a:r>
              <a:rPr lang="en-ID" sz="3600" dirty="0"/>
              <a:t> </a:t>
            </a:r>
            <a:r>
              <a:rPr lang="en-ID" sz="3600" dirty="0" err="1"/>
              <a:t>menerapkan</a:t>
            </a:r>
            <a:r>
              <a:rPr lang="en-ID" sz="3600" dirty="0"/>
              <a:t> </a:t>
            </a:r>
            <a:r>
              <a:rPr lang="en-ID" sz="3600" dirty="0" err="1"/>
              <a:t>metode</a:t>
            </a:r>
            <a:r>
              <a:rPr lang="en-ID" sz="3600" dirty="0"/>
              <a:t>, proses </a:t>
            </a:r>
            <a:r>
              <a:rPr lang="en-ID" sz="3600" dirty="0" err="1"/>
              <a:t>terstruktur</a:t>
            </a:r>
            <a:r>
              <a:rPr lang="en-ID" sz="3600" dirty="0"/>
              <a:t>, dan </a:t>
            </a:r>
            <a:r>
              <a:rPr lang="en-ID" sz="3600" dirty="0" err="1"/>
              <a:t>prinsip</a:t>
            </a:r>
            <a:r>
              <a:rPr lang="en-ID" sz="3600" dirty="0"/>
              <a:t> </a:t>
            </a:r>
            <a:r>
              <a:rPr lang="en-ID" sz="3600" dirty="0" err="1"/>
              <a:t>teknik</a:t>
            </a:r>
            <a:r>
              <a:rPr lang="en-ID" sz="3600" dirty="0"/>
              <a:t> yang </a:t>
            </a:r>
            <a:r>
              <a:rPr lang="en-ID" sz="3600" dirty="0" err="1"/>
              <a:t>sistematis</a:t>
            </a:r>
            <a:r>
              <a:rPr lang="en-ID" sz="3600" dirty="0"/>
              <a:t> agar </a:t>
            </a:r>
            <a:r>
              <a:rPr lang="en-ID" sz="3600" dirty="0" err="1"/>
              <a:t>pembuatan</a:t>
            </a:r>
            <a:r>
              <a:rPr lang="en-ID" sz="3600" dirty="0"/>
              <a:t> program </a:t>
            </a:r>
            <a:r>
              <a:rPr lang="en-ID" sz="3600" dirty="0" err="1"/>
              <a:t>lebih</a:t>
            </a:r>
            <a:r>
              <a:rPr lang="en-ID" sz="3600" dirty="0"/>
              <a:t> </a:t>
            </a:r>
            <a:r>
              <a:rPr lang="en-ID" sz="3600" dirty="0" err="1"/>
              <a:t>teratur</a:t>
            </a:r>
            <a:r>
              <a:rPr lang="en-ID" sz="3600" dirty="0"/>
              <a:t>, </a:t>
            </a:r>
            <a:r>
              <a:rPr lang="en-ID" sz="3600" dirty="0" err="1"/>
              <a:t>berkualitas</a:t>
            </a:r>
            <a:r>
              <a:rPr lang="en-ID" sz="3600" dirty="0"/>
              <a:t> </a:t>
            </a:r>
            <a:r>
              <a:rPr lang="en-ID" sz="3600" dirty="0" err="1"/>
              <a:t>tinggi</a:t>
            </a:r>
            <a:r>
              <a:rPr lang="en-ID" sz="3600" dirty="0"/>
              <a:t>, </a:t>
            </a:r>
            <a:r>
              <a:rPr lang="en-ID" sz="3600" dirty="0" err="1"/>
              <a:t>serta</a:t>
            </a:r>
            <a:r>
              <a:rPr lang="en-ID" sz="3600" dirty="0"/>
              <a:t> </a:t>
            </a:r>
            <a:r>
              <a:rPr lang="en-ID" sz="3600" dirty="0" err="1"/>
              <a:t>tepat</a:t>
            </a:r>
            <a:r>
              <a:rPr lang="en-ID" sz="3600" dirty="0"/>
              <a:t> </a:t>
            </a:r>
            <a:r>
              <a:rPr lang="en-ID" sz="3600" dirty="0" err="1"/>
              <a:t>anggaran</a:t>
            </a:r>
            <a:r>
              <a:rPr lang="en-ID" sz="3600" dirty="0"/>
              <a:t> dan </a:t>
            </a:r>
            <a:r>
              <a:rPr lang="en-ID" sz="3600" dirty="0" err="1"/>
              <a:t>waktu</a:t>
            </a:r>
            <a:endParaRPr lang="en-ID" sz="3600" dirty="0"/>
          </a:p>
          <a:p>
            <a:r>
              <a:rPr lang="en-ID" sz="3600" dirty="0" err="1"/>
              <a:t>Diperlukan</a:t>
            </a:r>
            <a:r>
              <a:rPr lang="en-ID" sz="3600" dirty="0"/>
              <a:t> </a:t>
            </a:r>
            <a:r>
              <a:rPr lang="en-ID" sz="3600" dirty="0" err="1"/>
              <a:t>ilmu</a:t>
            </a:r>
            <a:r>
              <a:rPr lang="en-ID" sz="3600" dirty="0"/>
              <a:t> </a:t>
            </a:r>
            <a:r>
              <a:rPr lang="en-ID" sz="3600" dirty="0" err="1"/>
              <a:t>Rekayasa</a:t>
            </a:r>
            <a:r>
              <a:rPr lang="en-ID" sz="3600" dirty="0"/>
              <a:t> </a:t>
            </a:r>
            <a:r>
              <a:rPr lang="en-ID" sz="3600" dirty="0" err="1"/>
              <a:t>Perangkat</a:t>
            </a:r>
            <a:r>
              <a:rPr lang="en-ID" sz="3600" dirty="0"/>
              <a:t> Lunak (Software Engineering) yang </a:t>
            </a:r>
            <a:r>
              <a:rPr lang="en-ID" sz="3600" dirty="0" err="1"/>
              <a:t>membahas</a:t>
            </a:r>
            <a:r>
              <a:rPr lang="en-ID" sz="3600" dirty="0"/>
              <a:t> </a:t>
            </a:r>
            <a:r>
              <a:rPr lang="en-ID" sz="3600" dirty="0" err="1"/>
              <a:t>semua</a:t>
            </a:r>
            <a:r>
              <a:rPr lang="en-ID" sz="3600" dirty="0"/>
              <a:t> </a:t>
            </a:r>
            <a:r>
              <a:rPr lang="en-ID" sz="3600" dirty="0" err="1"/>
              <a:t>aspek</a:t>
            </a:r>
            <a:r>
              <a:rPr lang="en-ID" sz="3600" dirty="0"/>
              <a:t> </a:t>
            </a:r>
            <a:r>
              <a:rPr lang="en-ID" sz="3600" dirty="0" err="1"/>
              <a:t>produksi</a:t>
            </a:r>
            <a:r>
              <a:rPr lang="en-ID" sz="3600" dirty="0"/>
              <a:t> </a:t>
            </a:r>
            <a:r>
              <a:rPr lang="en-ID" sz="3600" dirty="0" err="1"/>
              <a:t>perangkat</a:t>
            </a:r>
            <a:r>
              <a:rPr lang="en-ID" sz="3600" dirty="0"/>
              <a:t> </a:t>
            </a:r>
            <a:r>
              <a:rPr lang="en-ID" sz="3600" dirty="0" err="1"/>
              <a:t>lunak</a:t>
            </a:r>
            <a:r>
              <a:rPr lang="en-ID" sz="3600" dirty="0"/>
              <a:t>, </a:t>
            </a:r>
            <a:r>
              <a:rPr lang="en-ID" sz="3600" dirty="0" err="1"/>
              <a:t>mulai</a:t>
            </a:r>
            <a:r>
              <a:rPr lang="en-ID" sz="3600" dirty="0"/>
              <a:t> </a:t>
            </a:r>
            <a:r>
              <a:rPr lang="en-ID" sz="3600" dirty="0" err="1"/>
              <a:t>dari</a:t>
            </a:r>
            <a:r>
              <a:rPr lang="en-ID" sz="3600" dirty="0"/>
              <a:t> </a:t>
            </a:r>
            <a:r>
              <a:rPr lang="en-ID" sz="3600" dirty="0" err="1"/>
              <a:t>tahap</a:t>
            </a:r>
            <a:r>
              <a:rPr lang="en-ID" sz="3600" dirty="0"/>
              <a:t> </a:t>
            </a:r>
            <a:r>
              <a:rPr lang="en-ID" sz="3600" dirty="0" err="1"/>
              <a:t>awal</a:t>
            </a:r>
            <a:r>
              <a:rPr lang="en-ID" sz="3600" dirty="0"/>
              <a:t> </a:t>
            </a:r>
            <a:r>
              <a:rPr lang="en-ID" sz="3600" dirty="0" err="1"/>
              <a:t>spesifikasi</a:t>
            </a:r>
            <a:r>
              <a:rPr lang="en-ID" sz="3600" dirty="0"/>
              <a:t>, </a:t>
            </a:r>
            <a:r>
              <a:rPr lang="en-ID" sz="3600" dirty="0" err="1"/>
              <a:t>desain</a:t>
            </a:r>
            <a:r>
              <a:rPr lang="en-ID" sz="3600" dirty="0"/>
              <a:t>, </a:t>
            </a:r>
            <a:r>
              <a:rPr lang="en-ID" sz="3600" dirty="0" err="1"/>
              <a:t>konstruksi</a:t>
            </a:r>
            <a:r>
              <a:rPr lang="en-ID" sz="3600" dirty="0"/>
              <a:t>, testing </a:t>
            </a:r>
            <a:r>
              <a:rPr lang="en-ID" sz="3600" dirty="0" err="1"/>
              <a:t>sampai</a:t>
            </a:r>
            <a:r>
              <a:rPr lang="en-ID" sz="3600" dirty="0"/>
              <a:t> </a:t>
            </a:r>
            <a:r>
              <a:rPr lang="en-ID" sz="3600" dirty="0" err="1"/>
              <a:t>pemeliharaan</a:t>
            </a:r>
            <a:r>
              <a:rPr lang="en-ID" sz="3600" dirty="0"/>
              <a:t> </a:t>
            </a:r>
            <a:r>
              <a:rPr lang="en-ID" sz="3600" dirty="0" err="1"/>
              <a:t>setelah</a:t>
            </a:r>
            <a:r>
              <a:rPr lang="en-ID" sz="3600" dirty="0"/>
              <a:t> </a:t>
            </a:r>
            <a:r>
              <a:rPr lang="en-ID" sz="3600" dirty="0" err="1"/>
              <a:t>digunakan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264184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0C4D-25D4-E987-850E-F22C2789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Kegagalan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Pengembangan</a:t>
            </a:r>
            <a:r>
              <a:rPr lang="en-ID" b="1" dirty="0"/>
              <a:t> </a:t>
            </a:r>
            <a:r>
              <a:rPr lang="en-ID" b="1" dirty="0" err="1"/>
              <a:t>Perangkat</a:t>
            </a:r>
            <a:r>
              <a:rPr lang="en-ID" b="1" dirty="0"/>
              <a:t> Lunak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2EFCB-1F97-3331-FA58-96C25540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4399"/>
            <a:ext cx="10515600" cy="3992563"/>
          </a:xfrm>
        </p:spPr>
        <p:txBody>
          <a:bodyPr>
            <a:normAutofit/>
          </a:bodyPr>
          <a:lstStyle/>
          <a:p>
            <a:r>
              <a:rPr lang="en-ID" sz="3600" dirty="0" err="1"/>
              <a:t>Kegagalan</a:t>
            </a:r>
            <a:r>
              <a:rPr lang="en-ID" sz="3600" dirty="0"/>
              <a:t> </a:t>
            </a:r>
            <a:r>
              <a:rPr lang="en-ID" sz="3600" dirty="0" err="1"/>
              <a:t>dalam</a:t>
            </a:r>
            <a:r>
              <a:rPr lang="en-ID" sz="3600" dirty="0"/>
              <a:t> </a:t>
            </a:r>
            <a:r>
              <a:rPr lang="en-ID" sz="3600" dirty="0" err="1"/>
              <a:t>pengembangan</a:t>
            </a:r>
            <a:r>
              <a:rPr lang="en-ID" sz="3600" dirty="0"/>
              <a:t> </a:t>
            </a:r>
            <a:r>
              <a:rPr lang="en-ID" sz="3600" dirty="0" err="1"/>
              <a:t>perangkat</a:t>
            </a:r>
            <a:r>
              <a:rPr lang="en-ID" sz="3600" dirty="0"/>
              <a:t> </a:t>
            </a:r>
            <a:r>
              <a:rPr lang="en-ID" sz="3600" dirty="0" err="1"/>
              <a:t>lunak</a:t>
            </a:r>
            <a:r>
              <a:rPr lang="en-ID" sz="3600" dirty="0"/>
              <a:t> </a:t>
            </a:r>
            <a:r>
              <a:rPr lang="en-ID" sz="3600" dirty="0" err="1"/>
              <a:t>adalah</a:t>
            </a:r>
            <a:r>
              <a:rPr lang="en-ID" sz="3600" dirty="0"/>
              <a:t> </a:t>
            </a:r>
            <a:r>
              <a:rPr lang="en-ID" sz="3600" dirty="0" err="1"/>
              <a:t>saat</a:t>
            </a:r>
            <a:r>
              <a:rPr lang="en-ID" sz="3600" dirty="0"/>
              <a:t> </a:t>
            </a:r>
            <a:r>
              <a:rPr lang="en-ID" sz="3600" dirty="0" err="1"/>
              <a:t>proyek</a:t>
            </a:r>
            <a:r>
              <a:rPr lang="en-ID" sz="3600" dirty="0"/>
              <a:t> </a:t>
            </a:r>
            <a:r>
              <a:rPr lang="en-ID" sz="3600" dirty="0" err="1"/>
              <a:t>gagal</a:t>
            </a:r>
            <a:r>
              <a:rPr lang="en-ID" sz="3600" dirty="0"/>
              <a:t> </a:t>
            </a:r>
            <a:r>
              <a:rPr lang="en-ID" sz="3600" dirty="0" err="1"/>
              <a:t>memenuhi</a:t>
            </a:r>
            <a:r>
              <a:rPr lang="en-ID" sz="3600" dirty="0"/>
              <a:t> target </a:t>
            </a:r>
            <a:r>
              <a:rPr lang="en-ID" sz="3600" dirty="0" err="1"/>
              <a:t>waktu</a:t>
            </a:r>
            <a:r>
              <a:rPr lang="en-ID" sz="3600" dirty="0"/>
              <a:t>, </a:t>
            </a:r>
            <a:r>
              <a:rPr lang="en-ID" sz="3600" dirty="0" err="1"/>
              <a:t>biaya</a:t>
            </a:r>
            <a:r>
              <a:rPr lang="en-ID" sz="3600" dirty="0"/>
              <a:t>, </a:t>
            </a:r>
            <a:r>
              <a:rPr lang="en-ID" sz="3600" dirty="0" err="1"/>
              <a:t>atau</a:t>
            </a:r>
            <a:r>
              <a:rPr lang="en-ID" sz="3600" dirty="0"/>
              <a:t> </a:t>
            </a:r>
            <a:r>
              <a:rPr lang="en-ID" sz="3600" dirty="0" err="1"/>
              <a:t>fungsi</a:t>
            </a:r>
            <a:r>
              <a:rPr lang="en-ID" sz="3600" dirty="0"/>
              <a:t> yang </a:t>
            </a:r>
            <a:r>
              <a:rPr lang="en-ID" sz="3600" dirty="0" err="1"/>
              <a:t>diharapkan</a:t>
            </a:r>
            <a:r>
              <a:rPr lang="en-ID" sz="3600" dirty="0"/>
              <a:t> oleh </a:t>
            </a:r>
            <a:r>
              <a:rPr lang="en-ID" sz="3600" dirty="0" err="1"/>
              <a:t>pengguna</a:t>
            </a:r>
            <a:r>
              <a:rPr lang="en-ID" sz="3600" dirty="0"/>
              <a:t>. </a:t>
            </a:r>
            <a:r>
              <a:rPr lang="en-ID" sz="3600" dirty="0" err="1"/>
              <a:t>Masalah</a:t>
            </a:r>
            <a:r>
              <a:rPr lang="en-ID" sz="3600" dirty="0"/>
              <a:t> </a:t>
            </a:r>
            <a:r>
              <a:rPr lang="en-ID" sz="3600" dirty="0" err="1"/>
              <a:t>ini</a:t>
            </a:r>
            <a:r>
              <a:rPr lang="en-ID" sz="3600" dirty="0"/>
              <a:t> </a:t>
            </a:r>
            <a:r>
              <a:rPr lang="en-ID" sz="3600" dirty="0" err="1"/>
              <a:t>sering</a:t>
            </a:r>
            <a:r>
              <a:rPr lang="en-ID" sz="3600" dirty="0"/>
              <a:t> </a:t>
            </a:r>
            <a:r>
              <a:rPr lang="en-ID" sz="3600" dirty="0" err="1"/>
              <a:t>terjadi</a:t>
            </a:r>
            <a:r>
              <a:rPr lang="en-ID" sz="3600" dirty="0"/>
              <a:t> </a:t>
            </a:r>
            <a:r>
              <a:rPr lang="en-ID" sz="3600" dirty="0" err="1"/>
              <a:t>karena</a:t>
            </a:r>
            <a:r>
              <a:rPr lang="en-ID" sz="3600" dirty="0"/>
              <a:t> </a:t>
            </a:r>
            <a:r>
              <a:rPr lang="en-ID" sz="3600" dirty="0" err="1"/>
              <a:t>beberapa</a:t>
            </a:r>
            <a:r>
              <a:rPr lang="en-ID" sz="3600" dirty="0"/>
              <a:t> </a:t>
            </a:r>
            <a:r>
              <a:rPr lang="en-ID" sz="3600" dirty="0" err="1"/>
              <a:t>faktor</a:t>
            </a:r>
            <a:r>
              <a:rPr lang="en-ID" sz="3600" dirty="0"/>
              <a:t> </a:t>
            </a:r>
            <a:r>
              <a:rPr lang="en-ID" sz="3600" dirty="0" err="1"/>
              <a:t>utama</a:t>
            </a:r>
            <a:r>
              <a:rPr lang="en-ID" sz="3600" dirty="0"/>
              <a:t> di </a:t>
            </a:r>
            <a:r>
              <a:rPr lang="en-ID" sz="3600" dirty="0" err="1"/>
              <a:t>dalam</a:t>
            </a:r>
            <a:r>
              <a:rPr lang="en-ID" sz="3600" dirty="0"/>
              <a:t> proses </a:t>
            </a:r>
            <a:r>
              <a:rPr lang="en-ID" sz="3600" dirty="0" err="1"/>
              <a:t>pembuatannya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88492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08D6-9E85-A3F2-A90E-9D8E684F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Penyebab</a:t>
            </a:r>
            <a:r>
              <a:rPr lang="en-ID" dirty="0"/>
              <a:t> Utama </a:t>
            </a:r>
            <a:r>
              <a:rPr lang="en-ID" dirty="0" err="1"/>
              <a:t>Kegagalan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FA14-ADDD-0326-0A4F-130AF6B9F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D" b="1" dirty="0" err="1"/>
              <a:t>Persyaratan</a:t>
            </a:r>
            <a:r>
              <a:rPr lang="en-ID" b="1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jelas</a:t>
            </a:r>
            <a:r>
              <a:rPr lang="en-ID" dirty="0"/>
              <a:t>: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batas yang </a:t>
            </a:r>
            <a:r>
              <a:rPr lang="en-ID" dirty="0" err="1"/>
              <a:t>pasti</a:t>
            </a:r>
            <a:r>
              <a:rPr lang="en-ID" dirty="0"/>
              <a:t> di </a:t>
            </a:r>
            <a:r>
              <a:rPr lang="en-ID" dirty="0" err="1"/>
              <a:t>tengah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Komunikasi</a:t>
            </a:r>
            <a:r>
              <a:rPr lang="en-ID" b="1" dirty="0"/>
              <a:t> </a:t>
            </a:r>
            <a:r>
              <a:rPr lang="en-ID" b="1" dirty="0" err="1"/>
              <a:t>buruk</a:t>
            </a:r>
            <a:r>
              <a:rPr lang="en-ID" dirty="0"/>
              <a:t>: Tim </a:t>
            </a:r>
            <a:r>
              <a:rPr lang="en-ID" dirty="0" err="1"/>
              <a:t>pengembang</a:t>
            </a:r>
            <a:r>
              <a:rPr lang="en-ID" dirty="0"/>
              <a:t> dan </a:t>
            </a:r>
            <a:r>
              <a:rPr lang="en-ID" dirty="0" err="1"/>
              <a:t>klien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transparan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Perencanaan</a:t>
            </a:r>
            <a:r>
              <a:rPr lang="en-ID" b="1" dirty="0"/>
              <a:t> </a:t>
            </a:r>
            <a:r>
              <a:rPr lang="en-ID" b="1" dirty="0" err="1"/>
              <a:t>lemah</a:t>
            </a:r>
            <a:r>
              <a:rPr lang="en-ID" dirty="0"/>
              <a:t>: Waktu </a:t>
            </a:r>
            <a:r>
              <a:rPr lang="en-ID" dirty="0" err="1"/>
              <a:t>kerja</a:t>
            </a:r>
            <a:r>
              <a:rPr lang="en-ID" dirty="0"/>
              <a:t> dan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perhitungan</a:t>
            </a:r>
            <a:r>
              <a:rPr lang="en-ID" dirty="0"/>
              <a:t> yang </a:t>
            </a:r>
            <a:r>
              <a:rPr lang="en-ID" dirty="0" err="1"/>
              <a:t>matang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Kurangnya</a:t>
            </a:r>
            <a:r>
              <a:rPr lang="en-ID" b="1" dirty="0"/>
              <a:t> </a:t>
            </a:r>
            <a:r>
              <a:rPr lang="en-ID" b="1" dirty="0" err="1"/>
              <a:t>keterlibatan</a:t>
            </a:r>
            <a:r>
              <a:rPr lang="en-ID" b="1" dirty="0"/>
              <a:t> </a:t>
            </a:r>
            <a:r>
              <a:rPr lang="en-ID" b="1" dirty="0" err="1"/>
              <a:t>pengguna</a:t>
            </a:r>
            <a:r>
              <a:rPr lang="en-ID" dirty="0"/>
              <a:t>: </a:t>
            </a:r>
            <a:r>
              <a:rPr lang="en-ID" dirty="0" err="1"/>
              <a:t>Pembuat</a:t>
            </a:r>
            <a:r>
              <a:rPr lang="en-ID" dirty="0"/>
              <a:t> </a:t>
            </a:r>
            <a:r>
              <a:rPr lang="en-ID" dirty="0" err="1"/>
              <a:t>jarang</a:t>
            </a:r>
            <a:r>
              <a:rPr lang="en-ID" dirty="0"/>
              <a:t> </a:t>
            </a:r>
            <a:r>
              <a:rPr lang="en-ID" dirty="0" err="1"/>
              <a:t>meminta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orang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memakai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Kapasitas</a:t>
            </a:r>
            <a:r>
              <a:rPr lang="en-ID" b="1" dirty="0"/>
              <a:t> server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dirty="0"/>
              <a:t>: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pemakai</a:t>
            </a:r>
            <a:r>
              <a:rPr lang="en-ID" dirty="0"/>
              <a:t> </a:t>
            </a:r>
            <a:r>
              <a:rPr lang="en-ID" dirty="0" err="1"/>
              <a:t>meningkat</a:t>
            </a:r>
            <a:r>
              <a:rPr lang="en-ID" dirty="0"/>
              <a:t> </a:t>
            </a:r>
            <a:r>
              <a:rPr lang="en-ID" dirty="0" err="1"/>
              <a:t>drastis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0873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F77B-27FB-1120-E71B-496D5E7B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5400" b="1" dirty="0"/>
              <a:t>Cara </a:t>
            </a:r>
            <a:r>
              <a:rPr lang="en-ID" sz="5400" b="1" dirty="0" err="1"/>
              <a:t>Mencegah</a:t>
            </a:r>
            <a:r>
              <a:rPr lang="en-ID" sz="5400" b="1" dirty="0"/>
              <a:t> </a:t>
            </a:r>
            <a:r>
              <a:rPr lang="en-ID" sz="5400" b="1" dirty="0" err="1"/>
              <a:t>Kegagalan</a:t>
            </a:r>
            <a:endParaRPr lang="en-ID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40C7E-AAC4-60CA-2931-59E7ADABE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D" sz="4000" dirty="0"/>
              <a:t>Buat </a:t>
            </a:r>
            <a:r>
              <a:rPr lang="en-ID" sz="4000" dirty="0" err="1"/>
              <a:t>rencana</a:t>
            </a:r>
            <a:r>
              <a:rPr lang="en-ID" sz="4000" dirty="0"/>
              <a:t> dan batas </a:t>
            </a:r>
            <a:r>
              <a:rPr lang="en-ID" sz="4000" dirty="0" err="1"/>
              <a:t>kerja</a:t>
            </a:r>
            <a:r>
              <a:rPr lang="en-ID" sz="4000" dirty="0"/>
              <a:t> yang </a:t>
            </a:r>
            <a:r>
              <a:rPr lang="en-ID" sz="4000" dirty="0" err="1"/>
              <a:t>jelas</a:t>
            </a:r>
            <a:r>
              <a:rPr lang="en-ID" sz="4000" dirty="0"/>
              <a:t> </a:t>
            </a:r>
            <a:r>
              <a:rPr lang="en-ID" sz="4000" dirty="0" err="1"/>
              <a:t>sejak</a:t>
            </a:r>
            <a:r>
              <a:rPr lang="en-ID" sz="4000" dirty="0"/>
              <a:t> </a:t>
            </a:r>
            <a:r>
              <a:rPr lang="en-ID" sz="4000" dirty="0" err="1"/>
              <a:t>awal</a:t>
            </a:r>
            <a:r>
              <a:rPr lang="en-ID" sz="4000" dirty="0"/>
              <a:t>.</a:t>
            </a:r>
          </a:p>
          <a:p>
            <a:pPr lvl="0"/>
            <a:r>
              <a:rPr lang="en-ID" sz="4000" dirty="0"/>
              <a:t>Adakan </a:t>
            </a:r>
            <a:r>
              <a:rPr lang="en-ID" sz="4000" dirty="0" err="1"/>
              <a:t>pertemuan</a:t>
            </a:r>
            <a:r>
              <a:rPr lang="en-ID" sz="4000" dirty="0"/>
              <a:t> rutin </a:t>
            </a:r>
            <a:r>
              <a:rPr lang="en-ID" sz="4000" dirty="0" err="1"/>
              <a:t>antara</a:t>
            </a:r>
            <a:r>
              <a:rPr lang="en-ID" sz="4000" dirty="0"/>
              <a:t> </a:t>
            </a:r>
            <a:r>
              <a:rPr lang="en-ID" sz="4000" dirty="0" err="1"/>
              <a:t>tim</a:t>
            </a:r>
            <a:r>
              <a:rPr lang="en-ID" sz="4000" dirty="0"/>
              <a:t> dan </a:t>
            </a:r>
            <a:r>
              <a:rPr lang="en-ID" sz="4000" dirty="0" err="1"/>
              <a:t>klien</a:t>
            </a:r>
            <a:r>
              <a:rPr lang="en-ID" sz="4000" dirty="0"/>
              <a:t>.</a:t>
            </a:r>
          </a:p>
          <a:p>
            <a:pPr lvl="0"/>
            <a:r>
              <a:rPr lang="en-ID" sz="4000" dirty="0"/>
              <a:t>Uji </a:t>
            </a:r>
            <a:r>
              <a:rPr lang="en-ID" sz="4000" dirty="0" err="1"/>
              <a:t>coba</a:t>
            </a:r>
            <a:r>
              <a:rPr lang="en-ID" sz="4000" dirty="0"/>
              <a:t> program </a:t>
            </a:r>
            <a:r>
              <a:rPr lang="en-ID" sz="4000" dirty="0" err="1"/>
              <a:t>secara</a:t>
            </a:r>
            <a:r>
              <a:rPr lang="en-ID" sz="4000" dirty="0"/>
              <a:t> </a:t>
            </a:r>
            <a:r>
              <a:rPr lang="en-ID" sz="4000" dirty="0" err="1"/>
              <a:t>berkala</a:t>
            </a:r>
            <a:r>
              <a:rPr lang="en-ID" sz="4000" dirty="0"/>
              <a:t> </a:t>
            </a:r>
            <a:r>
              <a:rPr lang="en-ID" sz="4000" dirty="0" err="1"/>
              <a:t>sebelum</a:t>
            </a:r>
            <a:r>
              <a:rPr lang="en-ID" sz="4000" dirty="0"/>
              <a:t> </a:t>
            </a:r>
            <a:r>
              <a:rPr lang="en-ID" sz="4000" dirty="0" err="1"/>
              <a:t>rilis</a:t>
            </a:r>
            <a:r>
              <a:rPr lang="en-ID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590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630F-4D53-6288-E79F-4151B384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kejadian</a:t>
            </a:r>
            <a:r>
              <a:rPr lang="en-US" b="1" dirty="0"/>
              <a:t> </a:t>
            </a:r>
            <a:r>
              <a:rPr lang="en-US" b="1" i="1" dirty="0"/>
              <a:t>software crisis </a:t>
            </a:r>
            <a:endParaRPr lang="en-ID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CAD0-4029-8554-4C35-9F8779CD2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dan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gagal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i="1" dirty="0"/>
              <a:t>software crisis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yang </a:t>
            </a:r>
            <a:r>
              <a:rPr lang="en-ID" dirty="0" err="1"/>
              <a:t>ekstrem</a:t>
            </a:r>
            <a:r>
              <a:rPr lang="en-ID" dirty="0"/>
              <a:t>:</a:t>
            </a:r>
          </a:p>
          <a:p>
            <a:r>
              <a:rPr lang="en-ID" b="1" dirty="0" err="1"/>
              <a:t>Proyek</a:t>
            </a:r>
            <a:r>
              <a:rPr lang="en-ID" b="1" dirty="0"/>
              <a:t> IBM OS/360 (1960-an) </a:t>
            </a:r>
          </a:p>
          <a:p>
            <a:pPr marL="271463" lvl="1" indent="0">
              <a:buNone/>
            </a:pPr>
            <a:r>
              <a:rPr lang="en-ID" dirty="0"/>
              <a:t>Ini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yang </a:t>
            </a:r>
            <a:r>
              <a:rPr lang="en-ID" dirty="0" err="1"/>
              <a:t>memicu</a:t>
            </a:r>
            <a:r>
              <a:rPr lang="en-ID" dirty="0"/>
              <a:t> </a:t>
            </a:r>
            <a:r>
              <a:rPr lang="en-ID" dirty="0" err="1"/>
              <a:t>lahirnya</a:t>
            </a:r>
            <a:r>
              <a:rPr lang="en-ID" dirty="0"/>
              <a:t> </a:t>
            </a:r>
            <a:r>
              <a:rPr lang="en-ID" dirty="0" err="1"/>
              <a:t>istilah</a:t>
            </a:r>
            <a:r>
              <a:rPr lang="en-ID" dirty="0"/>
              <a:t> </a:t>
            </a:r>
            <a:r>
              <a:rPr lang="en-ID" i="1" dirty="0"/>
              <a:t>software crisis</a:t>
            </a:r>
            <a:r>
              <a:rPr lang="en-ID" dirty="0"/>
              <a:t> dan </a:t>
            </a:r>
            <a:r>
              <a:rPr lang="en-ID" dirty="0" err="1"/>
              <a:t>dibahas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legendaris</a:t>
            </a:r>
            <a:r>
              <a:rPr lang="en-ID" dirty="0"/>
              <a:t> </a:t>
            </a:r>
            <a:r>
              <a:rPr lang="en-ID" i="1" dirty="0"/>
              <a:t>The Mythical Man-Month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Masalah</a:t>
            </a:r>
            <a:r>
              <a:rPr lang="en-ID" b="1" dirty="0"/>
              <a:t>:</a:t>
            </a:r>
            <a:r>
              <a:rPr lang="en-ID" dirty="0"/>
              <a:t> IBM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tunggal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lini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System/360 </a:t>
            </a:r>
            <a:r>
              <a:rPr lang="en-ID" dirty="0" err="1"/>
              <a:t>mereka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memakan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bertahun-tahun</a:t>
            </a:r>
            <a:r>
              <a:rPr lang="en-ID" dirty="0"/>
              <a:t> </a:t>
            </a:r>
            <a:r>
              <a:rPr lang="en-ID" dirty="0" err="1"/>
              <a:t>melebihi</a:t>
            </a:r>
            <a:r>
              <a:rPr lang="en-ID" dirty="0"/>
              <a:t> </a:t>
            </a:r>
            <a:r>
              <a:rPr lang="en-ID" dirty="0" err="1"/>
              <a:t>jadwal</a:t>
            </a:r>
            <a:r>
              <a:rPr lang="en-ID" dirty="0"/>
              <a:t>, </a:t>
            </a:r>
            <a:r>
              <a:rPr lang="en-ID" dirty="0" err="1"/>
              <a:t>menghabiskan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jutaan</a:t>
            </a:r>
            <a:r>
              <a:rPr lang="en-ID" dirty="0"/>
              <a:t> </a:t>
            </a:r>
            <a:r>
              <a:rPr lang="en-ID" dirty="0" err="1"/>
              <a:t>dolar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anggaran</a:t>
            </a:r>
            <a:r>
              <a:rPr lang="en-ID" dirty="0"/>
              <a:t>, dan sangat </a:t>
            </a:r>
            <a:r>
              <a:rPr lang="en-ID" dirty="0" err="1"/>
              <a:t>rumit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melahirkan</a:t>
            </a:r>
            <a:r>
              <a:rPr lang="en-ID" dirty="0"/>
              <a:t> </a:t>
            </a:r>
            <a:r>
              <a:rPr lang="en-ID" dirty="0" err="1"/>
              <a:t>hukum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: </a:t>
            </a:r>
            <a:r>
              <a:rPr lang="en-ID" i="1" dirty="0"/>
              <a:t>"</a:t>
            </a:r>
            <a:r>
              <a:rPr lang="en-ID" i="1" dirty="0" err="1"/>
              <a:t>Menambah</a:t>
            </a:r>
            <a:r>
              <a:rPr lang="en-ID" i="1" dirty="0"/>
              <a:t> </a:t>
            </a:r>
            <a:r>
              <a:rPr lang="en-ID" i="1" dirty="0" err="1"/>
              <a:t>tenaga</a:t>
            </a:r>
            <a:r>
              <a:rPr lang="en-ID" i="1" dirty="0"/>
              <a:t> </a:t>
            </a:r>
            <a:r>
              <a:rPr lang="en-ID" i="1" dirty="0" err="1"/>
              <a:t>kerja</a:t>
            </a:r>
            <a:r>
              <a:rPr lang="en-ID" i="1" dirty="0"/>
              <a:t> pada </a:t>
            </a:r>
            <a:r>
              <a:rPr lang="en-ID" i="1" dirty="0" err="1"/>
              <a:t>proyek</a:t>
            </a:r>
            <a:r>
              <a:rPr lang="en-ID" i="1" dirty="0"/>
              <a:t> </a:t>
            </a:r>
            <a:r>
              <a:rPr lang="en-ID" i="1" dirty="0" err="1"/>
              <a:t>perangkat</a:t>
            </a:r>
            <a:r>
              <a:rPr lang="en-ID" i="1" dirty="0"/>
              <a:t> </a:t>
            </a:r>
            <a:r>
              <a:rPr lang="en-ID" i="1" dirty="0" err="1"/>
              <a:t>lunak</a:t>
            </a:r>
            <a:r>
              <a:rPr lang="en-ID" i="1" dirty="0"/>
              <a:t> yang </a:t>
            </a:r>
            <a:r>
              <a:rPr lang="en-ID" i="1" dirty="0" err="1"/>
              <a:t>terlambat</a:t>
            </a:r>
            <a:r>
              <a:rPr lang="en-ID" i="1" dirty="0"/>
              <a:t> </a:t>
            </a:r>
            <a:r>
              <a:rPr lang="en-ID" i="1" dirty="0" err="1"/>
              <a:t>justru</a:t>
            </a:r>
            <a:r>
              <a:rPr lang="en-ID" i="1" dirty="0"/>
              <a:t> </a:t>
            </a:r>
            <a:r>
              <a:rPr lang="en-ID" i="1" dirty="0" err="1"/>
              <a:t>akan</a:t>
            </a:r>
            <a:r>
              <a:rPr lang="en-ID" i="1" dirty="0"/>
              <a:t> </a:t>
            </a:r>
            <a:r>
              <a:rPr lang="en-ID" i="1" dirty="0" err="1"/>
              <a:t>membuatnya</a:t>
            </a:r>
            <a:r>
              <a:rPr lang="en-ID" i="1" dirty="0"/>
              <a:t> </a:t>
            </a:r>
            <a:r>
              <a:rPr lang="en-ID" i="1" dirty="0" err="1"/>
              <a:t>semakin</a:t>
            </a:r>
            <a:r>
              <a:rPr lang="en-ID" i="1" dirty="0"/>
              <a:t> </a:t>
            </a:r>
            <a:r>
              <a:rPr lang="en-ID" i="1" dirty="0" err="1"/>
              <a:t>terlambat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74474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0C0C-D4C9-2509-2662-779225E5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B835-7AE9-FEDF-E178-0AFF3968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kejadian</a:t>
            </a:r>
            <a:r>
              <a:rPr lang="en-US" b="1" dirty="0"/>
              <a:t> software crisis 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9DCAC-4C30-8F34-F0B9-9681BAD4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Kecelakaan</a:t>
            </a:r>
            <a:r>
              <a:rPr lang="en-ID" b="1" dirty="0"/>
              <a:t> </a:t>
            </a:r>
            <a:r>
              <a:rPr lang="en-ID" b="1" dirty="0" err="1"/>
              <a:t>Radioterapi</a:t>
            </a:r>
            <a:r>
              <a:rPr lang="en-ID" b="1" dirty="0"/>
              <a:t> Therac-25 (1985–1987)</a:t>
            </a:r>
          </a:p>
          <a:p>
            <a:pPr marL="271463" lvl="1" indent="0">
              <a:buNone/>
            </a:pP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paling fatal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cacat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(</a:t>
            </a:r>
            <a:r>
              <a:rPr lang="en-ID" i="1" dirty="0"/>
              <a:t>software bug</a:t>
            </a:r>
            <a:r>
              <a:rPr lang="en-ID" dirty="0"/>
              <a:t>)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sejarah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Masalah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radioterapi</a:t>
            </a:r>
            <a:r>
              <a:rPr lang="en-ID" dirty="0"/>
              <a:t> Therac-25 </a:t>
            </a:r>
            <a:r>
              <a:rPr lang="en-ID" dirty="0" err="1"/>
              <a:t>dikendalikan</a:t>
            </a:r>
            <a:r>
              <a:rPr lang="en-ID" dirty="0"/>
              <a:t> </a:t>
            </a:r>
            <a:r>
              <a:rPr lang="en-ID" dirty="0" err="1"/>
              <a:t>penuh</a:t>
            </a:r>
            <a:r>
              <a:rPr lang="en-ID" dirty="0"/>
              <a:t> oleh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pengaman</a:t>
            </a:r>
            <a:r>
              <a:rPr lang="en-ID" dirty="0"/>
              <a:t> </a:t>
            </a:r>
            <a:r>
              <a:rPr lang="en-ID" dirty="0" err="1"/>
              <a:t>mekanis</a:t>
            </a:r>
            <a:r>
              <a:rPr lang="en-ID" dirty="0"/>
              <a:t>). Kode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balapan</a:t>
            </a:r>
            <a:r>
              <a:rPr lang="en-ID" dirty="0"/>
              <a:t> (</a:t>
            </a:r>
            <a:r>
              <a:rPr lang="en-ID" i="1" dirty="0"/>
              <a:t>race condition</a:t>
            </a:r>
            <a:r>
              <a:rPr lang="en-ID" dirty="0"/>
              <a:t>) di mana </a:t>
            </a:r>
            <a:r>
              <a:rPr lang="en-ID" dirty="0" err="1"/>
              <a:t>jika</a:t>
            </a:r>
            <a:r>
              <a:rPr lang="en-ID" dirty="0"/>
              <a:t> operator </a:t>
            </a:r>
            <a:r>
              <a:rPr lang="en-ID" dirty="0" err="1"/>
              <a:t>mengetik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salah </a:t>
            </a:r>
            <a:r>
              <a:rPr lang="en-ID" dirty="0" err="1"/>
              <a:t>membaca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dosis</a:t>
            </a:r>
            <a:r>
              <a:rPr lang="en-ID" dirty="0"/>
              <a:t> </a:t>
            </a:r>
            <a:r>
              <a:rPr lang="en-ID" dirty="0" err="1"/>
              <a:t>radiasi</a:t>
            </a:r>
            <a:r>
              <a:rPr lang="en-ID" dirty="0"/>
              <a:t> </a:t>
            </a:r>
            <a:r>
              <a:rPr lang="en-ID" dirty="0" err="1"/>
              <a:t>masif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100 kali </a:t>
            </a:r>
            <a:r>
              <a:rPr lang="en-ID" dirty="0" err="1"/>
              <a:t>lipat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dosis</a:t>
            </a:r>
            <a:r>
              <a:rPr lang="en-ID" dirty="0"/>
              <a:t> yang </a:t>
            </a:r>
            <a:r>
              <a:rPr lang="en-ID" dirty="0" err="1"/>
              <a:t>aman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pasien</a:t>
            </a:r>
            <a:r>
              <a:rPr lang="en-ID" dirty="0"/>
              <a:t>. </a:t>
            </a:r>
            <a:r>
              <a:rPr lang="en-ID" dirty="0" err="1"/>
              <a:t>Kejadian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b="1" dirty="0" err="1"/>
              <a:t>kematian</a:t>
            </a:r>
            <a:r>
              <a:rPr lang="en-ID" b="1" dirty="0"/>
              <a:t> dan </a:t>
            </a:r>
            <a:r>
              <a:rPr lang="en-ID" b="1" dirty="0" err="1"/>
              <a:t>cedera</a:t>
            </a:r>
            <a:r>
              <a:rPr lang="en-ID" b="1" dirty="0"/>
              <a:t> </a:t>
            </a:r>
            <a:r>
              <a:rPr lang="en-ID" b="1" dirty="0" err="1"/>
              <a:t>serius</a:t>
            </a:r>
            <a:r>
              <a:rPr lang="en-ID" dirty="0"/>
              <a:t> pada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pasien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17106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3820-CDA8-54C4-923F-C5B0E7AD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FDF66-62A9-B65E-37D0-3168FDC93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kejadian</a:t>
            </a:r>
            <a:r>
              <a:rPr lang="en-US" b="1" dirty="0"/>
              <a:t> software crisis 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51DE1-B5D1-3F6F-6225-B0338640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Kegagalan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Bagasi</a:t>
            </a:r>
            <a:r>
              <a:rPr lang="en-ID" b="1" dirty="0"/>
              <a:t> Bandara Denver (1994)</a:t>
            </a:r>
          </a:p>
          <a:p>
            <a:pPr marL="271463" lvl="1" indent="0">
              <a:buNone/>
            </a:pP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klasik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dan </a:t>
            </a:r>
            <a:r>
              <a:rPr lang="en-ID" dirty="0" err="1"/>
              <a:t>estimasi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rekayasa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Masalah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bagasi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yang </a:t>
            </a:r>
            <a:r>
              <a:rPr lang="en-ID" dirty="0" err="1"/>
              <a:t>dikendalikan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i="1" dirty="0"/>
              <a:t>software</a:t>
            </a:r>
            <a:r>
              <a:rPr lang="en-ID" dirty="0"/>
              <a:t> yang </a:t>
            </a:r>
            <a:r>
              <a:rPr lang="en-ID" dirty="0" err="1"/>
              <a:t>parah</a:t>
            </a:r>
            <a:r>
              <a:rPr lang="en-ID" dirty="0"/>
              <a:t>. Kereta </a:t>
            </a:r>
            <a:r>
              <a:rPr lang="en-ID" dirty="0" err="1"/>
              <a:t>bagasi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salah </a:t>
            </a:r>
            <a:r>
              <a:rPr lang="en-ID" dirty="0" err="1"/>
              <a:t>jalur</a:t>
            </a:r>
            <a:r>
              <a:rPr lang="en-ID" dirty="0"/>
              <a:t>, </a:t>
            </a:r>
            <a:r>
              <a:rPr lang="en-ID" dirty="0" err="1"/>
              <a:t>menabrak</a:t>
            </a:r>
            <a:r>
              <a:rPr lang="en-ID" dirty="0"/>
              <a:t> </a:t>
            </a:r>
            <a:r>
              <a:rPr lang="en-ID" dirty="0" err="1"/>
              <a:t>dinding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merusak</a:t>
            </a:r>
            <a:r>
              <a:rPr lang="en-ID" dirty="0"/>
              <a:t> </a:t>
            </a:r>
            <a:r>
              <a:rPr lang="en-ID" dirty="0" err="1"/>
              <a:t>tas</a:t>
            </a:r>
            <a:r>
              <a:rPr lang="en-ID" dirty="0"/>
              <a:t> </a:t>
            </a:r>
            <a:r>
              <a:rPr lang="en-ID" dirty="0" err="1"/>
              <a:t>penumpang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Pembukaan</a:t>
            </a:r>
            <a:r>
              <a:rPr lang="en-ID" dirty="0"/>
              <a:t> Bandara Internasional Denver </a:t>
            </a:r>
            <a:r>
              <a:rPr lang="en-ID" b="1" dirty="0" err="1"/>
              <a:t>tertunda</a:t>
            </a:r>
            <a:r>
              <a:rPr lang="en-ID" b="1" dirty="0"/>
              <a:t> </a:t>
            </a:r>
            <a:r>
              <a:rPr lang="en-ID" b="1" dirty="0" err="1"/>
              <a:t>selama</a:t>
            </a:r>
            <a:r>
              <a:rPr lang="en-ID" b="1" dirty="0"/>
              <a:t> 16 </a:t>
            </a:r>
            <a:r>
              <a:rPr lang="en-ID" b="1" dirty="0" err="1"/>
              <a:t>bulan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kerugian</a:t>
            </a:r>
            <a:r>
              <a:rPr lang="en-ID" dirty="0"/>
              <a:t>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b="1" dirty="0"/>
              <a:t>$1,1 </a:t>
            </a:r>
            <a:r>
              <a:rPr lang="en-ID" b="1" dirty="0" err="1"/>
              <a:t>miliar</a:t>
            </a:r>
            <a:r>
              <a:rPr lang="en-ID" b="1" dirty="0"/>
              <a:t> USD</a:t>
            </a:r>
            <a:r>
              <a:rPr lang="en-ID" dirty="0"/>
              <a:t>. Pada </a:t>
            </a:r>
            <a:r>
              <a:rPr lang="en-ID" dirty="0" err="1"/>
              <a:t>akhirnya</a:t>
            </a:r>
            <a:r>
              <a:rPr lang="en-ID" dirty="0"/>
              <a:t>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ditinggalkan</a:t>
            </a:r>
            <a:r>
              <a:rPr lang="en-ID" dirty="0"/>
              <a:t> dan </a:t>
            </a:r>
            <a:r>
              <a:rPr lang="en-ID" dirty="0" err="1"/>
              <a:t>diganti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manual.</a:t>
            </a:r>
          </a:p>
          <a:p>
            <a:endParaRPr lang="en-ID" dirty="0"/>
          </a:p>
          <a:p>
            <a:pPr marL="271463" lvl="1" indent="0">
              <a:buNone/>
            </a:pP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53333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6F6B-DF0D-49EC-A249-DBADB8161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C045-5305-6F6B-1673-2DA0971B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kejadian</a:t>
            </a:r>
            <a:r>
              <a:rPr lang="en-US" b="1" dirty="0"/>
              <a:t> software crisis 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75A60-E2FA-D4C5-0D46-AA4DDE557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Hancurnya</a:t>
            </a:r>
            <a:r>
              <a:rPr lang="en-ID" b="1" dirty="0"/>
              <a:t> </a:t>
            </a:r>
            <a:r>
              <a:rPr lang="en-ID" b="1" dirty="0" err="1"/>
              <a:t>Roket</a:t>
            </a:r>
            <a:r>
              <a:rPr lang="en-ID" b="1" dirty="0"/>
              <a:t> Ariane 5 (1996)</a:t>
            </a:r>
          </a:p>
          <a:p>
            <a:pPr marL="355600" indent="0">
              <a:buNone/>
            </a:pP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(</a:t>
            </a:r>
            <a:r>
              <a:rPr lang="en-ID" i="1" dirty="0"/>
              <a:t>reuse</a:t>
            </a:r>
            <a:r>
              <a:rPr lang="en-ID" dirty="0"/>
              <a:t>)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lama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pengujian</a:t>
            </a:r>
            <a:r>
              <a:rPr lang="en-ID" dirty="0"/>
              <a:t> yang </a:t>
            </a:r>
            <a:r>
              <a:rPr lang="en-ID" dirty="0" err="1"/>
              <a:t>memadai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Masalah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roket</a:t>
            </a:r>
            <a:r>
              <a:rPr lang="en-ID" dirty="0"/>
              <a:t> model lama (Ariane 4) </a:t>
            </a:r>
            <a:r>
              <a:rPr lang="en-ID" dirty="0" err="1"/>
              <a:t>disalin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roket</a:t>
            </a:r>
            <a:r>
              <a:rPr lang="en-ID" dirty="0"/>
              <a:t> Ariane 5.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roket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bergerak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.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konversi</a:t>
            </a:r>
            <a:r>
              <a:rPr lang="en-ID" dirty="0"/>
              <a:t> data (</a:t>
            </a:r>
            <a:r>
              <a:rPr lang="en-ID" i="1" dirty="0"/>
              <a:t>integer overflow</a:t>
            </a:r>
            <a:r>
              <a:rPr lang="en-ID" dirty="0"/>
              <a:t>)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angka</a:t>
            </a:r>
            <a:r>
              <a:rPr lang="en-ID" dirty="0"/>
              <a:t> </a:t>
            </a:r>
            <a:r>
              <a:rPr lang="en-ID" dirty="0" err="1"/>
              <a:t>desimal</a:t>
            </a:r>
            <a:r>
              <a:rPr lang="en-ID" dirty="0"/>
              <a:t> 64-bit </a:t>
            </a:r>
            <a:r>
              <a:rPr lang="en-ID" dirty="0" err="1"/>
              <a:t>menjadi</a:t>
            </a:r>
            <a:r>
              <a:rPr lang="en-ID" dirty="0"/>
              <a:t> integer 16-bit.</a:t>
            </a:r>
          </a:p>
          <a:p>
            <a:pPr lvl="1"/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Roket</a:t>
            </a:r>
            <a:r>
              <a:rPr lang="en-ID" dirty="0"/>
              <a:t> </a:t>
            </a:r>
            <a:r>
              <a:rPr lang="en-ID" dirty="0" err="1"/>
              <a:t>hancur</a:t>
            </a:r>
            <a:r>
              <a:rPr lang="en-ID" dirty="0"/>
              <a:t> </a:t>
            </a:r>
            <a:r>
              <a:rPr lang="en-ID" dirty="0" err="1"/>
              <a:t>berkeping-keping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b="1" dirty="0"/>
              <a:t>37 </a:t>
            </a:r>
            <a:r>
              <a:rPr lang="en-ID" b="1" dirty="0" err="1"/>
              <a:t>detik</a:t>
            </a:r>
            <a:r>
              <a:rPr lang="en-ID" b="1" dirty="0"/>
              <a:t> </a:t>
            </a:r>
            <a:r>
              <a:rPr lang="en-ID" b="1" dirty="0" err="1"/>
              <a:t>setelah</a:t>
            </a:r>
            <a:r>
              <a:rPr lang="en-ID" b="1" dirty="0"/>
              <a:t> </a:t>
            </a:r>
            <a:r>
              <a:rPr lang="en-ID" b="1" dirty="0" err="1"/>
              <a:t>peluncuran</a:t>
            </a:r>
            <a:r>
              <a:rPr lang="en-ID" dirty="0"/>
              <a:t>, </a:t>
            </a:r>
            <a:r>
              <a:rPr lang="en-ID" dirty="0" err="1"/>
              <a:t>mengakibatkan</a:t>
            </a:r>
            <a:r>
              <a:rPr lang="en-ID" dirty="0"/>
              <a:t> </a:t>
            </a:r>
            <a:r>
              <a:rPr lang="en-ID" dirty="0" err="1"/>
              <a:t>kerugian</a:t>
            </a:r>
            <a:r>
              <a:rPr lang="en-ID" dirty="0"/>
              <a:t> </a:t>
            </a:r>
            <a:r>
              <a:rPr lang="en-ID" dirty="0" err="1"/>
              <a:t>sebesar</a:t>
            </a:r>
            <a:r>
              <a:rPr lang="en-ID" dirty="0"/>
              <a:t> </a:t>
            </a:r>
            <a:r>
              <a:rPr lang="en-ID" b="1" dirty="0"/>
              <a:t>$370 </a:t>
            </a:r>
            <a:r>
              <a:rPr lang="en-ID" b="1" dirty="0" err="1"/>
              <a:t>juta</a:t>
            </a:r>
            <a:r>
              <a:rPr lang="en-ID" b="1" dirty="0"/>
              <a:t> USD</a:t>
            </a:r>
            <a:endParaRPr lang="en-ID" dirty="0"/>
          </a:p>
          <a:p>
            <a:endParaRPr lang="en-ID" dirty="0"/>
          </a:p>
          <a:p>
            <a:pPr marL="271463" lvl="1" indent="0">
              <a:buNone/>
            </a:pP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93960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1CDE-5167-2EF1-91DC-3D2B7A98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EAB3-6BE1-71ED-2E8F-83578FE9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kejadian</a:t>
            </a:r>
            <a:r>
              <a:rPr lang="en-US" b="1" dirty="0"/>
              <a:t> software crisis 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9DCE1-F03A-D0E4-4DFE-7DFDD5167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Masalah</a:t>
            </a:r>
            <a:r>
              <a:rPr lang="en-ID" b="1" dirty="0"/>
              <a:t> Bug Y2K (</a:t>
            </a:r>
            <a:r>
              <a:rPr lang="en-ID" b="1" dirty="0" err="1"/>
              <a:t>Tahun</a:t>
            </a:r>
            <a:r>
              <a:rPr lang="en-ID" b="1" dirty="0"/>
              <a:t> 2000)</a:t>
            </a:r>
          </a:p>
          <a:p>
            <a:pPr marL="271463" lvl="1" indent="0">
              <a:buNone/>
            </a:pPr>
            <a:r>
              <a:rPr lang="en-ID" dirty="0" err="1"/>
              <a:t>Krisis</a:t>
            </a:r>
            <a:r>
              <a:rPr lang="en-ID" dirty="0"/>
              <a:t> global yang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hemat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para programmer masa </a:t>
            </a:r>
            <a:r>
              <a:rPr lang="en-ID" dirty="0" err="1"/>
              <a:t>lalu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Masalah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menghemat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yang sangat mahal pada era 1960-1980an, programmer </a:t>
            </a:r>
            <a:r>
              <a:rPr lang="en-ID" dirty="0" err="1"/>
              <a:t>menulis</a:t>
            </a:r>
            <a:r>
              <a:rPr lang="en-ID" dirty="0"/>
              <a:t> format </a:t>
            </a:r>
            <a:r>
              <a:rPr lang="en-ID" dirty="0" err="1"/>
              <a:t>tahun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2 digit (</a:t>
            </a:r>
            <a:r>
              <a:rPr lang="en-ID" dirty="0" err="1"/>
              <a:t>misalnya</a:t>
            </a:r>
            <a:r>
              <a:rPr lang="en-ID" dirty="0"/>
              <a:t> "99" </a:t>
            </a:r>
            <a:r>
              <a:rPr lang="en-ID" dirty="0" err="1"/>
              <a:t>untuk</a:t>
            </a:r>
            <a:r>
              <a:rPr lang="en-ID" dirty="0"/>
              <a:t> 1999). Ketika </a:t>
            </a:r>
            <a:r>
              <a:rPr lang="en-ID" dirty="0" err="1"/>
              <a:t>tahun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2000,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membacanya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"00" (yang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diartikan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1900).</a:t>
            </a:r>
          </a:p>
          <a:p>
            <a:pPr lvl="1"/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Pemerintah</a:t>
            </a:r>
            <a:r>
              <a:rPr lang="en-ID" dirty="0"/>
              <a:t> dan </a:t>
            </a:r>
            <a:r>
              <a:rPr lang="en-ID" dirty="0" err="1"/>
              <a:t>perusahaan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dunia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menghabiskan</a:t>
            </a:r>
            <a:r>
              <a:rPr lang="en-ID" dirty="0"/>
              <a:t> total </a:t>
            </a:r>
            <a:r>
              <a:rPr lang="en-ID" dirty="0" err="1"/>
              <a:t>sekitar</a:t>
            </a:r>
            <a:r>
              <a:rPr lang="en-ID" dirty="0"/>
              <a:t> </a:t>
            </a:r>
            <a:r>
              <a:rPr lang="en-ID" b="1" dirty="0"/>
              <a:t>$300 </a:t>
            </a:r>
            <a:r>
              <a:rPr lang="en-ID" b="1" dirty="0" err="1"/>
              <a:t>miliar</a:t>
            </a:r>
            <a:r>
              <a:rPr lang="en-ID" b="1" dirty="0"/>
              <a:t> </a:t>
            </a:r>
            <a:r>
              <a:rPr lang="en-ID" b="1" dirty="0" err="1"/>
              <a:t>hingga</a:t>
            </a:r>
            <a:r>
              <a:rPr lang="en-ID" b="1" dirty="0"/>
              <a:t> $500 </a:t>
            </a:r>
            <a:r>
              <a:rPr lang="en-ID" b="1" dirty="0" err="1"/>
              <a:t>miliar</a:t>
            </a:r>
            <a:r>
              <a:rPr lang="en-ID" b="1" dirty="0"/>
              <a:t> USD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memeriksa</a:t>
            </a:r>
            <a:r>
              <a:rPr lang="en-ID" dirty="0"/>
              <a:t> dan </a:t>
            </a:r>
            <a:r>
              <a:rPr lang="en-ID" dirty="0" err="1"/>
              <a:t>memperbaiki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dunia agar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kelumpuhan</a:t>
            </a:r>
            <a:r>
              <a:rPr lang="en-ID" dirty="0"/>
              <a:t> </a:t>
            </a:r>
            <a:r>
              <a:rPr lang="en-ID" dirty="0" err="1"/>
              <a:t>massal</a:t>
            </a:r>
            <a:endParaRPr lang="en-ID" dirty="0"/>
          </a:p>
          <a:p>
            <a:endParaRPr lang="en-ID" dirty="0"/>
          </a:p>
          <a:p>
            <a:pPr marL="271463" lvl="1" indent="0">
              <a:buNone/>
            </a:pP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22263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6093-56B4-9DBE-3237-81A4B5A7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Masalah</a:t>
            </a:r>
            <a:r>
              <a:rPr lang="en-ID" b="1" dirty="0"/>
              <a:t>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E589-F0D0-30D6-B4C7-E58361152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Masalah</a:t>
            </a:r>
            <a:r>
              <a:rPr lang="en-ID" dirty="0"/>
              <a:t> software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pada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yang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normal</a:t>
            </a:r>
          </a:p>
          <a:p>
            <a:r>
              <a:rPr lang="en-ID" dirty="0" err="1"/>
              <a:t>Masalah</a:t>
            </a:r>
            <a:r>
              <a:rPr lang="en-ID" dirty="0"/>
              <a:t> Umum pada Software:</a:t>
            </a:r>
          </a:p>
          <a:p>
            <a:pPr lvl="1"/>
            <a:r>
              <a:rPr lang="en-ID" b="1" dirty="0"/>
              <a:t>Driver </a:t>
            </a:r>
            <a:r>
              <a:rPr lang="en-ID" b="1" dirty="0" err="1"/>
              <a:t>rusak</a:t>
            </a:r>
            <a:r>
              <a:rPr lang="en-ID" dirty="0"/>
              <a:t>: Driver yang </a:t>
            </a:r>
            <a:r>
              <a:rPr lang="en-ID" dirty="0" err="1"/>
              <a:t>korup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berkomunikasi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Serangan</a:t>
            </a:r>
            <a:r>
              <a:rPr lang="en-ID" b="1" dirty="0"/>
              <a:t> malware</a:t>
            </a:r>
            <a:r>
              <a:rPr lang="en-ID" dirty="0"/>
              <a:t>: Virus </a:t>
            </a:r>
            <a:r>
              <a:rPr lang="en-ID" dirty="0" err="1"/>
              <a:t>atau</a:t>
            </a:r>
            <a:r>
              <a:rPr lang="en-ID" dirty="0"/>
              <a:t> malware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mencuri</a:t>
            </a:r>
            <a:r>
              <a:rPr lang="en-ID" dirty="0"/>
              <a:t> data dan </a:t>
            </a:r>
            <a:r>
              <a:rPr lang="en-ID" dirty="0" err="1"/>
              <a:t>merusak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Layar</a:t>
            </a:r>
            <a:r>
              <a:rPr lang="en-ID" b="1" dirty="0"/>
              <a:t> </a:t>
            </a:r>
            <a:r>
              <a:rPr lang="en-ID" b="1" dirty="0" err="1"/>
              <a:t>biru</a:t>
            </a:r>
            <a:r>
              <a:rPr lang="en-ID" b="1" dirty="0"/>
              <a:t> (BSOD)</a:t>
            </a:r>
            <a:r>
              <a:rPr lang="en-ID" dirty="0"/>
              <a:t>: </a:t>
            </a:r>
            <a:r>
              <a:rPr lang="en-ID" dirty="0" err="1"/>
              <a:t>Terjadi</a:t>
            </a:r>
            <a:r>
              <a:rPr lang="en-ID" dirty="0"/>
              <a:t> pada Windows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kerusakan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stabil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Bug dan error</a:t>
            </a:r>
            <a:r>
              <a:rPr lang="en-ID" dirty="0"/>
              <a:t>: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program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menutup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macet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52157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7B7F-B616-1B8B-507F-65B5BC4F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063E-D585-9AA0-EF31-621C8172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Cara </a:t>
            </a:r>
            <a:r>
              <a:rPr lang="en-ID" b="1" dirty="0" err="1"/>
              <a:t>Mengatasi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b="1" dirty="0"/>
              <a:t>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A1A7-12A5-6A2F-7D22-C6E51D27C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D" b="1" dirty="0"/>
              <a:t>Restart </a:t>
            </a:r>
            <a:r>
              <a:rPr lang="en-ID" b="1" dirty="0" err="1"/>
              <a:t>perangkat</a:t>
            </a:r>
            <a:r>
              <a:rPr lang="en-ID" dirty="0"/>
              <a:t>: </a:t>
            </a:r>
            <a:r>
              <a:rPr lang="en-ID" dirty="0" err="1"/>
              <a:t>Matikan</a:t>
            </a:r>
            <a:r>
              <a:rPr lang="en-ID" dirty="0"/>
              <a:t> dan </a:t>
            </a:r>
            <a:r>
              <a:rPr lang="en-ID" dirty="0" err="1"/>
              <a:t>nyalakan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sementara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Perbarui</a:t>
            </a:r>
            <a:r>
              <a:rPr lang="en-ID" b="1" dirty="0"/>
              <a:t> software</a:t>
            </a:r>
            <a:r>
              <a:rPr lang="en-ID" dirty="0"/>
              <a:t>: Pasang </a:t>
            </a:r>
            <a:r>
              <a:rPr lang="en-ID" dirty="0" err="1"/>
              <a:t>pembaruan</a:t>
            </a:r>
            <a:r>
              <a:rPr lang="en-ID" dirty="0"/>
              <a:t> </a:t>
            </a:r>
            <a:r>
              <a:rPr lang="en-ID" dirty="0" err="1"/>
              <a:t>terbaru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menutup</a:t>
            </a:r>
            <a:r>
              <a:rPr lang="en-ID" dirty="0"/>
              <a:t> </a:t>
            </a:r>
            <a:r>
              <a:rPr lang="en-ID" dirty="0" err="1"/>
              <a:t>celah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dan bug.</a:t>
            </a:r>
          </a:p>
          <a:p>
            <a:pPr lvl="0"/>
            <a:r>
              <a:rPr lang="en-ID" b="1" dirty="0"/>
              <a:t>Hapus cache</a:t>
            </a:r>
            <a:r>
              <a:rPr lang="en-ID" dirty="0"/>
              <a:t>: </a:t>
            </a:r>
            <a:r>
              <a:rPr lang="en-ID" dirty="0" err="1"/>
              <a:t>Bersihkan</a:t>
            </a:r>
            <a:r>
              <a:rPr lang="en-ID" dirty="0"/>
              <a:t> data cache yang </a:t>
            </a:r>
            <a:r>
              <a:rPr lang="en-ID" dirty="0" err="1"/>
              <a:t>menumpuk</a:t>
            </a:r>
            <a:r>
              <a:rPr lang="en-ID" dirty="0"/>
              <a:t> dan </a:t>
            </a:r>
            <a:r>
              <a:rPr lang="en-ID" dirty="0" err="1"/>
              <a:t>korup</a:t>
            </a:r>
            <a:r>
              <a:rPr lang="en-ID" dirty="0"/>
              <a:t> pada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Pindai</a:t>
            </a:r>
            <a:r>
              <a:rPr lang="en-ID" b="1" dirty="0"/>
              <a:t> virus</a:t>
            </a:r>
            <a:r>
              <a:rPr lang="en-ID" dirty="0"/>
              <a:t>: </a:t>
            </a:r>
            <a:r>
              <a:rPr lang="en-ID" dirty="0" err="1"/>
              <a:t>Gunakan</a:t>
            </a:r>
            <a:r>
              <a:rPr lang="en-ID" dirty="0"/>
              <a:t> antivirus </a:t>
            </a:r>
            <a:r>
              <a:rPr lang="en-ID" dirty="0" err="1"/>
              <a:t>resmi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file yang </a:t>
            </a:r>
            <a:r>
              <a:rPr lang="en-ID" dirty="0" err="1"/>
              <a:t>terinfeksi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97851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08CC-134C-4837-DFE2-22386636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Langkah-Langkah </a:t>
            </a:r>
            <a:r>
              <a:rPr lang="en-ID" b="1" dirty="0" err="1"/>
              <a:t>Mengatasi</a:t>
            </a:r>
            <a:r>
              <a:rPr lang="en-ID" b="1" dirty="0"/>
              <a:t> Software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811E-BB2A-DBBB-120C-30CB1464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D" b="1" dirty="0"/>
              <a:t>Restart </a:t>
            </a:r>
            <a:r>
              <a:rPr lang="en-ID" b="1" dirty="0" err="1"/>
              <a:t>komputer</a:t>
            </a:r>
            <a:r>
              <a:rPr lang="en-ID" b="1" dirty="0"/>
              <a:t> </a:t>
            </a:r>
            <a:r>
              <a:rPr lang="en-ID" b="1" dirty="0" err="1"/>
              <a:t>atau</a:t>
            </a:r>
            <a:r>
              <a:rPr lang="en-ID" b="1" dirty="0"/>
              <a:t> laptop</a:t>
            </a:r>
            <a:r>
              <a:rPr lang="en-ID" dirty="0"/>
              <a:t>: </a:t>
            </a:r>
            <a:r>
              <a:rPr lang="en-ID" dirty="0" err="1"/>
              <a:t>Tutup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nyalakan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menyegarkan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 </a:t>
            </a:r>
          </a:p>
          <a:p>
            <a:pPr lvl="0"/>
            <a:r>
              <a:rPr lang="en-ID" b="1" dirty="0" err="1"/>
              <a:t>Jalankan</a:t>
            </a:r>
            <a:r>
              <a:rPr lang="en-ID" b="1" dirty="0"/>
              <a:t> </a:t>
            </a:r>
            <a:r>
              <a:rPr lang="en-ID" b="1" dirty="0" err="1"/>
              <a:t>sebagai</a:t>
            </a:r>
            <a:r>
              <a:rPr lang="en-ID" b="1" dirty="0"/>
              <a:t> Administrator</a:t>
            </a:r>
            <a:r>
              <a:rPr lang="en-ID" dirty="0"/>
              <a:t>: </a:t>
            </a:r>
            <a:r>
              <a:rPr lang="en-ID" dirty="0" err="1"/>
              <a:t>Klik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 ikon software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b="1" dirty="0"/>
              <a:t>Run as administrator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izin</a:t>
            </a:r>
            <a:r>
              <a:rPr lang="en-ID" dirty="0"/>
              <a:t> </a:t>
            </a:r>
            <a:r>
              <a:rPr lang="en-ID" dirty="0" err="1"/>
              <a:t>penuh</a:t>
            </a:r>
            <a:r>
              <a:rPr lang="en-ID" dirty="0"/>
              <a:t>. </a:t>
            </a:r>
          </a:p>
          <a:p>
            <a:pPr lvl="0"/>
            <a:r>
              <a:rPr lang="en-ID" b="1" dirty="0" err="1"/>
              <a:t>Gunakan</a:t>
            </a:r>
            <a:r>
              <a:rPr lang="en-ID" b="1" dirty="0"/>
              <a:t> </a:t>
            </a:r>
            <a:r>
              <a:rPr lang="en-ID" b="1" dirty="0" err="1"/>
              <a:t>fitur</a:t>
            </a:r>
            <a:r>
              <a:rPr lang="en-ID" b="1" dirty="0"/>
              <a:t> Repair</a:t>
            </a:r>
            <a:r>
              <a:rPr lang="en-ID" dirty="0"/>
              <a:t>: Buka </a:t>
            </a:r>
            <a:r>
              <a:rPr lang="en-ID" b="1" dirty="0"/>
              <a:t>Control Panel</a:t>
            </a:r>
            <a:r>
              <a:rPr lang="en-ID" dirty="0"/>
              <a:t> &gt; </a:t>
            </a:r>
            <a:r>
              <a:rPr lang="en-ID" b="1" dirty="0"/>
              <a:t>Programs and Features</a:t>
            </a:r>
            <a:r>
              <a:rPr lang="en-ID" dirty="0"/>
              <a:t>, </a:t>
            </a:r>
            <a:r>
              <a:rPr lang="en-ID" dirty="0" err="1"/>
              <a:t>klik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 software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b="1" dirty="0"/>
              <a:t>Change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b="1" dirty="0"/>
              <a:t>Repair</a:t>
            </a:r>
            <a:r>
              <a:rPr lang="en-ID" dirty="0"/>
              <a:t>. Atau </a:t>
            </a:r>
            <a:r>
              <a:rPr lang="en-ID" dirty="0" err="1"/>
              <a:t>akses</a:t>
            </a:r>
            <a:r>
              <a:rPr lang="en-ID" dirty="0"/>
              <a:t> via </a:t>
            </a:r>
            <a:r>
              <a:rPr lang="en-ID" b="1" dirty="0"/>
              <a:t>Settings</a:t>
            </a:r>
            <a:r>
              <a:rPr lang="en-ID" dirty="0"/>
              <a:t> &gt; </a:t>
            </a:r>
            <a:r>
              <a:rPr lang="en-ID" b="1" dirty="0"/>
              <a:t>Apps</a:t>
            </a:r>
            <a:r>
              <a:rPr lang="en-ID" dirty="0"/>
              <a:t> &gt; </a:t>
            </a:r>
            <a:r>
              <a:rPr lang="en-ID" b="1" dirty="0"/>
              <a:t>Installed apps</a:t>
            </a:r>
            <a:r>
              <a:rPr lang="en-ID" dirty="0"/>
              <a:t> (</a:t>
            </a:r>
            <a:r>
              <a:rPr lang="en-ID" dirty="0" err="1"/>
              <a:t>atau</a:t>
            </a:r>
            <a:r>
              <a:rPr lang="en-ID" dirty="0"/>
              <a:t> Apps &amp; Features), </a:t>
            </a:r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b="1" dirty="0"/>
              <a:t>Advanced options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klik</a:t>
            </a:r>
            <a:r>
              <a:rPr lang="en-ID" dirty="0"/>
              <a:t> </a:t>
            </a:r>
            <a:r>
              <a:rPr lang="en-ID" b="1" dirty="0"/>
              <a:t>Repair</a:t>
            </a:r>
            <a:r>
              <a:rPr lang="en-ID" dirty="0"/>
              <a:t>. </a:t>
            </a:r>
          </a:p>
          <a:p>
            <a:pPr lvl="0"/>
            <a:r>
              <a:rPr lang="en-ID" b="1" dirty="0"/>
              <a:t>Update software dan </a:t>
            </a:r>
            <a:r>
              <a:rPr lang="en-ID" b="1" dirty="0" err="1"/>
              <a:t>sistem</a:t>
            </a:r>
            <a:r>
              <a:rPr lang="en-ID" dirty="0">
                <a:effectLst/>
              </a:rPr>
              <a:t>: </a:t>
            </a:r>
            <a:r>
              <a:rPr lang="en-ID" dirty="0" err="1">
                <a:effectLst/>
              </a:rPr>
              <a:t>Perbarui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versi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terbaru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atau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cek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pembaruan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sistem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operasi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memperbaiki</a:t>
            </a:r>
            <a:r>
              <a:rPr lang="en-ID" dirty="0">
                <a:effectLst/>
              </a:rPr>
              <a:t> </a:t>
            </a:r>
            <a:r>
              <a:rPr lang="en-ID" i="1" dirty="0">
                <a:effectLst/>
              </a:rPr>
              <a:t>bug</a:t>
            </a:r>
            <a:r>
              <a:rPr lang="en-ID" dirty="0">
                <a:effectLst/>
              </a:rPr>
              <a:t>.</a:t>
            </a:r>
          </a:p>
          <a:p>
            <a:pPr lvl="0"/>
            <a:r>
              <a:rPr lang="en-ID" dirty="0">
                <a:effectLst/>
              </a:rPr>
              <a:t> </a:t>
            </a:r>
            <a:r>
              <a:rPr lang="en-ID" b="1" dirty="0">
                <a:effectLst/>
              </a:rPr>
              <a:t>Install </a:t>
            </a:r>
            <a:r>
              <a:rPr lang="en-ID" b="1" dirty="0" err="1">
                <a:effectLst/>
              </a:rPr>
              <a:t>ulang</a:t>
            </a:r>
            <a:r>
              <a:rPr lang="en-ID" b="1" dirty="0">
                <a:effectLst/>
              </a:rPr>
              <a:t> (Reinstall)</a:t>
            </a:r>
            <a:r>
              <a:rPr lang="en-ID" dirty="0">
                <a:effectLst/>
              </a:rPr>
              <a:t>: Hapus total (</a:t>
            </a:r>
            <a:r>
              <a:rPr lang="en-ID" i="1" dirty="0">
                <a:effectLst/>
              </a:rPr>
              <a:t>uninstall</a:t>
            </a:r>
            <a:r>
              <a:rPr lang="en-ID" dirty="0">
                <a:effectLst/>
              </a:rPr>
              <a:t>)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bermasalah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bersihkan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sisa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filenya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lalu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unduh</a:t>
            </a:r>
            <a:r>
              <a:rPr lang="en-ID" dirty="0">
                <a:effectLst/>
              </a:rPr>
              <a:t> dan pasang </a:t>
            </a:r>
            <a:r>
              <a:rPr lang="en-ID" dirty="0" err="1">
                <a:effectLst/>
              </a:rPr>
              <a:t>kembali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versi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bersihnya</a:t>
            </a:r>
            <a:endParaRPr lang="en-ID" dirty="0">
              <a:effectLst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81267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B221-26FF-CE8A-8C4F-510D4320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/>
              <a:t>Terimakasih</a:t>
            </a:r>
            <a:endParaRPr lang="en-ID" sz="5400" b="1" dirty="0"/>
          </a:p>
        </p:txBody>
      </p:sp>
    </p:spTree>
    <p:extLst>
      <p:ext uri="{BB962C8B-B14F-4D97-AF65-F5344CB8AC3E}">
        <p14:creationId xmlns:p14="http://schemas.microsoft.com/office/powerpoint/2010/main" val="33007555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50</TotalTime>
  <Words>1250</Words>
  <Application>Microsoft Office PowerPoint</Application>
  <PresentationFormat>Widescreen</PresentationFormat>
  <Paragraphs>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 Black</vt:lpstr>
      <vt:lpstr>Gill Sans MT</vt:lpstr>
      <vt:lpstr>Wingdings 2</vt:lpstr>
      <vt:lpstr>Dividend</vt:lpstr>
      <vt:lpstr>Software Crisis</vt:lpstr>
      <vt:lpstr>Definisi</vt:lpstr>
      <vt:lpstr>Ciri-Ciri Utama</vt:lpstr>
      <vt:lpstr>Penyebab Utama</vt:lpstr>
      <vt:lpstr>Solusi</vt:lpstr>
      <vt:lpstr>Kegagalan Dalam Pengembangan Perangkat Lunak</vt:lpstr>
      <vt:lpstr>Penyebab Utama Kegagalan</vt:lpstr>
      <vt:lpstr>Cara Mencegah Kegagalan</vt:lpstr>
      <vt:lpstr>Contoh kejadian software crisis </vt:lpstr>
      <vt:lpstr>Contoh kejadian software crisis </vt:lpstr>
      <vt:lpstr>Contoh kejadian software crisis </vt:lpstr>
      <vt:lpstr>Contoh kejadian software crisis </vt:lpstr>
      <vt:lpstr>Contoh kejadian software crisis </vt:lpstr>
      <vt:lpstr>Masalah software</vt:lpstr>
      <vt:lpstr>Cara Mengatasi Masalah Software</vt:lpstr>
      <vt:lpstr>Langkah-Langkah Mengatasi Software Error</vt:lpstr>
      <vt:lpstr>Terimakasih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girihardana@gmail.com</dc:creator>
  <cp:lastModifiedBy>girihardana@gmail.com</cp:lastModifiedBy>
  <cp:revision>13</cp:revision>
  <dcterms:created xsi:type="dcterms:W3CDTF">2026-09-06T01:29:21Z</dcterms:created>
  <dcterms:modified xsi:type="dcterms:W3CDTF">2026-09-06T02:20:10Z</dcterms:modified>
</cp:coreProperties>
</file>