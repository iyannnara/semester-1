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19"/>
  </p:notesMasterIdLst>
  <p:handoutMasterIdLst>
    <p:handoutMasterId r:id="rId20"/>
  </p:handoutMasterIdLst>
  <p:sldIdLst>
    <p:sldId id="256" r:id="rId2"/>
    <p:sldId id="295" r:id="rId3"/>
    <p:sldId id="273" r:id="rId4"/>
    <p:sldId id="274" r:id="rId5"/>
    <p:sldId id="298" r:id="rId6"/>
    <p:sldId id="259" r:id="rId7"/>
    <p:sldId id="260" r:id="rId8"/>
    <p:sldId id="283" r:id="rId9"/>
    <p:sldId id="284" r:id="rId10"/>
    <p:sldId id="261" r:id="rId11"/>
    <p:sldId id="282" r:id="rId12"/>
    <p:sldId id="297" r:id="rId13"/>
    <p:sldId id="290" r:id="rId14"/>
    <p:sldId id="292" r:id="rId15"/>
    <p:sldId id="291" r:id="rId16"/>
    <p:sldId id="293" r:id="rId17"/>
    <p:sldId id="275"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Garamond" pitchFamily="18" charset="0"/>
        <a:ea typeface="+mn-ea"/>
        <a:cs typeface="Arial" charset="0"/>
      </a:defRPr>
    </a:lvl1pPr>
    <a:lvl2pPr marL="457200" algn="l" rtl="0" fontAlgn="base">
      <a:spcBef>
        <a:spcPct val="0"/>
      </a:spcBef>
      <a:spcAft>
        <a:spcPct val="0"/>
      </a:spcAft>
      <a:defRPr kern="1200">
        <a:solidFill>
          <a:schemeClr val="tx1"/>
        </a:solidFill>
        <a:latin typeface="Garamond" pitchFamily="18" charset="0"/>
        <a:ea typeface="+mn-ea"/>
        <a:cs typeface="Arial" charset="0"/>
      </a:defRPr>
    </a:lvl2pPr>
    <a:lvl3pPr marL="914400" algn="l" rtl="0" fontAlgn="base">
      <a:spcBef>
        <a:spcPct val="0"/>
      </a:spcBef>
      <a:spcAft>
        <a:spcPct val="0"/>
      </a:spcAft>
      <a:defRPr kern="1200">
        <a:solidFill>
          <a:schemeClr val="tx1"/>
        </a:solidFill>
        <a:latin typeface="Garamond" pitchFamily="18" charset="0"/>
        <a:ea typeface="+mn-ea"/>
        <a:cs typeface="Arial" charset="0"/>
      </a:defRPr>
    </a:lvl3pPr>
    <a:lvl4pPr marL="1371600" algn="l" rtl="0" fontAlgn="base">
      <a:spcBef>
        <a:spcPct val="0"/>
      </a:spcBef>
      <a:spcAft>
        <a:spcPct val="0"/>
      </a:spcAft>
      <a:defRPr kern="1200">
        <a:solidFill>
          <a:schemeClr val="tx1"/>
        </a:solidFill>
        <a:latin typeface="Garamond" pitchFamily="18" charset="0"/>
        <a:ea typeface="+mn-ea"/>
        <a:cs typeface="Arial" charset="0"/>
      </a:defRPr>
    </a:lvl4pPr>
    <a:lvl5pPr marL="1828800" algn="l" rtl="0" fontAlgn="base">
      <a:spcBef>
        <a:spcPct val="0"/>
      </a:spcBef>
      <a:spcAft>
        <a:spcPct val="0"/>
      </a:spcAft>
      <a:defRPr kern="1200">
        <a:solidFill>
          <a:schemeClr val="tx1"/>
        </a:solidFill>
        <a:latin typeface="Garamond" pitchFamily="18" charset="0"/>
        <a:ea typeface="+mn-ea"/>
        <a:cs typeface="Arial" charset="0"/>
      </a:defRPr>
    </a:lvl5pPr>
    <a:lvl6pPr marL="2286000" algn="l" defTabSz="914400" rtl="0" eaLnBrk="1" latinLnBrk="0" hangingPunct="1">
      <a:defRPr kern="1200">
        <a:solidFill>
          <a:schemeClr val="tx1"/>
        </a:solidFill>
        <a:latin typeface="Garamond" pitchFamily="18" charset="0"/>
        <a:ea typeface="+mn-ea"/>
        <a:cs typeface="Arial" charset="0"/>
      </a:defRPr>
    </a:lvl6pPr>
    <a:lvl7pPr marL="2743200" algn="l" defTabSz="914400" rtl="0" eaLnBrk="1" latinLnBrk="0" hangingPunct="1">
      <a:defRPr kern="1200">
        <a:solidFill>
          <a:schemeClr val="tx1"/>
        </a:solidFill>
        <a:latin typeface="Garamond" pitchFamily="18" charset="0"/>
        <a:ea typeface="+mn-ea"/>
        <a:cs typeface="Arial" charset="0"/>
      </a:defRPr>
    </a:lvl7pPr>
    <a:lvl8pPr marL="3200400" algn="l" defTabSz="914400" rtl="0" eaLnBrk="1" latinLnBrk="0" hangingPunct="1">
      <a:defRPr kern="1200">
        <a:solidFill>
          <a:schemeClr val="tx1"/>
        </a:solidFill>
        <a:latin typeface="Garamond" pitchFamily="18" charset="0"/>
        <a:ea typeface="+mn-ea"/>
        <a:cs typeface="Arial" charset="0"/>
      </a:defRPr>
    </a:lvl8pPr>
    <a:lvl9pPr marL="3657600" algn="l" defTabSz="914400" rtl="0" eaLnBrk="1" latinLnBrk="0" hangingPunct="1">
      <a:defRPr kern="1200">
        <a:solidFill>
          <a:schemeClr val="tx1"/>
        </a:solidFill>
        <a:latin typeface="Garamond"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660" autoAdjust="0"/>
  </p:normalViewPr>
  <p:slideViewPr>
    <p:cSldViewPr>
      <p:cViewPr varScale="1">
        <p:scale>
          <a:sx n="53" d="100"/>
          <a:sy n="53" d="100"/>
        </p:scale>
        <p:origin x="5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0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1740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740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1740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F5556BAB-0E3F-4425-8B84-9977E751F1AD}"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17305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306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17306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17926951-DB5D-495D-A5F7-6671BE13082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87BF6FCE-4CDE-4E77-8EF9-3DE9F702BDFC}"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D32F591-B2DB-4F86-9F11-246DAA745F26}" type="slidenum">
              <a:rPr lang="en-US" smtClean="0"/>
              <a:pPr>
                <a:defRPr/>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59662AD-4C2B-4558-B4B9-C793D2FC2537}" type="slidenum">
              <a:rPr lang="en-US" smtClean="0"/>
              <a:pPr>
                <a:defRPr/>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E16E6C-B4B0-4DF1-B772-B8D15766FABE}" type="slidenum">
              <a:rPr lang="en-US" smtClean="0"/>
              <a:pPr>
                <a:defRPr/>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6847AE39-ABED-489A-BD53-B34DEA57F03E}"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9894F751-6CD5-4282-AA1B-114777A996A1}" type="slidenum">
              <a:rPr lang="en-US" smtClean="0"/>
              <a:pPr>
                <a:defRPr/>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5CF743DE-0040-4CEB-A1EF-44354CAF9872}"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A3021BB5-3DAA-481F-B19F-8CC2DC4C6484}"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5A239A32-706A-43ED-AC14-DC2D1A56C801}"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B490EC5-B3B4-4FF4-96E1-21B30AB3D134}"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83F05CF-47D2-4031-A6EE-23D6A6CB559F}"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0A57D6EF-EAF3-4A9E-83C1-8417C2F6AD9E}"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ctrTitle"/>
          </p:nvPr>
        </p:nvSpPr>
        <p:spPr>
          <a:xfrm>
            <a:off x="685800" y="2743200"/>
            <a:ext cx="7772400" cy="1067761"/>
          </a:xfrm>
        </p:spPr>
        <p:txBody>
          <a:bodyPr>
            <a:normAutofit fontScale="90000"/>
          </a:bodyPr>
          <a:lstStyle/>
          <a:p>
            <a:pPr eaLnBrk="1" hangingPunct="1">
              <a:defRPr/>
            </a:pPr>
            <a:r>
              <a:rPr lang="en-US" sz="4000" dirty="0" err="1"/>
              <a:t>Pengantar</a:t>
            </a:r>
            <a:r>
              <a:rPr lang="en-US" sz="4000" dirty="0"/>
              <a:t>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fi-FI"/>
              <a:t>Mengapa kita harus mempelajari rekayasa perangkat lunak?</a:t>
            </a:r>
          </a:p>
          <a:p>
            <a:pPr lvl="1"/>
            <a:r>
              <a:rPr lang="id-ID"/>
              <a:t>Rekayasa perangkat lunak adalah proses merancang, mengembangkan, menguji, dan memelihara perangkat lunak. Hal ini diperlukan karena perangkat lunak merupakan bidang yang kompleks dan terus berkembang yang memerlukan pendekatan terstruktur untuk memastikan bahwa produk akhir berkualitas tinggi, andal, dan memenuhi kebutuhan pengguna</a:t>
            </a:r>
            <a:endParaRPr lang="en-US"/>
          </a:p>
        </p:txBody>
      </p:sp>
      <p:sp>
        <p:nvSpPr>
          <p:cNvPr id="3" name="Slide Number Placeholder 2"/>
          <p:cNvSpPr>
            <a:spLocks noGrp="1"/>
          </p:cNvSpPr>
          <p:nvPr>
            <p:ph type="sldNum" sz="quarter" idx="12"/>
          </p:nvPr>
        </p:nvSpPr>
        <p:spPr/>
        <p:txBody>
          <a:bodyPr/>
          <a:lstStyle/>
          <a:p>
            <a:pPr>
              <a:defRPr/>
            </a:pPr>
            <a:fld id="{6D32F591-B2DB-4F86-9F11-246DAA745F26}" type="slidenum">
              <a:rPr lang="en-US" smtClean="0"/>
              <a:pPr>
                <a:defRPr/>
              </a:pPr>
              <a:t>2</a:t>
            </a:fld>
            <a:endParaRPr lang="en-US"/>
          </a:p>
        </p:txBody>
      </p:sp>
      <p:sp>
        <p:nvSpPr>
          <p:cNvPr id="4" name="Title 3"/>
          <p:cNvSpPr>
            <a:spLocks noGrp="1"/>
          </p:cNvSpPr>
          <p:nvPr>
            <p:ph type="title"/>
          </p:nvPr>
        </p:nvSpPr>
        <p:spPr/>
        <p:txBody>
          <a:bodyPr/>
          <a:lstStyle/>
          <a:p>
            <a:r>
              <a:rPr lang="en-US"/>
              <a:t>Pendahuluan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algn="just">
              <a:defRPr/>
            </a:pPr>
            <a:r>
              <a:rPr lang="id-ID"/>
              <a:t>Perangkat lunak atau softwere ini merupakan sekumpulan data elektronik yang tersimpan dan dikendalikan oleh perangkat komputer. Data elektronik meliputi instruksi atau program yang nantinya akan menjalankan perintah khusus</a:t>
            </a:r>
            <a:endParaRPr lang="en-US"/>
          </a:p>
          <a:p>
            <a:pPr algn="just">
              <a:defRPr/>
            </a:pPr>
            <a:r>
              <a:rPr lang="en-US"/>
              <a:t>Perangkat lunak adalah program komputer yang terasosiasi dengan dokumentasi perangkat lunak seperti dokumentasi terkait analisis kebutuhan, model desain, dan user manual </a:t>
            </a:r>
          </a:p>
          <a:p>
            <a:pPr algn="just">
              <a:defRPr/>
            </a:pPr>
            <a:r>
              <a:rPr lang="en-US"/>
              <a:t>Produk </a:t>
            </a:r>
            <a:r>
              <a:rPr lang="en-US" dirty="0" err="1"/>
              <a:t>perangkat</a:t>
            </a:r>
            <a:r>
              <a:rPr lang="en-US" dirty="0"/>
              <a:t> </a:t>
            </a:r>
            <a:r>
              <a:rPr lang="en-US" dirty="0" err="1"/>
              <a:t>lunak</a:t>
            </a:r>
            <a:r>
              <a:rPr lang="en-US" dirty="0"/>
              <a:t> </a:t>
            </a:r>
            <a:r>
              <a:rPr lang="en-US" dirty="0" err="1"/>
              <a:t>dibuat</a:t>
            </a:r>
            <a:r>
              <a:rPr lang="en-US" dirty="0"/>
              <a:t> </a:t>
            </a:r>
            <a:r>
              <a:rPr lang="en-US" dirty="0" err="1"/>
              <a:t>untuk</a:t>
            </a:r>
            <a:r>
              <a:rPr lang="en-US" dirty="0"/>
              <a:t> </a:t>
            </a:r>
            <a:r>
              <a:rPr lang="en-US" dirty="0" err="1"/>
              <a:t>pelanggan</a:t>
            </a:r>
            <a:r>
              <a:rPr lang="en-US" dirty="0"/>
              <a:t> </a:t>
            </a:r>
            <a:r>
              <a:rPr lang="en-US" dirty="0" err="1"/>
              <a:t>tertentu</a:t>
            </a:r>
            <a:r>
              <a:rPr lang="en-US" dirty="0"/>
              <a:t> </a:t>
            </a:r>
            <a:r>
              <a:rPr lang="en-US" dirty="0" err="1"/>
              <a:t>ataupun</a:t>
            </a:r>
            <a:r>
              <a:rPr lang="en-US" dirty="0"/>
              <a:t> </a:t>
            </a:r>
            <a:r>
              <a:rPr lang="en-US" dirty="0" err="1"/>
              <a:t>untuk</a:t>
            </a:r>
            <a:r>
              <a:rPr lang="en-US" dirty="0"/>
              <a:t> </a:t>
            </a:r>
            <a:r>
              <a:rPr lang="en-US" dirty="0" err="1"/>
              <a:t>pasar</a:t>
            </a:r>
            <a:r>
              <a:rPr lang="en-US" dirty="0"/>
              <a:t> </a:t>
            </a:r>
            <a:r>
              <a:rPr lang="en-US" dirty="0" err="1"/>
              <a:t>umum</a:t>
            </a:r>
            <a:endParaRPr lang="en-US" dirty="0"/>
          </a:p>
        </p:txBody>
      </p:sp>
      <p:sp>
        <p:nvSpPr>
          <p:cNvPr id="2" name="Title 1"/>
          <p:cNvSpPr>
            <a:spLocks noGrp="1"/>
          </p:cNvSpPr>
          <p:nvPr>
            <p:ph type="title"/>
          </p:nvPr>
        </p:nvSpPr>
        <p:spPr/>
        <p:txBody>
          <a:bodyPr/>
          <a:lstStyle/>
          <a:p>
            <a:pPr eaLnBrk="1" hangingPunct="1">
              <a:defRPr/>
            </a:pPr>
            <a:r>
              <a:rPr lang="en-US" dirty="0"/>
              <a:t>PERANGKAT LUNAK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p:cNvSpPr>
            <a:spLocks noGrp="1" noChangeArrowheads="1"/>
          </p:cNvSpPr>
          <p:nvPr>
            <p:ph idx="1"/>
          </p:nvPr>
        </p:nvSpPr>
        <p:spPr>
          <a:xfrm>
            <a:off x="533400" y="1295400"/>
            <a:ext cx="8229600" cy="5029200"/>
          </a:xfrm>
        </p:spPr>
        <p:txBody>
          <a:bodyPr>
            <a:normAutofit lnSpcReduction="10000"/>
          </a:bodyPr>
          <a:lstStyle/>
          <a:p>
            <a:pPr eaLnBrk="1" hangingPunct="1">
              <a:defRPr/>
            </a:pPr>
            <a:r>
              <a:rPr lang="en-US" sz="2800" dirty="0" err="1"/>
              <a:t>Perangkat</a:t>
            </a:r>
            <a:r>
              <a:rPr lang="en-US" sz="2800" dirty="0"/>
              <a:t> </a:t>
            </a:r>
            <a:r>
              <a:rPr lang="en-US" sz="2800" dirty="0" err="1"/>
              <a:t>Lunak</a:t>
            </a:r>
            <a:r>
              <a:rPr lang="en-US" sz="2800" dirty="0"/>
              <a:t> </a:t>
            </a:r>
            <a:r>
              <a:rPr lang="en-US" sz="2800" i="1" dirty="0"/>
              <a:t>(Software)</a:t>
            </a:r>
            <a:r>
              <a:rPr lang="en-US" sz="2800" dirty="0"/>
              <a:t> </a:t>
            </a:r>
            <a:r>
              <a:rPr lang="en-US" sz="2800" dirty="0" err="1"/>
              <a:t>tidak</a:t>
            </a:r>
            <a:r>
              <a:rPr lang="en-US" sz="2800" dirty="0"/>
              <a:t> </a:t>
            </a:r>
            <a:r>
              <a:rPr lang="en-US" sz="2800" dirty="0" err="1"/>
              <a:t>sama</a:t>
            </a:r>
            <a:r>
              <a:rPr lang="en-US" sz="2800" dirty="0"/>
              <a:t> </a:t>
            </a:r>
            <a:r>
              <a:rPr lang="en-US" sz="2800" dirty="0" err="1"/>
              <a:t>dengan</a:t>
            </a:r>
            <a:r>
              <a:rPr lang="en-US" sz="2800" dirty="0"/>
              <a:t> program </a:t>
            </a:r>
            <a:r>
              <a:rPr lang="en-US" sz="2800" dirty="0" err="1"/>
              <a:t>komputer</a:t>
            </a:r>
            <a:r>
              <a:rPr lang="en-US" sz="2800" dirty="0"/>
              <a:t>. </a:t>
            </a:r>
            <a:r>
              <a:rPr lang="en-US" sz="2800" dirty="0" err="1"/>
              <a:t>Perangkat</a:t>
            </a:r>
            <a:r>
              <a:rPr lang="en-US" sz="2800" dirty="0"/>
              <a:t> </a:t>
            </a:r>
            <a:r>
              <a:rPr lang="en-US" sz="2800" dirty="0" err="1"/>
              <a:t>lunak</a:t>
            </a:r>
            <a:r>
              <a:rPr lang="en-US" sz="2800" dirty="0"/>
              <a:t> </a:t>
            </a:r>
            <a:r>
              <a:rPr lang="en-US" sz="2800" dirty="0" err="1"/>
              <a:t>tidak</a:t>
            </a:r>
            <a:r>
              <a:rPr lang="en-US" sz="2800" dirty="0"/>
              <a:t> </a:t>
            </a:r>
            <a:r>
              <a:rPr lang="en-US" sz="2800" dirty="0" err="1"/>
              <a:t>hanya</a:t>
            </a:r>
            <a:r>
              <a:rPr lang="en-US" sz="2800" dirty="0"/>
              <a:t> </a:t>
            </a:r>
            <a:r>
              <a:rPr lang="en-US" sz="2800" dirty="0" err="1"/>
              <a:t>mencakup</a:t>
            </a:r>
            <a:r>
              <a:rPr lang="en-US" sz="2800" dirty="0"/>
              <a:t> program, </a:t>
            </a:r>
            <a:r>
              <a:rPr lang="en-US" sz="2800" dirty="0" err="1"/>
              <a:t>tetapi</a:t>
            </a:r>
            <a:r>
              <a:rPr lang="en-US" sz="2800" dirty="0"/>
              <a:t> </a:t>
            </a:r>
            <a:r>
              <a:rPr lang="en-US" sz="2800" dirty="0" err="1"/>
              <a:t>juga</a:t>
            </a:r>
            <a:r>
              <a:rPr lang="en-US" sz="2800" dirty="0"/>
              <a:t> </a:t>
            </a:r>
            <a:r>
              <a:rPr lang="en-US" sz="2800" dirty="0" err="1"/>
              <a:t>semua</a:t>
            </a:r>
            <a:r>
              <a:rPr lang="en-US" sz="2800" dirty="0"/>
              <a:t> </a:t>
            </a:r>
            <a:r>
              <a:rPr lang="en-US" sz="2800" dirty="0" err="1"/>
              <a:t>dokumentasi</a:t>
            </a:r>
            <a:r>
              <a:rPr lang="en-US" sz="2800" dirty="0"/>
              <a:t> </a:t>
            </a:r>
            <a:r>
              <a:rPr lang="en-US" sz="2800" dirty="0" err="1"/>
              <a:t>dan</a:t>
            </a:r>
            <a:r>
              <a:rPr lang="en-US" sz="2800" dirty="0"/>
              <a:t> </a:t>
            </a:r>
            <a:r>
              <a:rPr lang="en-US" sz="2800" dirty="0" err="1"/>
              <a:t>konfigurasi</a:t>
            </a:r>
            <a:r>
              <a:rPr lang="en-US" sz="2800" dirty="0"/>
              <a:t> data yang </a:t>
            </a:r>
            <a:r>
              <a:rPr lang="en-US" sz="2800" dirty="0" err="1"/>
              <a:t>berhubungan</a:t>
            </a:r>
            <a:r>
              <a:rPr lang="en-US" sz="2800" dirty="0"/>
              <a:t>, yang </a:t>
            </a:r>
            <a:r>
              <a:rPr lang="en-US" sz="2800" dirty="0" err="1"/>
              <a:t>diperlukan</a:t>
            </a:r>
            <a:r>
              <a:rPr lang="en-US" sz="2800" dirty="0"/>
              <a:t> </a:t>
            </a:r>
            <a:r>
              <a:rPr lang="en-US" sz="2800" dirty="0" err="1"/>
              <a:t>untuk</a:t>
            </a:r>
            <a:r>
              <a:rPr lang="en-US" sz="2800" dirty="0"/>
              <a:t> </a:t>
            </a:r>
            <a:r>
              <a:rPr lang="en-US" sz="2800" dirty="0" err="1"/>
              <a:t>membuat</a:t>
            </a:r>
            <a:r>
              <a:rPr lang="en-US" sz="2800" dirty="0"/>
              <a:t> agar program </a:t>
            </a:r>
            <a:r>
              <a:rPr lang="en-US" sz="2800" dirty="0" err="1"/>
              <a:t>beroperasi</a:t>
            </a:r>
            <a:r>
              <a:rPr lang="en-US" sz="2800" dirty="0"/>
              <a:t> </a:t>
            </a:r>
            <a:r>
              <a:rPr lang="en-US" sz="2800" dirty="0" err="1"/>
              <a:t>dengan</a:t>
            </a:r>
            <a:r>
              <a:rPr lang="en-US" sz="2800" dirty="0"/>
              <a:t> </a:t>
            </a:r>
            <a:r>
              <a:rPr lang="en-US" sz="2800" dirty="0" err="1"/>
              <a:t>benar</a:t>
            </a:r>
            <a:r>
              <a:rPr lang="en-US" sz="2800" dirty="0"/>
              <a:t>.</a:t>
            </a:r>
          </a:p>
          <a:p>
            <a:pPr eaLnBrk="1" hangingPunct="1">
              <a:defRPr/>
            </a:pPr>
            <a:r>
              <a:rPr lang="en-US" sz="2800" dirty="0" err="1"/>
              <a:t>Sistem</a:t>
            </a:r>
            <a:r>
              <a:rPr lang="en-US" sz="2800" dirty="0"/>
              <a:t> </a:t>
            </a:r>
            <a:r>
              <a:rPr lang="en-US" sz="2800" dirty="0" err="1"/>
              <a:t>Perangkat</a:t>
            </a:r>
            <a:r>
              <a:rPr lang="en-US" sz="2800" dirty="0"/>
              <a:t> </a:t>
            </a:r>
            <a:r>
              <a:rPr lang="en-US" sz="2800" dirty="0" err="1"/>
              <a:t>Lunak</a:t>
            </a:r>
            <a:r>
              <a:rPr lang="en-US" sz="2800" dirty="0"/>
              <a:t> </a:t>
            </a:r>
            <a:r>
              <a:rPr lang="en-US" sz="2800" dirty="0" err="1"/>
              <a:t>terdiri</a:t>
            </a:r>
            <a:r>
              <a:rPr lang="en-US" sz="2800" dirty="0"/>
              <a:t> </a:t>
            </a:r>
            <a:r>
              <a:rPr lang="en-US" sz="2800" dirty="0" err="1"/>
              <a:t>dari</a:t>
            </a:r>
            <a:r>
              <a:rPr lang="en-US" sz="2800" dirty="0"/>
              <a:t> :</a:t>
            </a:r>
          </a:p>
          <a:p>
            <a:pPr lvl="1" eaLnBrk="1" hangingPunct="1">
              <a:defRPr/>
            </a:pPr>
            <a:r>
              <a:rPr lang="en-US" sz="2400" dirty="0" err="1"/>
              <a:t>Sejumlah</a:t>
            </a:r>
            <a:r>
              <a:rPr lang="en-US" sz="2400" dirty="0"/>
              <a:t> program </a:t>
            </a:r>
            <a:r>
              <a:rPr lang="en-US" sz="2400" dirty="0" err="1"/>
              <a:t>yg</a:t>
            </a:r>
            <a:r>
              <a:rPr lang="en-US" sz="2400" dirty="0"/>
              <a:t> </a:t>
            </a:r>
            <a:r>
              <a:rPr lang="en-US" sz="2400" dirty="0" err="1"/>
              <a:t>terpisah</a:t>
            </a:r>
            <a:endParaRPr lang="en-US" sz="2400" dirty="0"/>
          </a:p>
          <a:p>
            <a:pPr lvl="1" eaLnBrk="1" hangingPunct="1">
              <a:defRPr/>
            </a:pPr>
            <a:r>
              <a:rPr lang="en-US" sz="2400" dirty="0"/>
              <a:t>File-file </a:t>
            </a:r>
            <a:r>
              <a:rPr lang="en-US" sz="2400" dirty="0" err="1"/>
              <a:t>konfigurasi</a:t>
            </a:r>
            <a:endParaRPr lang="en-US" sz="2400" dirty="0"/>
          </a:p>
          <a:p>
            <a:pPr lvl="1" eaLnBrk="1" hangingPunct="1">
              <a:defRPr/>
            </a:pPr>
            <a:r>
              <a:rPr lang="en-US" sz="2400" dirty="0" err="1"/>
              <a:t>Dokumentasi</a:t>
            </a:r>
            <a:r>
              <a:rPr lang="en-US" sz="2400" dirty="0"/>
              <a:t> </a:t>
            </a:r>
            <a:r>
              <a:rPr lang="en-US" sz="2400" dirty="0" err="1"/>
              <a:t>sistem</a:t>
            </a:r>
            <a:endParaRPr lang="en-US" sz="2400" dirty="0"/>
          </a:p>
          <a:p>
            <a:pPr lvl="1" eaLnBrk="1" hangingPunct="1">
              <a:defRPr/>
            </a:pPr>
            <a:r>
              <a:rPr lang="en-US" sz="2400" dirty="0" err="1"/>
              <a:t>Dokumentasi</a:t>
            </a:r>
            <a:r>
              <a:rPr lang="en-US" sz="2400" dirty="0"/>
              <a:t> User</a:t>
            </a:r>
          </a:p>
          <a:p>
            <a:pPr lvl="1" eaLnBrk="1" hangingPunct="1">
              <a:defRPr/>
            </a:pPr>
            <a:endParaRPr lang="en-US" sz="2400" dirty="0"/>
          </a:p>
        </p:txBody>
      </p:sp>
      <p:sp>
        <p:nvSpPr>
          <p:cNvPr id="154626" name="Rectangle 2"/>
          <p:cNvSpPr>
            <a:spLocks noGrp="1" noRot="1" noChangeArrowheads="1"/>
          </p:cNvSpPr>
          <p:nvPr>
            <p:ph type="title"/>
          </p:nvPr>
        </p:nvSpPr>
        <p:spPr/>
        <p:txBody>
          <a:bodyPr/>
          <a:lstStyle/>
          <a:p>
            <a:pPr eaLnBrk="1" hangingPunct="1">
              <a:defRPr/>
            </a:pPr>
            <a:r>
              <a:rPr lang="en-US" dirty="0"/>
              <a:t>PERANGKAT LUNAK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D0230D-6F43-12B0-EF4F-544281F91005}"/>
              </a:ext>
            </a:extLst>
          </p:cNvPr>
          <p:cNvSpPr>
            <a:spLocks noGrp="1"/>
          </p:cNvSpPr>
          <p:nvPr>
            <p:ph idx="1"/>
          </p:nvPr>
        </p:nvSpPr>
        <p:spPr/>
        <p:txBody>
          <a:bodyPr/>
          <a:lstStyle/>
          <a:p>
            <a:pPr marL="109728" indent="0">
              <a:buNone/>
            </a:pPr>
            <a:r>
              <a:rPr lang="en-ID" dirty="0" err="1"/>
              <a:t>Perbedaan</a:t>
            </a:r>
            <a:r>
              <a:rPr lang="en-ID" dirty="0"/>
              <a:t> Utama</a:t>
            </a:r>
          </a:p>
          <a:p>
            <a:r>
              <a:rPr lang="en-ID" b="1" dirty="0"/>
              <a:t>Program:</a:t>
            </a:r>
            <a:r>
              <a:rPr lang="en-ID" dirty="0"/>
              <a:t> Kumpulan </a:t>
            </a:r>
            <a:r>
              <a:rPr lang="en-ID" dirty="0" err="1"/>
              <a:t>instruksi</a:t>
            </a:r>
            <a:r>
              <a:rPr lang="en-ID" dirty="0"/>
              <a:t> individual </a:t>
            </a:r>
            <a:r>
              <a:rPr lang="en-ID" dirty="0" err="1"/>
              <a:t>atau</a:t>
            </a:r>
            <a:r>
              <a:rPr lang="en-ID" dirty="0"/>
              <a:t> baris </a:t>
            </a:r>
            <a:r>
              <a:rPr lang="en-ID" dirty="0" err="1"/>
              <a:t>kode</a:t>
            </a:r>
            <a:r>
              <a:rPr lang="en-ID" dirty="0"/>
              <a:t> yang </a:t>
            </a:r>
            <a:r>
              <a:rPr lang="en-ID" dirty="0" err="1"/>
              <a:t>dirancang</a:t>
            </a:r>
            <a:r>
              <a:rPr lang="en-ID" dirty="0"/>
              <a:t> </a:t>
            </a:r>
            <a:r>
              <a:rPr lang="en-ID" dirty="0" err="1"/>
              <a:t>untuk</a:t>
            </a:r>
            <a:r>
              <a:rPr lang="en-ID" dirty="0"/>
              <a:t> </a:t>
            </a:r>
            <a:r>
              <a:rPr lang="en-ID" dirty="0" err="1"/>
              <a:t>melakukan</a:t>
            </a:r>
            <a:r>
              <a:rPr lang="en-ID" dirty="0"/>
              <a:t> </a:t>
            </a:r>
            <a:r>
              <a:rPr lang="en-ID" dirty="0" err="1"/>
              <a:t>satu</a:t>
            </a:r>
            <a:r>
              <a:rPr lang="en-ID" dirty="0"/>
              <a:t> </a:t>
            </a:r>
            <a:r>
              <a:rPr lang="en-ID" dirty="0" err="1"/>
              <a:t>fungsi</a:t>
            </a:r>
            <a:r>
              <a:rPr lang="en-ID" dirty="0"/>
              <a:t> </a:t>
            </a:r>
            <a:r>
              <a:rPr lang="en-ID" dirty="0" err="1"/>
              <a:t>spesifik</a:t>
            </a:r>
            <a:endParaRPr lang="en-ID" dirty="0"/>
          </a:p>
          <a:p>
            <a:pPr marL="109728" indent="0">
              <a:buNone/>
            </a:pPr>
            <a:endParaRPr lang="en-ID" dirty="0"/>
          </a:p>
          <a:p>
            <a:r>
              <a:rPr lang="en-ID" b="1" dirty="0" err="1"/>
              <a:t>Perangkat</a:t>
            </a:r>
            <a:r>
              <a:rPr lang="en-ID" b="1" dirty="0"/>
              <a:t> Lunak:</a:t>
            </a:r>
            <a:r>
              <a:rPr lang="en-ID" dirty="0"/>
              <a:t> Istilah yang </a:t>
            </a:r>
            <a:r>
              <a:rPr lang="en-ID" dirty="0" err="1"/>
              <a:t>lebih</a:t>
            </a:r>
            <a:r>
              <a:rPr lang="en-ID" dirty="0"/>
              <a:t> </a:t>
            </a:r>
            <a:r>
              <a:rPr lang="en-ID" dirty="0" err="1"/>
              <a:t>luas</a:t>
            </a:r>
            <a:r>
              <a:rPr lang="en-ID" dirty="0"/>
              <a:t> dan </a:t>
            </a:r>
            <a:r>
              <a:rPr lang="en-ID" dirty="0" err="1"/>
              <a:t>mencakup</a:t>
            </a:r>
            <a:r>
              <a:rPr lang="en-ID" dirty="0"/>
              <a:t> </a:t>
            </a:r>
            <a:r>
              <a:rPr lang="en-ID" dirty="0" err="1"/>
              <a:t>sekumpulan</a:t>
            </a:r>
            <a:r>
              <a:rPr lang="en-ID" dirty="0"/>
              <a:t> program, </a:t>
            </a:r>
            <a:r>
              <a:rPr lang="en-ID" dirty="0" err="1"/>
              <a:t>dokumentasi</a:t>
            </a:r>
            <a:r>
              <a:rPr lang="en-ID" dirty="0"/>
              <a:t>, </a:t>
            </a:r>
            <a:r>
              <a:rPr lang="en-ID" dirty="0" err="1"/>
              <a:t>serta</a:t>
            </a:r>
            <a:r>
              <a:rPr lang="en-ID" dirty="0"/>
              <a:t> </a:t>
            </a:r>
            <a:r>
              <a:rPr lang="en-ID" dirty="0" err="1"/>
              <a:t>prosedur</a:t>
            </a:r>
            <a:r>
              <a:rPr lang="en-ID" dirty="0"/>
              <a:t> yang </a:t>
            </a:r>
            <a:r>
              <a:rPr lang="en-ID" dirty="0" err="1"/>
              <a:t>bekerja</a:t>
            </a:r>
            <a:r>
              <a:rPr lang="en-ID" dirty="0"/>
              <a:t> </a:t>
            </a:r>
            <a:r>
              <a:rPr lang="en-ID" dirty="0" err="1"/>
              <a:t>bersama</a:t>
            </a:r>
            <a:r>
              <a:rPr lang="en-ID" dirty="0"/>
              <a:t>.</a:t>
            </a:r>
          </a:p>
        </p:txBody>
      </p:sp>
      <p:sp>
        <p:nvSpPr>
          <p:cNvPr id="3" name="Slide Number Placeholder 2">
            <a:extLst>
              <a:ext uri="{FF2B5EF4-FFF2-40B4-BE49-F238E27FC236}">
                <a16:creationId xmlns:a16="http://schemas.microsoft.com/office/drawing/2014/main" id="{1DCFC452-339E-0DDE-AF2D-4DC2995B22A2}"/>
              </a:ext>
            </a:extLst>
          </p:cNvPr>
          <p:cNvSpPr>
            <a:spLocks noGrp="1"/>
          </p:cNvSpPr>
          <p:nvPr>
            <p:ph type="sldNum" sz="quarter" idx="12"/>
          </p:nvPr>
        </p:nvSpPr>
        <p:spPr/>
        <p:txBody>
          <a:bodyPr/>
          <a:lstStyle/>
          <a:p>
            <a:pPr>
              <a:defRPr/>
            </a:pPr>
            <a:fld id="{6D32F591-B2DB-4F86-9F11-246DAA745F26}" type="slidenum">
              <a:rPr lang="en-US" smtClean="0"/>
              <a:pPr>
                <a:defRPr/>
              </a:pPr>
              <a:t>5</a:t>
            </a:fld>
            <a:endParaRPr lang="en-US"/>
          </a:p>
        </p:txBody>
      </p:sp>
      <p:sp>
        <p:nvSpPr>
          <p:cNvPr id="4" name="Title 3">
            <a:extLst>
              <a:ext uri="{FF2B5EF4-FFF2-40B4-BE49-F238E27FC236}">
                <a16:creationId xmlns:a16="http://schemas.microsoft.com/office/drawing/2014/main" id="{7B9E15E5-1BF4-1C2D-863E-CCDE6BFD83FC}"/>
              </a:ext>
            </a:extLst>
          </p:cNvPr>
          <p:cNvSpPr>
            <a:spLocks noGrp="1"/>
          </p:cNvSpPr>
          <p:nvPr>
            <p:ph type="title"/>
          </p:nvPr>
        </p:nvSpPr>
        <p:spPr/>
        <p:txBody>
          <a:bodyPr/>
          <a:lstStyle/>
          <a:p>
            <a:r>
              <a:rPr lang="en-US" dirty="0"/>
              <a:t>Program vs </a:t>
            </a:r>
            <a:r>
              <a:rPr lang="en-US" dirty="0" err="1"/>
              <a:t>Perangkat</a:t>
            </a:r>
            <a:r>
              <a:rPr lang="en-US" dirty="0"/>
              <a:t> Lunak</a:t>
            </a:r>
            <a:endParaRPr lang="en-ID" dirty="0"/>
          </a:p>
        </p:txBody>
      </p:sp>
    </p:spTree>
    <p:extLst>
      <p:ext uri="{BB962C8B-B14F-4D97-AF65-F5344CB8AC3E}">
        <p14:creationId xmlns:p14="http://schemas.microsoft.com/office/powerpoint/2010/main" val="3142848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Grp="1" noChangeArrowheads="1"/>
          </p:cNvSpPr>
          <p:nvPr>
            <p:ph idx="1"/>
          </p:nvPr>
        </p:nvSpPr>
        <p:spPr>
          <a:xfrm>
            <a:off x="457200" y="533400"/>
            <a:ext cx="8229600" cy="5592763"/>
          </a:xfrm>
        </p:spPr>
        <p:txBody>
          <a:bodyPr>
            <a:normAutofit/>
          </a:bodyPr>
          <a:lstStyle/>
          <a:p>
            <a:pPr eaLnBrk="1" hangingPunct="1">
              <a:defRPr/>
            </a:pPr>
            <a:r>
              <a:rPr lang="en-US" dirty="0" err="1"/>
              <a:t>Produk</a:t>
            </a:r>
            <a:r>
              <a:rPr lang="en-US" dirty="0"/>
              <a:t> </a:t>
            </a:r>
            <a:r>
              <a:rPr lang="en-US" dirty="0" err="1"/>
              <a:t>perangkat</a:t>
            </a:r>
            <a:r>
              <a:rPr lang="en-US" dirty="0"/>
              <a:t> </a:t>
            </a:r>
            <a:r>
              <a:rPr lang="en-US" dirty="0" err="1"/>
              <a:t>lunak</a:t>
            </a:r>
            <a:r>
              <a:rPr lang="en-US" dirty="0"/>
              <a:t> </a:t>
            </a:r>
            <a:r>
              <a:rPr lang="en-US" dirty="0" err="1"/>
              <a:t>terdiri</a:t>
            </a:r>
            <a:r>
              <a:rPr lang="en-US" dirty="0"/>
              <a:t> </a:t>
            </a:r>
            <a:r>
              <a:rPr lang="en-US" dirty="0" err="1"/>
              <a:t>dari</a:t>
            </a:r>
            <a:r>
              <a:rPr lang="en-US" dirty="0"/>
              <a:t> dua </a:t>
            </a:r>
            <a:r>
              <a:rPr lang="en-US" dirty="0" err="1"/>
              <a:t>jenis</a:t>
            </a:r>
            <a:r>
              <a:rPr lang="en-US" dirty="0"/>
              <a:t>, </a:t>
            </a:r>
            <a:r>
              <a:rPr lang="en-US" dirty="0" err="1"/>
              <a:t>yaitu</a:t>
            </a:r>
            <a:r>
              <a:rPr lang="en-US" dirty="0"/>
              <a:t>: </a:t>
            </a:r>
          </a:p>
          <a:p>
            <a:pPr lvl="1" eaLnBrk="1" hangingPunct="1">
              <a:defRPr/>
            </a:pPr>
            <a:r>
              <a:rPr lang="en-US" dirty="0" err="1"/>
              <a:t>Produk</a:t>
            </a:r>
            <a:r>
              <a:rPr lang="en-US" dirty="0"/>
              <a:t> </a:t>
            </a:r>
            <a:r>
              <a:rPr lang="en-US" dirty="0" err="1"/>
              <a:t>Generik</a:t>
            </a:r>
            <a:r>
              <a:rPr lang="en-US" dirty="0"/>
              <a:t> </a:t>
            </a:r>
            <a:r>
              <a:rPr lang="en-US" dirty="0">
                <a:sym typeface="Wingdings" pitchFamily="2" charset="2"/>
              </a:rPr>
              <a:t> </a:t>
            </a:r>
            <a:r>
              <a:rPr lang="en-US" dirty="0" err="1">
                <a:sym typeface="Wingdings" pitchFamily="2" charset="2"/>
              </a:rPr>
              <a:t>produk</a:t>
            </a:r>
            <a:r>
              <a:rPr lang="en-US" dirty="0">
                <a:sym typeface="Wingdings" pitchFamily="2" charset="2"/>
              </a:rPr>
              <a:t> PL yang </a:t>
            </a:r>
            <a:r>
              <a:rPr lang="en-US" dirty="0" err="1">
                <a:sym typeface="Wingdings" pitchFamily="2" charset="2"/>
              </a:rPr>
              <a:t>dibuat</a:t>
            </a:r>
            <a:r>
              <a:rPr lang="en-US" dirty="0">
                <a:sym typeface="Wingdings" pitchFamily="2" charset="2"/>
              </a:rPr>
              <a:t> </a:t>
            </a:r>
            <a:r>
              <a:rPr lang="en-US" dirty="0" err="1">
                <a:sym typeface="Wingdings" pitchFamily="2" charset="2"/>
              </a:rPr>
              <a:t>untuk</a:t>
            </a:r>
            <a:r>
              <a:rPr lang="en-US" dirty="0">
                <a:sym typeface="Wingdings" pitchFamily="2" charset="2"/>
              </a:rPr>
              <a:t> </a:t>
            </a:r>
            <a:r>
              <a:rPr lang="en-US" dirty="0" err="1">
                <a:sym typeface="Wingdings" pitchFamily="2" charset="2"/>
              </a:rPr>
              <a:t>dijual</a:t>
            </a:r>
            <a:r>
              <a:rPr lang="en-US" dirty="0">
                <a:sym typeface="Wingdings" pitchFamily="2" charset="2"/>
              </a:rPr>
              <a:t> </a:t>
            </a:r>
            <a:r>
              <a:rPr lang="en-US" dirty="0" err="1">
                <a:sym typeface="Wingdings" pitchFamily="2" charset="2"/>
              </a:rPr>
              <a:t>secara</a:t>
            </a:r>
            <a:r>
              <a:rPr lang="en-US" dirty="0">
                <a:sym typeface="Wingdings" pitchFamily="2" charset="2"/>
              </a:rPr>
              <a:t> </a:t>
            </a:r>
            <a:r>
              <a:rPr lang="en-US" dirty="0" err="1">
                <a:sym typeface="Wingdings" pitchFamily="2" charset="2"/>
              </a:rPr>
              <a:t>massal</a:t>
            </a:r>
            <a:r>
              <a:rPr lang="en-US" dirty="0">
                <a:sym typeface="Wingdings" pitchFamily="2" charset="2"/>
              </a:rPr>
              <a:t> dan </a:t>
            </a:r>
            <a:r>
              <a:rPr lang="en-US" dirty="0" err="1">
                <a:sym typeface="Wingdings" pitchFamily="2" charset="2"/>
              </a:rPr>
              <a:t>tanpa</a:t>
            </a:r>
            <a:r>
              <a:rPr lang="en-US" dirty="0">
                <a:sym typeface="Wingdings" pitchFamily="2" charset="2"/>
              </a:rPr>
              <a:t> </a:t>
            </a:r>
            <a:r>
              <a:rPr lang="en-US" dirty="0" err="1">
                <a:sym typeface="Wingdings" pitchFamily="2" charset="2"/>
              </a:rPr>
              <a:t>ada</a:t>
            </a:r>
            <a:r>
              <a:rPr lang="en-US" dirty="0">
                <a:sym typeface="Wingdings" pitchFamily="2" charset="2"/>
              </a:rPr>
              <a:t> yang </a:t>
            </a:r>
            <a:r>
              <a:rPr lang="en-US" dirty="0" err="1">
                <a:sym typeface="Wingdings" pitchFamily="2" charset="2"/>
              </a:rPr>
              <a:t>memesan</a:t>
            </a:r>
            <a:r>
              <a:rPr lang="en-US" dirty="0">
                <a:sym typeface="Wingdings" pitchFamily="2" charset="2"/>
              </a:rPr>
              <a:t>. Artinya PL </a:t>
            </a:r>
            <a:r>
              <a:rPr lang="en-US" dirty="0" err="1">
                <a:sym typeface="Wingdings" pitchFamily="2" charset="2"/>
              </a:rPr>
              <a:t>tersebut</a:t>
            </a:r>
            <a:r>
              <a:rPr lang="en-US" dirty="0">
                <a:sym typeface="Wingdings" pitchFamily="2" charset="2"/>
              </a:rPr>
              <a:t> </a:t>
            </a:r>
            <a:r>
              <a:rPr lang="en-US" dirty="0" err="1">
                <a:sym typeface="Wingdings" pitchFamily="2" charset="2"/>
              </a:rPr>
              <a:t>diproduksi</a:t>
            </a:r>
            <a:r>
              <a:rPr lang="en-US" dirty="0">
                <a:sym typeface="Wingdings" pitchFamily="2" charset="2"/>
              </a:rPr>
              <a:t> oleh </a:t>
            </a:r>
            <a:r>
              <a:rPr lang="en-US" dirty="0" err="1">
                <a:sym typeface="Wingdings" pitchFamily="2" charset="2"/>
              </a:rPr>
              <a:t>organisasi</a:t>
            </a:r>
            <a:r>
              <a:rPr lang="en-US" dirty="0">
                <a:sym typeface="Wingdings" pitchFamily="2" charset="2"/>
              </a:rPr>
              <a:t> </a:t>
            </a:r>
            <a:r>
              <a:rPr lang="en-US" dirty="0" err="1">
                <a:sym typeface="Wingdings" pitchFamily="2" charset="2"/>
              </a:rPr>
              <a:t>pengembang</a:t>
            </a:r>
            <a:r>
              <a:rPr lang="en-US" dirty="0">
                <a:sym typeface="Wingdings" pitchFamily="2" charset="2"/>
              </a:rPr>
              <a:t> dan </a:t>
            </a:r>
            <a:r>
              <a:rPr lang="en-US" dirty="0" err="1">
                <a:sym typeface="Wingdings" pitchFamily="2" charset="2"/>
              </a:rPr>
              <a:t>dijual</a:t>
            </a:r>
            <a:r>
              <a:rPr lang="en-US" dirty="0">
                <a:sym typeface="Wingdings" pitchFamily="2" charset="2"/>
              </a:rPr>
              <a:t> </a:t>
            </a:r>
            <a:r>
              <a:rPr lang="en-US" dirty="0" err="1">
                <a:sym typeface="Wingdings" pitchFamily="2" charset="2"/>
              </a:rPr>
              <a:t>ke</a:t>
            </a:r>
            <a:r>
              <a:rPr lang="en-US" dirty="0">
                <a:sym typeface="Wingdings" pitchFamily="2" charset="2"/>
              </a:rPr>
              <a:t> pasar </a:t>
            </a:r>
            <a:r>
              <a:rPr lang="en-US" dirty="0" err="1">
                <a:sym typeface="Wingdings" pitchFamily="2" charset="2"/>
              </a:rPr>
              <a:t>terbuka</a:t>
            </a:r>
            <a:r>
              <a:rPr lang="en-US" dirty="0">
                <a:sym typeface="Wingdings" pitchFamily="2" charset="2"/>
              </a:rPr>
              <a:t> </a:t>
            </a:r>
            <a:r>
              <a:rPr lang="en-US" dirty="0" err="1">
                <a:sym typeface="Wingdings" pitchFamily="2" charset="2"/>
              </a:rPr>
              <a:t>ke</a:t>
            </a:r>
            <a:r>
              <a:rPr lang="en-US" dirty="0">
                <a:sym typeface="Wingdings" pitchFamily="2" charset="2"/>
              </a:rPr>
              <a:t> </a:t>
            </a:r>
            <a:r>
              <a:rPr lang="en-US" dirty="0" err="1">
                <a:sym typeface="Wingdings" pitchFamily="2" charset="2"/>
              </a:rPr>
              <a:t>siapapun</a:t>
            </a:r>
            <a:r>
              <a:rPr lang="en-US" dirty="0">
                <a:sym typeface="Wingdings" pitchFamily="2" charset="2"/>
              </a:rPr>
              <a:t> yang </a:t>
            </a:r>
            <a:r>
              <a:rPr lang="en-US" dirty="0" err="1">
                <a:sym typeface="Wingdings" pitchFamily="2" charset="2"/>
              </a:rPr>
              <a:t>membelinya</a:t>
            </a:r>
            <a:r>
              <a:rPr lang="en-US" dirty="0">
                <a:sym typeface="Wingdings" pitchFamily="2" charset="2"/>
              </a:rPr>
              <a:t> (</a:t>
            </a:r>
            <a:r>
              <a:rPr lang="en-US" dirty="0" err="1"/>
              <a:t>dibuat</a:t>
            </a:r>
            <a:r>
              <a:rPr lang="en-US" dirty="0"/>
              <a:t> </a:t>
            </a:r>
            <a:r>
              <a:rPr lang="en-US" dirty="0" err="1"/>
              <a:t>untuk</a:t>
            </a:r>
            <a:r>
              <a:rPr lang="en-US" dirty="0"/>
              <a:t> </a:t>
            </a:r>
            <a:r>
              <a:rPr lang="en-US" dirty="0" err="1"/>
              <a:t>dijual</a:t>
            </a:r>
            <a:r>
              <a:rPr lang="en-US" dirty="0"/>
              <a:t> </a:t>
            </a:r>
            <a:r>
              <a:rPr lang="en-US" dirty="0" err="1"/>
              <a:t>ke</a:t>
            </a:r>
            <a:r>
              <a:rPr lang="en-US" dirty="0"/>
              <a:t> </a:t>
            </a:r>
            <a:r>
              <a:rPr lang="en-US" dirty="0" err="1"/>
              <a:t>suatu</a:t>
            </a:r>
            <a:r>
              <a:rPr lang="en-US" dirty="0"/>
              <a:t> </a:t>
            </a:r>
            <a:r>
              <a:rPr lang="en-US" dirty="0" err="1"/>
              <a:t>kumpulan</a:t>
            </a:r>
            <a:r>
              <a:rPr lang="en-US" dirty="0"/>
              <a:t> </a:t>
            </a:r>
            <a:r>
              <a:rPr lang="en-US" dirty="0" err="1"/>
              <a:t>pengguna</a:t>
            </a:r>
            <a:r>
              <a:rPr lang="en-US" dirty="0"/>
              <a:t> yang </a:t>
            </a:r>
            <a:r>
              <a:rPr lang="en-US" dirty="0" err="1"/>
              <a:t>berbeda</a:t>
            </a:r>
            <a:r>
              <a:rPr lang="en-US" dirty="0"/>
              <a:t>). </a:t>
            </a:r>
            <a:r>
              <a:rPr lang="en-US" dirty="0">
                <a:sym typeface="Wingdings" pitchFamily="2" charset="2"/>
              </a:rPr>
              <a:t> </a:t>
            </a:r>
            <a:r>
              <a:rPr lang="en-US" dirty="0" err="1">
                <a:sym typeface="Wingdings" pitchFamily="2" charset="2"/>
              </a:rPr>
              <a:t>Biasa</a:t>
            </a:r>
            <a:r>
              <a:rPr lang="en-US" dirty="0">
                <a:sym typeface="Wingdings" pitchFamily="2" charset="2"/>
              </a:rPr>
              <a:t> </a:t>
            </a:r>
            <a:r>
              <a:rPr lang="en-US" dirty="0" err="1">
                <a:sym typeface="Wingdings" pitchFamily="2" charset="2"/>
              </a:rPr>
              <a:t>disebut</a:t>
            </a:r>
            <a:r>
              <a:rPr lang="en-US" dirty="0">
                <a:sym typeface="Wingdings" pitchFamily="2" charset="2"/>
              </a:rPr>
              <a:t> </a:t>
            </a:r>
            <a:r>
              <a:rPr lang="en-US" dirty="0" err="1">
                <a:sym typeface="Wingdings" pitchFamily="2" charset="2"/>
              </a:rPr>
              <a:t>sebagai</a:t>
            </a:r>
            <a:r>
              <a:rPr lang="en-US" dirty="0">
                <a:sym typeface="Wingdings" pitchFamily="2" charset="2"/>
              </a:rPr>
              <a:t> </a:t>
            </a:r>
            <a:r>
              <a:rPr lang="en-US" i="1" dirty="0">
                <a:sym typeface="Wingdings" pitchFamily="2" charset="2"/>
              </a:rPr>
              <a:t>software shrink-wrapped. </a:t>
            </a:r>
            <a:r>
              <a:rPr lang="en-US" dirty="0" err="1">
                <a:sym typeface="Wingdings" pitchFamily="2" charset="2"/>
              </a:rPr>
              <a:t>Contoh</a:t>
            </a:r>
            <a:r>
              <a:rPr lang="en-US" dirty="0">
                <a:sym typeface="Wingdings" pitchFamily="2" charset="2"/>
              </a:rPr>
              <a:t> : </a:t>
            </a:r>
            <a:r>
              <a:rPr lang="en-US" dirty="0" err="1">
                <a:sym typeface="Wingdings" pitchFamily="2" charset="2"/>
              </a:rPr>
              <a:t>pengolah</a:t>
            </a:r>
            <a:r>
              <a:rPr lang="en-US" dirty="0">
                <a:sym typeface="Wingdings" pitchFamily="2" charset="2"/>
              </a:rPr>
              <a:t> kata </a:t>
            </a:r>
            <a:r>
              <a:rPr lang="en-US" i="1" dirty="0">
                <a:sym typeface="Wingdings" pitchFamily="2" charset="2"/>
              </a:rPr>
              <a:t>(word processor).</a:t>
            </a:r>
          </a:p>
          <a:p>
            <a:pPr lvl="1" eaLnBrk="1" hangingPunct="1">
              <a:defRPr/>
            </a:pPr>
            <a:r>
              <a:rPr lang="en-US" dirty="0" err="1">
                <a:sym typeface="Wingdings" pitchFamily="2" charset="2"/>
              </a:rPr>
              <a:t>Produk</a:t>
            </a:r>
            <a:r>
              <a:rPr lang="en-US" dirty="0">
                <a:sym typeface="Wingdings" pitchFamily="2" charset="2"/>
              </a:rPr>
              <a:t> </a:t>
            </a:r>
            <a:r>
              <a:rPr lang="en-US" dirty="0" err="1">
                <a:sym typeface="Wingdings" pitchFamily="2" charset="2"/>
              </a:rPr>
              <a:t>pesanan</a:t>
            </a:r>
            <a:r>
              <a:rPr lang="en-US" dirty="0">
                <a:sym typeface="Wingdings" pitchFamily="2" charset="2"/>
              </a:rPr>
              <a:t>  </a:t>
            </a:r>
            <a:r>
              <a:rPr lang="en-US" dirty="0" err="1">
                <a:sym typeface="Wingdings" pitchFamily="2" charset="2"/>
              </a:rPr>
              <a:t>Produk</a:t>
            </a:r>
            <a:r>
              <a:rPr lang="en-US" dirty="0">
                <a:sym typeface="Wingdings" pitchFamily="2" charset="2"/>
              </a:rPr>
              <a:t> yang </a:t>
            </a:r>
            <a:r>
              <a:rPr lang="en-US" dirty="0" err="1">
                <a:sym typeface="Wingdings" pitchFamily="2" charset="2"/>
              </a:rPr>
              <a:t>dibuat</a:t>
            </a:r>
            <a:r>
              <a:rPr lang="en-US" dirty="0">
                <a:sym typeface="Wingdings" pitchFamily="2" charset="2"/>
              </a:rPr>
              <a:t> </a:t>
            </a:r>
            <a:r>
              <a:rPr lang="en-US" dirty="0" err="1">
                <a:sym typeface="Wingdings" pitchFamily="2" charset="2"/>
              </a:rPr>
              <a:t>sesuai</a:t>
            </a:r>
            <a:r>
              <a:rPr lang="en-US" dirty="0">
                <a:sym typeface="Wingdings" pitchFamily="2" charset="2"/>
              </a:rPr>
              <a:t> </a:t>
            </a:r>
            <a:r>
              <a:rPr lang="en-US" dirty="0" err="1">
                <a:sym typeface="Wingdings" pitchFamily="2" charset="2"/>
              </a:rPr>
              <a:t>dengan</a:t>
            </a:r>
            <a:r>
              <a:rPr lang="en-US" dirty="0">
                <a:sym typeface="Wingdings" pitchFamily="2" charset="2"/>
              </a:rPr>
              <a:t> </a:t>
            </a:r>
            <a:r>
              <a:rPr lang="en-US" dirty="0" err="1">
                <a:sym typeface="Wingdings" pitchFamily="2" charset="2"/>
              </a:rPr>
              <a:t>pesanan</a:t>
            </a:r>
            <a:r>
              <a:rPr lang="en-US" dirty="0">
                <a:sym typeface="Wingdings" pitchFamily="2" charset="2"/>
              </a:rPr>
              <a:t> </a:t>
            </a:r>
            <a:r>
              <a:rPr lang="en-US" dirty="0" err="1">
                <a:sym typeface="Wingdings" pitchFamily="2" charset="2"/>
              </a:rPr>
              <a:t>dari</a:t>
            </a:r>
            <a:r>
              <a:rPr lang="en-US" dirty="0">
                <a:sym typeface="Wingdings" pitchFamily="2" charset="2"/>
              </a:rPr>
              <a:t> </a:t>
            </a:r>
            <a:r>
              <a:rPr lang="en-US" dirty="0" err="1">
                <a:sym typeface="Wingdings" pitchFamily="2" charset="2"/>
              </a:rPr>
              <a:t>pelanggan</a:t>
            </a:r>
            <a:endParaRPr lang="en-US" dirty="0">
              <a:sym typeface="Wingdings"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3"/>
          <p:cNvSpPr>
            <a:spLocks noGrp="1" noChangeArrowheads="1"/>
          </p:cNvSpPr>
          <p:nvPr>
            <p:ph idx="1"/>
          </p:nvPr>
        </p:nvSpPr>
        <p:spPr>
          <a:xfrm>
            <a:off x="457200" y="609600"/>
            <a:ext cx="8229600" cy="5516563"/>
          </a:xfrm>
        </p:spPr>
        <p:txBody>
          <a:bodyPr/>
          <a:lstStyle/>
          <a:p>
            <a:pPr eaLnBrk="1" hangingPunct="1">
              <a:defRPr/>
            </a:pPr>
            <a:r>
              <a:rPr lang="en-US"/>
              <a:t>Perbedaan </a:t>
            </a:r>
            <a:r>
              <a:rPr lang="en-US" u="sng"/>
              <a:t>PENTING</a:t>
            </a:r>
            <a:r>
              <a:rPr lang="en-US"/>
              <a:t> antara tipe2 perangkat lunak :</a:t>
            </a:r>
          </a:p>
          <a:p>
            <a:pPr lvl="1" eaLnBrk="1" hangingPunct="1">
              <a:defRPr/>
            </a:pPr>
            <a:r>
              <a:rPr lang="en-US"/>
              <a:t>Pada produk generik, organisasi yang mengembangkan perangkat lunak mengontrol spesifikasi perangkat lunak.</a:t>
            </a:r>
          </a:p>
          <a:p>
            <a:pPr lvl="1" eaLnBrk="1" hangingPunct="1">
              <a:buNone/>
              <a:defRPr/>
            </a:pPr>
            <a:endParaRPr lang="en-US"/>
          </a:p>
          <a:p>
            <a:pPr lvl="1" eaLnBrk="1" hangingPunct="1">
              <a:defRPr/>
            </a:pPr>
            <a:r>
              <a:rPr lang="en-US"/>
              <a:t>Pada produk pesanan, spesifikasi biasanya dikembangkan dan dikontrol oleh organisasi yang membeli perangkat lunak tersebut.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lvl="1" indent="0">
              <a:buNone/>
            </a:pPr>
            <a:r>
              <a:rPr lang="en-US"/>
              <a:t>Software engineering is an engineering discipline which is concerned with all aspect of software production from the early stages of system specification through to maintaining the system after it has gone into use (Sommerville, 2016).</a:t>
            </a:r>
          </a:p>
          <a:p>
            <a:pPr lvl="1">
              <a:buNone/>
            </a:pPr>
            <a:endParaRPr lang="en-US"/>
          </a:p>
          <a:p>
            <a:r>
              <a:rPr lang="en-US"/>
              <a:t>Jadi RPL merupakan disiplin ilmu yang berhubungan dengan seluruh aspek produk PL (dari mulai kebutuhan sampai pada pemeliharaan)</a:t>
            </a:r>
          </a:p>
        </p:txBody>
      </p:sp>
      <p:sp>
        <p:nvSpPr>
          <p:cNvPr id="4" name="Title 3"/>
          <p:cNvSpPr>
            <a:spLocks noGrp="1"/>
          </p:cNvSpPr>
          <p:nvPr>
            <p:ph type="title"/>
          </p:nvPr>
        </p:nvSpPr>
        <p:spPr/>
        <p:txBody>
          <a:bodyPr>
            <a:normAutofit/>
          </a:bodyPr>
          <a:lstStyle/>
          <a:p>
            <a:r>
              <a:rPr lang="en-US" sz="3600"/>
              <a:t>Definisi Rekayasa Perangkat Lunak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52388" lvl="1" indent="12700">
              <a:buNone/>
            </a:pPr>
            <a:r>
              <a:rPr lang="en-US"/>
              <a:t>Software engineering is the establishment and use of sound methods for the efficient construction of efficient, correct, timely and pleasing software that solves the problems such as users identify them (Bjorner)</a:t>
            </a:r>
          </a:p>
          <a:p>
            <a:pPr lvl="1">
              <a:buNone/>
            </a:pPr>
            <a:endParaRPr lang="en-US"/>
          </a:p>
          <a:p>
            <a:r>
              <a:rPr lang="en-US"/>
              <a:t>Definisi di atas bertujuan ke arah sebuah efisiensi pengerjaan PL dan mampu memuaskan pengguna dengan asumsi telah memecahkan masalah yang dihadapi pengguna</a:t>
            </a:r>
          </a:p>
        </p:txBody>
      </p:sp>
      <p:sp>
        <p:nvSpPr>
          <p:cNvPr id="4" name="Title 3"/>
          <p:cNvSpPr>
            <a:spLocks noGrp="1"/>
          </p:cNvSpPr>
          <p:nvPr>
            <p:ph type="title"/>
          </p:nvPr>
        </p:nvSpPr>
        <p:spPr/>
        <p:txBody>
          <a:bodyPr>
            <a:normAutofit/>
          </a:bodyPr>
          <a:lstStyle/>
          <a:p>
            <a:r>
              <a:rPr lang="en-US" sz="3600"/>
              <a:t>Definisi Rekayasa Perangkat Lunak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p:cNvSpPr>
            <a:spLocks noGrp="1" noChangeArrowheads="1"/>
          </p:cNvSpPr>
          <p:nvPr>
            <p:ph idx="1"/>
          </p:nvPr>
        </p:nvSpPr>
        <p:spPr>
          <a:xfrm>
            <a:off x="457200" y="1676400"/>
            <a:ext cx="8229600" cy="4876800"/>
          </a:xfrm>
        </p:spPr>
        <p:txBody>
          <a:bodyPr>
            <a:normAutofit/>
          </a:bodyPr>
          <a:lstStyle/>
          <a:p>
            <a:pPr eaLnBrk="1" hangingPunct="1">
              <a:lnSpc>
                <a:spcPct val="90000"/>
              </a:lnSpc>
              <a:defRPr/>
            </a:pPr>
            <a:r>
              <a:rPr lang="en-US" sz="2800" dirty="0"/>
              <a:t>RPL </a:t>
            </a:r>
            <a:r>
              <a:rPr lang="en-US" sz="2800" dirty="0" err="1"/>
              <a:t>atau</a:t>
            </a:r>
            <a:r>
              <a:rPr lang="en-US" sz="2800" dirty="0"/>
              <a:t> </a:t>
            </a:r>
            <a:r>
              <a:rPr lang="en-US" sz="2800" i="1" dirty="0"/>
              <a:t>Software Engineering  </a:t>
            </a:r>
            <a:r>
              <a:rPr lang="en-US" sz="2800" dirty="0" err="1"/>
              <a:t>adalah</a:t>
            </a:r>
            <a:r>
              <a:rPr lang="en-US" sz="2800" dirty="0"/>
              <a:t> </a:t>
            </a:r>
            <a:r>
              <a:rPr lang="en-US" sz="2800" dirty="0" err="1"/>
              <a:t>sebuah</a:t>
            </a:r>
            <a:r>
              <a:rPr lang="en-US" sz="2800" dirty="0"/>
              <a:t> </a:t>
            </a:r>
            <a:r>
              <a:rPr lang="en-US" sz="2800" dirty="0" err="1"/>
              <a:t>d</a:t>
            </a:r>
            <a:r>
              <a:rPr lang="en-US" sz="2800" dirty="0" err="1">
                <a:sym typeface="Wingdings" pitchFamily="2" charset="2"/>
              </a:rPr>
              <a:t>isiplin</a:t>
            </a:r>
            <a:r>
              <a:rPr lang="en-US" sz="2800" dirty="0">
                <a:sym typeface="Wingdings" pitchFamily="2" charset="2"/>
              </a:rPr>
              <a:t> </a:t>
            </a:r>
            <a:r>
              <a:rPr lang="en-US" sz="2800" dirty="0" err="1">
                <a:sym typeface="Wingdings" pitchFamily="2" charset="2"/>
              </a:rPr>
              <a:t>ilmu</a:t>
            </a:r>
            <a:r>
              <a:rPr lang="en-US" sz="2800" dirty="0">
                <a:sym typeface="Wingdings" pitchFamily="2" charset="2"/>
              </a:rPr>
              <a:t> yang </a:t>
            </a:r>
            <a:r>
              <a:rPr lang="en-US" sz="2800" dirty="0" err="1">
                <a:sym typeface="Wingdings" pitchFamily="2" charset="2"/>
              </a:rPr>
              <a:t>mencakup</a:t>
            </a:r>
            <a:r>
              <a:rPr lang="en-US" sz="2800" dirty="0">
                <a:sym typeface="Wingdings" pitchFamily="2" charset="2"/>
              </a:rPr>
              <a:t> </a:t>
            </a:r>
            <a:r>
              <a:rPr lang="en-US" sz="2800" dirty="0" err="1">
                <a:sym typeface="Wingdings" pitchFamily="2" charset="2"/>
              </a:rPr>
              <a:t>segala</a:t>
            </a:r>
            <a:r>
              <a:rPr lang="en-US" sz="2800" dirty="0">
                <a:sym typeface="Wingdings" pitchFamily="2" charset="2"/>
              </a:rPr>
              <a:t> </a:t>
            </a:r>
            <a:r>
              <a:rPr lang="en-US" sz="2800" dirty="0" err="1">
                <a:sym typeface="Wingdings" pitchFamily="2" charset="2"/>
              </a:rPr>
              <a:t>hal</a:t>
            </a:r>
            <a:r>
              <a:rPr lang="en-US" sz="2800" dirty="0">
                <a:sym typeface="Wingdings" pitchFamily="2" charset="2"/>
              </a:rPr>
              <a:t> yang </a:t>
            </a:r>
            <a:r>
              <a:rPr lang="en-US" sz="2800" dirty="0" err="1">
                <a:sym typeface="Wingdings" pitchFamily="2" charset="2"/>
              </a:rPr>
              <a:t>berhubungan</a:t>
            </a:r>
            <a:r>
              <a:rPr lang="en-US" sz="2800" dirty="0">
                <a:sym typeface="Wingdings" pitchFamily="2" charset="2"/>
              </a:rPr>
              <a:t> </a:t>
            </a:r>
            <a:r>
              <a:rPr lang="en-US" sz="2800" dirty="0" err="1">
                <a:sym typeface="Wingdings" pitchFamily="2" charset="2"/>
              </a:rPr>
              <a:t>dengan</a:t>
            </a:r>
            <a:r>
              <a:rPr lang="en-US" sz="2800" dirty="0">
                <a:sym typeface="Wingdings" pitchFamily="2" charset="2"/>
              </a:rPr>
              <a:t> proses </a:t>
            </a:r>
            <a:r>
              <a:rPr lang="en-US" sz="2800" dirty="0" err="1">
                <a:sym typeface="Wingdings" pitchFamily="2" charset="2"/>
              </a:rPr>
              <a:t>pengembangan</a:t>
            </a:r>
            <a:r>
              <a:rPr lang="en-US" sz="2800" dirty="0">
                <a:sym typeface="Wingdings" pitchFamily="2" charset="2"/>
              </a:rPr>
              <a:t> </a:t>
            </a:r>
            <a:r>
              <a:rPr lang="en-US" sz="2800" dirty="0" err="1">
                <a:sym typeface="Wingdings" pitchFamily="2" charset="2"/>
              </a:rPr>
              <a:t>perangkat</a:t>
            </a:r>
            <a:r>
              <a:rPr lang="en-US" sz="2800" dirty="0">
                <a:sym typeface="Wingdings" pitchFamily="2" charset="2"/>
              </a:rPr>
              <a:t> </a:t>
            </a:r>
            <a:r>
              <a:rPr lang="en-US" sz="2800" dirty="0" err="1">
                <a:sym typeface="Wingdings" pitchFamily="2" charset="2"/>
              </a:rPr>
              <a:t>lunak</a:t>
            </a:r>
            <a:r>
              <a:rPr lang="en-US" sz="2800" dirty="0">
                <a:sym typeface="Wingdings" pitchFamily="2" charset="2"/>
              </a:rPr>
              <a:t> </a:t>
            </a:r>
            <a:r>
              <a:rPr lang="en-US" sz="2800" dirty="0" err="1">
                <a:sym typeface="Wingdings" pitchFamily="2" charset="2"/>
              </a:rPr>
              <a:t>sejak</a:t>
            </a:r>
            <a:r>
              <a:rPr lang="en-US" sz="2800" dirty="0">
                <a:sym typeface="Wingdings" pitchFamily="2" charset="2"/>
              </a:rPr>
              <a:t> </a:t>
            </a:r>
            <a:r>
              <a:rPr lang="en-US" sz="2800" dirty="0" err="1">
                <a:sym typeface="Wingdings" pitchFamily="2" charset="2"/>
              </a:rPr>
              <a:t>dari</a:t>
            </a:r>
            <a:r>
              <a:rPr lang="en-US" sz="2800" dirty="0">
                <a:sym typeface="Wingdings" pitchFamily="2" charset="2"/>
              </a:rPr>
              <a:t> </a:t>
            </a:r>
            <a:r>
              <a:rPr lang="en-US" sz="2800" dirty="0" err="1">
                <a:sym typeface="Wingdings" pitchFamily="2" charset="2"/>
              </a:rPr>
              <a:t>tahap</a:t>
            </a:r>
            <a:r>
              <a:rPr lang="en-US" sz="2800" dirty="0">
                <a:sym typeface="Wingdings" pitchFamily="2" charset="2"/>
              </a:rPr>
              <a:t> </a:t>
            </a:r>
            <a:r>
              <a:rPr lang="en-US" sz="2800" dirty="0" err="1">
                <a:sym typeface="Wingdings" pitchFamily="2" charset="2"/>
              </a:rPr>
              <a:t>perancangan</a:t>
            </a:r>
            <a:r>
              <a:rPr lang="en-US" sz="2800" dirty="0">
                <a:sym typeface="Wingdings" pitchFamily="2" charset="2"/>
              </a:rPr>
              <a:t> </a:t>
            </a:r>
            <a:r>
              <a:rPr lang="en-US" sz="2800" dirty="0" err="1">
                <a:sym typeface="Wingdings" pitchFamily="2" charset="2"/>
              </a:rPr>
              <a:t>hingga</a:t>
            </a:r>
            <a:r>
              <a:rPr lang="en-US" sz="2800" dirty="0">
                <a:sym typeface="Wingdings" pitchFamily="2" charset="2"/>
              </a:rPr>
              <a:t> </a:t>
            </a:r>
            <a:r>
              <a:rPr lang="en-US" sz="2800" dirty="0" err="1">
                <a:sym typeface="Wingdings" pitchFamily="2" charset="2"/>
              </a:rPr>
              <a:t>tahapan</a:t>
            </a:r>
            <a:r>
              <a:rPr lang="en-US" sz="2800" dirty="0">
                <a:sym typeface="Wingdings" pitchFamily="2" charset="2"/>
              </a:rPr>
              <a:t> </a:t>
            </a:r>
            <a:r>
              <a:rPr lang="en-US" sz="2800" dirty="0" err="1">
                <a:sym typeface="Wingdings" pitchFamily="2" charset="2"/>
              </a:rPr>
              <a:t>implementasi</a:t>
            </a:r>
            <a:r>
              <a:rPr lang="en-US" sz="2800" dirty="0">
                <a:sym typeface="Wingdings" pitchFamily="2" charset="2"/>
              </a:rPr>
              <a:t> </a:t>
            </a:r>
            <a:r>
              <a:rPr lang="en-US" sz="2800" dirty="0" err="1">
                <a:sym typeface="Wingdings" pitchFamily="2" charset="2"/>
              </a:rPr>
              <a:t>serta</a:t>
            </a:r>
            <a:r>
              <a:rPr lang="en-US" sz="2800" dirty="0">
                <a:sym typeface="Wingdings" pitchFamily="2" charset="2"/>
              </a:rPr>
              <a:t> </a:t>
            </a:r>
            <a:r>
              <a:rPr lang="en-US" sz="2800" dirty="0" err="1">
                <a:sym typeface="Wingdings" pitchFamily="2" charset="2"/>
              </a:rPr>
              <a:t>pasca</a:t>
            </a:r>
            <a:r>
              <a:rPr lang="en-US" sz="2800" dirty="0">
                <a:sym typeface="Wingdings" pitchFamily="2" charset="2"/>
              </a:rPr>
              <a:t> </a:t>
            </a:r>
            <a:r>
              <a:rPr lang="en-US" sz="2800" dirty="0" err="1">
                <a:sym typeface="Wingdings" pitchFamily="2" charset="2"/>
              </a:rPr>
              <a:t>implementasi</a:t>
            </a:r>
            <a:r>
              <a:rPr lang="en-US" sz="2800" dirty="0">
                <a:sym typeface="Wingdings" pitchFamily="2" charset="2"/>
              </a:rPr>
              <a:t> </a:t>
            </a:r>
            <a:r>
              <a:rPr lang="en-US" sz="2800" dirty="0" err="1">
                <a:sym typeface="Wingdings" pitchFamily="2" charset="2"/>
              </a:rPr>
              <a:t>sehingga</a:t>
            </a:r>
            <a:r>
              <a:rPr lang="en-US" sz="2800" dirty="0">
                <a:sym typeface="Wingdings" pitchFamily="2" charset="2"/>
              </a:rPr>
              <a:t> </a:t>
            </a:r>
            <a:r>
              <a:rPr lang="en-US" sz="2800" dirty="0" err="1">
                <a:sym typeface="Wingdings" pitchFamily="2" charset="2"/>
              </a:rPr>
              <a:t>siklus</a:t>
            </a:r>
            <a:r>
              <a:rPr lang="en-US" sz="2800" dirty="0">
                <a:sym typeface="Wingdings" pitchFamily="2" charset="2"/>
              </a:rPr>
              <a:t> </a:t>
            </a:r>
            <a:r>
              <a:rPr lang="en-US" sz="2800" dirty="0" err="1">
                <a:sym typeface="Wingdings" pitchFamily="2" charset="2"/>
              </a:rPr>
              <a:t>hidup</a:t>
            </a:r>
            <a:r>
              <a:rPr lang="en-US" sz="2800" dirty="0">
                <a:sym typeface="Wingdings" pitchFamily="2" charset="2"/>
              </a:rPr>
              <a:t> </a:t>
            </a:r>
            <a:r>
              <a:rPr lang="en-US" sz="2800" dirty="0" err="1">
                <a:sym typeface="Wingdings" pitchFamily="2" charset="2"/>
              </a:rPr>
              <a:t>perangkat</a:t>
            </a:r>
            <a:r>
              <a:rPr lang="en-US" sz="2800" dirty="0">
                <a:sym typeface="Wingdings" pitchFamily="2" charset="2"/>
              </a:rPr>
              <a:t> </a:t>
            </a:r>
            <a:r>
              <a:rPr lang="en-US" sz="2800" dirty="0" err="1">
                <a:sym typeface="Wingdings" pitchFamily="2" charset="2"/>
              </a:rPr>
              <a:t>lunak</a:t>
            </a:r>
            <a:r>
              <a:rPr lang="en-US" sz="2800" dirty="0">
                <a:sym typeface="Wingdings" pitchFamily="2" charset="2"/>
              </a:rPr>
              <a:t> </a:t>
            </a:r>
            <a:r>
              <a:rPr lang="en-US" sz="2800" dirty="0" err="1">
                <a:sym typeface="Wingdings" pitchFamily="2" charset="2"/>
              </a:rPr>
              <a:t>dapat</a:t>
            </a:r>
            <a:r>
              <a:rPr lang="en-US" sz="2800" dirty="0">
                <a:sym typeface="Wingdings" pitchFamily="2" charset="2"/>
              </a:rPr>
              <a:t> </a:t>
            </a:r>
            <a:r>
              <a:rPr lang="en-US" sz="2800" dirty="0" err="1">
                <a:sym typeface="Wingdings" pitchFamily="2" charset="2"/>
              </a:rPr>
              <a:t>secara</a:t>
            </a:r>
            <a:r>
              <a:rPr lang="en-US" sz="2800" dirty="0">
                <a:sym typeface="Wingdings" pitchFamily="2" charset="2"/>
              </a:rPr>
              <a:t> </a:t>
            </a:r>
            <a:r>
              <a:rPr lang="en-US" sz="2800" dirty="0" err="1">
                <a:sym typeface="Wingdings" pitchFamily="2" charset="2"/>
              </a:rPr>
              <a:t>efisien</a:t>
            </a:r>
            <a:r>
              <a:rPr lang="en-US" sz="2800" dirty="0">
                <a:sym typeface="Wingdings" pitchFamily="2" charset="2"/>
              </a:rPr>
              <a:t> </a:t>
            </a:r>
            <a:r>
              <a:rPr lang="en-US" sz="2800" dirty="0" err="1">
                <a:sym typeface="Wingdings" pitchFamily="2" charset="2"/>
              </a:rPr>
              <a:t>terukur</a:t>
            </a:r>
            <a:r>
              <a:rPr lang="en-US" sz="2800" dirty="0">
                <a:sym typeface="Wingdings" pitchFamily="2" charset="2"/>
              </a:rPr>
              <a:t>.</a:t>
            </a:r>
          </a:p>
          <a:p>
            <a:pPr lvl="1" eaLnBrk="1" hangingPunct="1">
              <a:lnSpc>
                <a:spcPct val="90000"/>
              </a:lnSpc>
              <a:defRPr/>
            </a:pPr>
            <a:endParaRPr lang="en-US" sz="2400" dirty="0"/>
          </a:p>
        </p:txBody>
      </p:sp>
      <p:sp>
        <p:nvSpPr>
          <p:cNvPr id="157698" name="Rectangle 2"/>
          <p:cNvSpPr>
            <a:spLocks noGrp="1" noRot="1" noChangeArrowheads="1"/>
          </p:cNvSpPr>
          <p:nvPr>
            <p:ph type="title"/>
          </p:nvPr>
        </p:nvSpPr>
        <p:spPr>
          <a:xfrm>
            <a:off x="457200" y="274638"/>
            <a:ext cx="8229600" cy="792162"/>
          </a:xfrm>
        </p:spPr>
        <p:txBody>
          <a:bodyPr>
            <a:normAutofit fontScale="90000"/>
          </a:bodyPr>
          <a:lstStyle/>
          <a:p>
            <a:pPr>
              <a:defRPr/>
            </a:pPr>
            <a:r>
              <a:rPr lang="en-US" sz="4000"/>
              <a:t>Definisi Rekayasa Perangkat Lunak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a:t>RPL (SE) merupakan pembangunan dengan menggunakan prinsip atau konsep rekayasa dengan tujuan untuk menghasilkan perangkat lunak yang bernilai ekonomis yang dipercaya dan bekerja secara efisien menggunakan mesin</a:t>
            </a:r>
          </a:p>
          <a:p>
            <a:r>
              <a:rPr lang="en-US"/>
              <a:t>RPL berfokus pada</a:t>
            </a:r>
          </a:p>
          <a:p>
            <a:pPr lvl="1"/>
            <a:r>
              <a:rPr lang="en-US"/>
              <a:t>Perangkat lunak yang maintainability (</a:t>
            </a:r>
            <a:r>
              <a:rPr lang="id-ID"/>
              <a:t>kemampuan software untuk menjalani perubahan yang terjadi</a:t>
            </a:r>
            <a:r>
              <a:rPr lang="en-US"/>
              <a:t>)</a:t>
            </a:r>
          </a:p>
          <a:p>
            <a:pPr lvl="1"/>
            <a:r>
              <a:rPr lang="en-US"/>
              <a:t>Perangkat lunak yang dependability (</a:t>
            </a:r>
            <a:r>
              <a:rPr lang="id-ID"/>
              <a:t>perangkat lunak dapat diandalkan dan mengikuti perkembangan</a:t>
            </a:r>
            <a:r>
              <a:rPr lang="en-US"/>
              <a:t>)</a:t>
            </a:r>
          </a:p>
          <a:p>
            <a:pPr lvl="1"/>
            <a:r>
              <a:rPr lang="en-US"/>
              <a:t>Perangkat lunak yang efesien dari segi SDM</a:t>
            </a:r>
          </a:p>
          <a:p>
            <a:pPr lvl="1"/>
            <a:r>
              <a:rPr lang="en-US"/>
              <a:t>Perangkat lunak yang usability</a:t>
            </a:r>
          </a:p>
        </p:txBody>
      </p:sp>
      <p:sp>
        <p:nvSpPr>
          <p:cNvPr id="4" name="Title 3"/>
          <p:cNvSpPr>
            <a:spLocks noGrp="1"/>
          </p:cNvSpPr>
          <p:nvPr>
            <p:ph type="title"/>
          </p:nvPr>
        </p:nvSpPr>
        <p:spPr/>
        <p:txBody>
          <a:bodyPr>
            <a:normAutofit fontScale="90000"/>
          </a:bodyPr>
          <a:lstStyle/>
          <a:p>
            <a:r>
              <a:rPr lang="en-US" sz="4400"/>
              <a:t>REKAYASA PERANGKAT LUNAK</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603504" lvl="2" indent="-256032">
              <a:spcBef>
                <a:spcPts val="400"/>
              </a:spcBef>
              <a:buSzPct val="68000"/>
              <a:buFont typeface="Wingdings 3"/>
              <a:buChar char=""/>
            </a:pPr>
            <a:r>
              <a:rPr lang="id-ID"/>
              <a:t>Rekayasa perangkat lunak adalah cabang ilmu komputer yang menangani perancangan, pengembangan, pengujian, dan pemeliharaan aplikasi perangkat lunak . Insinyur perangkat lunak menerapkan prinsip-prinsip rekayasa dan pengetahuan bahasa pemrograman untuk membangun solusi perangkat lunak bagi pengguna akhir</a:t>
            </a:r>
            <a:endParaRPr lang="en-US"/>
          </a:p>
          <a:p>
            <a:endParaRPr lang="en-US"/>
          </a:p>
        </p:txBody>
      </p:sp>
      <p:sp>
        <p:nvSpPr>
          <p:cNvPr id="3" name="Slide Number Placeholder 2"/>
          <p:cNvSpPr>
            <a:spLocks noGrp="1"/>
          </p:cNvSpPr>
          <p:nvPr>
            <p:ph type="sldNum" sz="quarter" idx="12"/>
          </p:nvPr>
        </p:nvSpPr>
        <p:spPr/>
        <p:txBody>
          <a:bodyPr/>
          <a:lstStyle/>
          <a:p>
            <a:pPr>
              <a:defRPr/>
            </a:pPr>
            <a:fld id="{6D32F591-B2DB-4F86-9F11-246DAA745F26}" type="slidenum">
              <a:rPr lang="en-US" smtClean="0"/>
              <a:pPr>
                <a:defRPr/>
              </a:pPr>
              <a:t>12</a:t>
            </a:fld>
            <a:endParaRPr lang="en-US"/>
          </a:p>
        </p:txBody>
      </p:sp>
      <p:sp>
        <p:nvSpPr>
          <p:cNvPr id="4" name="Title 3"/>
          <p:cNvSpPr>
            <a:spLocks noGrp="1"/>
          </p:cNvSpPr>
          <p:nvPr>
            <p:ph type="title"/>
          </p:nvPr>
        </p:nvSpPr>
        <p:spPr/>
        <p:txBody>
          <a:bodyPr/>
          <a:lstStyle/>
          <a:p>
            <a:r>
              <a:rPr lang="en-US"/>
              <a:t>Kegunaan RPL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fi-FI" sz="2800"/>
              <a:t>Software adalah komponen yang logik (bukan fisik seperti elemen bangunan atau komputer)</a:t>
            </a:r>
            <a:r>
              <a:rPr lang="en-US" sz="2800"/>
              <a:t> </a:t>
            </a:r>
          </a:p>
          <a:p>
            <a:r>
              <a:rPr lang="en-US" sz="2800"/>
              <a:t>Perangkat lunak dibangun dengan rekayasa (</a:t>
            </a:r>
            <a:r>
              <a:rPr lang="en-US" sz="2800" i="1"/>
              <a:t>software engineering</a:t>
            </a:r>
            <a:r>
              <a:rPr lang="en-US" sz="2800"/>
              <a:t>) bukan diproduksi secara masal</a:t>
            </a:r>
          </a:p>
          <a:p>
            <a:r>
              <a:rPr lang="en-US" sz="2800"/>
              <a:t>Perangkat lunak tidak pernah usang, karena kecacatan perangkat lunak dapat diperbaiki</a:t>
            </a:r>
          </a:p>
          <a:p>
            <a:r>
              <a:rPr lang="en-US" sz="2800"/>
              <a:t>Perangkat lunak biasanya terus diperbiki seiring bertambahnya kebutuhan</a:t>
            </a:r>
          </a:p>
        </p:txBody>
      </p:sp>
      <p:sp>
        <p:nvSpPr>
          <p:cNvPr id="4" name="Title 3"/>
          <p:cNvSpPr>
            <a:spLocks noGrp="1"/>
          </p:cNvSpPr>
          <p:nvPr>
            <p:ph type="title"/>
          </p:nvPr>
        </p:nvSpPr>
        <p:spPr/>
        <p:txBody>
          <a:bodyPr/>
          <a:lstStyle/>
          <a:p>
            <a:r>
              <a:rPr lang="en-US"/>
              <a:t>Karakteristik Perangkat Lunak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3"/>
          <p:cNvSpPr>
            <a:spLocks noGrp="1" noChangeArrowheads="1"/>
          </p:cNvSpPr>
          <p:nvPr>
            <p:ph idx="1"/>
          </p:nvPr>
        </p:nvSpPr>
        <p:spPr>
          <a:xfrm>
            <a:off x="457200" y="1143000"/>
            <a:ext cx="8229600" cy="5486400"/>
          </a:xfrm>
        </p:spPr>
        <p:txBody>
          <a:bodyPr/>
          <a:lstStyle/>
          <a:p>
            <a:pPr marL="609600" indent="-609600" eaLnBrk="1" hangingPunct="1">
              <a:lnSpc>
                <a:spcPct val="90000"/>
              </a:lnSpc>
              <a:defRPr/>
            </a:pPr>
            <a:r>
              <a:rPr lang="en-US" sz="2800"/>
              <a:t>Proses PL adalah serangkaian </a:t>
            </a:r>
            <a:r>
              <a:rPr lang="en-US" sz="2800" dirty="0" err="1"/>
              <a:t>kegiatan</a:t>
            </a:r>
            <a:r>
              <a:rPr lang="en-US" sz="2800" dirty="0"/>
              <a:t> yang </a:t>
            </a:r>
            <a:r>
              <a:rPr lang="en-US" sz="2800" dirty="0" err="1"/>
              <a:t>memiliki</a:t>
            </a:r>
            <a:r>
              <a:rPr lang="en-US" sz="2800" dirty="0"/>
              <a:t> </a:t>
            </a:r>
            <a:r>
              <a:rPr lang="en-US" sz="2800" dirty="0" err="1"/>
              <a:t>tujuan</a:t>
            </a:r>
            <a:r>
              <a:rPr lang="en-US" sz="2800" dirty="0"/>
              <a:t> </a:t>
            </a:r>
            <a:r>
              <a:rPr lang="en-US" sz="2800" err="1"/>
              <a:t>untuk</a:t>
            </a:r>
            <a:r>
              <a:rPr lang="en-US" sz="2800"/>
              <a:t>  mengembangkan atau mengubah PL secara umum terdiri dari:</a:t>
            </a:r>
            <a:endParaRPr lang="en-US" sz="2800" dirty="0"/>
          </a:p>
          <a:p>
            <a:pPr marL="990600" lvl="1" indent="-533400" eaLnBrk="1" hangingPunct="1">
              <a:lnSpc>
                <a:spcPct val="90000"/>
              </a:lnSpc>
              <a:buFont typeface="Wingdings" pitchFamily="2" charset="2"/>
              <a:buAutoNum type="arabicPeriod"/>
              <a:defRPr/>
            </a:pPr>
            <a:r>
              <a:rPr lang="en-US" sz="2400" b="1"/>
              <a:t>Pengumpulan Spesifikikasi (specification)</a:t>
            </a:r>
            <a:r>
              <a:rPr lang="en-US" sz="2400"/>
              <a:t>: mengetahui apa saja yang bisa dikerjakan oleh PL</a:t>
            </a:r>
            <a:endParaRPr lang="en-US" sz="2400" dirty="0">
              <a:sym typeface="Wingdings" pitchFamily="2" charset="2"/>
            </a:endParaRPr>
          </a:p>
          <a:p>
            <a:pPr marL="990600" lvl="1" indent="-533400" eaLnBrk="1" hangingPunct="1">
              <a:lnSpc>
                <a:spcPct val="90000"/>
              </a:lnSpc>
              <a:buFont typeface="Wingdings" pitchFamily="2" charset="2"/>
              <a:buAutoNum type="arabicPeriod"/>
              <a:defRPr/>
            </a:pPr>
            <a:r>
              <a:rPr lang="en-US" sz="2400" b="1"/>
              <a:t>Pengembangan (Development): </a:t>
            </a:r>
            <a:r>
              <a:rPr lang="en-US" sz="2400"/>
              <a:t>pengembangan PL untuk menghasilkan sistem </a:t>
            </a:r>
            <a:r>
              <a:rPr lang="en-US" sz="2400">
                <a:sym typeface="Wingdings" pitchFamily="2" charset="2"/>
              </a:rPr>
              <a:t>perangkat </a:t>
            </a:r>
            <a:r>
              <a:rPr lang="en-US" sz="2400" dirty="0" err="1">
                <a:sym typeface="Wingdings" pitchFamily="2" charset="2"/>
              </a:rPr>
              <a:t>lunak</a:t>
            </a:r>
            <a:r>
              <a:rPr lang="en-US" sz="2400" dirty="0">
                <a:sym typeface="Wingdings" pitchFamily="2" charset="2"/>
              </a:rPr>
              <a:t> </a:t>
            </a:r>
          </a:p>
          <a:p>
            <a:pPr marL="990600" lvl="1" indent="-533400" eaLnBrk="1" hangingPunct="1">
              <a:lnSpc>
                <a:spcPct val="90000"/>
              </a:lnSpc>
              <a:buFont typeface="Wingdings" pitchFamily="2" charset="2"/>
              <a:buAutoNum type="arabicPeriod"/>
              <a:defRPr/>
            </a:pPr>
            <a:r>
              <a:rPr lang="en-US" sz="2400" b="1" err="1">
                <a:sym typeface="Wingdings" pitchFamily="2" charset="2"/>
              </a:rPr>
              <a:t>Validasi</a:t>
            </a:r>
            <a:r>
              <a:rPr lang="en-US" sz="2400" b="1">
                <a:sym typeface="Wingdings" pitchFamily="2" charset="2"/>
              </a:rPr>
              <a:t> (Validation): </a:t>
            </a:r>
            <a:r>
              <a:rPr lang="en-US" sz="2400">
                <a:sym typeface="Wingdings" pitchFamily="2" charset="2"/>
              </a:rPr>
              <a:t>apakah PL sudah memenuhi keinginan pelanggan</a:t>
            </a:r>
            <a:endParaRPr lang="en-US" sz="2400" dirty="0">
              <a:sym typeface="Wingdings" pitchFamily="2" charset="2"/>
            </a:endParaRPr>
          </a:p>
          <a:p>
            <a:pPr marL="990600" lvl="1" indent="-533400" eaLnBrk="1" hangingPunct="1">
              <a:lnSpc>
                <a:spcPct val="90000"/>
              </a:lnSpc>
              <a:buFont typeface="Wingdings" pitchFamily="2" charset="2"/>
              <a:buAutoNum type="arabicPeriod"/>
              <a:defRPr/>
            </a:pPr>
            <a:r>
              <a:rPr lang="en-US" sz="2400" b="1" err="1"/>
              <a:t>Evolusi</a:t>
            </a:r>
            <a:r>
              <a:rPr lang="en-US" sz="2400" b="1"/>
              <a:t> (Evolution):</a:t>
            </a:r>
            <a:r>
              <a:rPr lang="en-US" sz="2400">
                <a:sym typeface="Wingdings" pitchFamily="2" charset="2"/>
              </a:rPr>
              <a:t> mengubah PL untuk memenuhi perubahan buat pelanggan</a:t>
            </a:r>
            <a:endParaRPr lang="en-US" sz="2400" dirty="0"/>
          </a:p>
        </p:txBody>
      </p:sp>
      <p:sp>
        <p:nvSpPr>
          <p:cNvPr id="160770" name="Rectangle 2"/>
          <p:cNvSpPr>
            <a:spLocks noGrp="1" noRot="1" noChangeArrowheads="1"/>
          </p:cNvSpPr>
          <p:nvPr>
            <p:ph type="title"/>
          </p:nvPr>
        </p:nvSpPr>
        <p:spPr>
          <a:xfrm>
            <a:off x="457200" y="152400"/>
            <a:ext cx="8229600" cy="792163"/>
          </a:xfrm>
        </p:spPr>
        <p:txBody>
          <a:bodyPr/>
          <a:lstStyle/>
          <a:p>
            <a:pPr eaLnBrk="1" hangingPunct="1">
              <a:defRPr/>
            </a:pPr>
            <a:r>
              <a:rPr lang="en-US"/>
              <a:t>Proses Perangkat Lunak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noChangeArrowheads="1"/>
          </p:cNvSpPr>
          <p:nvPr>
            <p:ph idx="1"/>
          </p:nvPr>
        </p:nvSpPr>
        <p:spPr>
          <a:xfrm>
            <a:off x="457200" y="1143000"/>
            <a:ext cx="8229600" cy="5029200"/>
          </a:xfrm>
        </p:spPr>
        <p:txBody>
          <a:bodyPr>
            <a:normAutofit fontScale="92500" lnSpcReduction="10000"/>
          </a:bodyPr>
          <a:lstStyle/>
          <a:p>
            <a:pPr marL="609600" indent="-609600" eaLnBrk="1" hangingPunct="1">
              <a:buNone/>
              <a:defRPr/>
            </a:pPr>
            <a:r>
              <a:rPr lang="en-US" sz="2800"/>
              <a:t>Tantangan yang dihadapi dari proses RPL adalah:</a:t>
            </a:r>
          </a:p>
          <a:p>
            <a:pPr marL="609600" indent="-609600" eaLnBrk="1" hangingPunct="1">
              <a:buFont typeface="Wingdings" pitchFamily="2" charset="2"/>
              <a:buAutoNum type="arabicPeriod"/>
              <a:defRPr/>
            </a:pPr>
            <a:r>
              <a:rPr lang="en-US" sz="2800"/>
              <a:t>Tantangan Warisan </a:t>
            </a:r>
            <a:r>
              <a:rPr lang="en-US" sz="2800" i="1"/>
              <a:t>(Legacy)</a:t>
            </a:r>
            <a:r>
              <a:rPr lang="en-US" sz="2800"/>
              <a:t>:</a:t>
            </a:r>
            <a:r>
              <a:rPr lang="en-US" sz="2800">
                <a:sym typeface="Wingdings" pitchFamily="2" charset="2"/>
              </a:rPr>
              <a:t> PL dikembangkan selama bertahun-tahun oleh orang yang berbeda</a:t>
            </a:r>
          </a:p>
          <a:p>
            <a:pPr marL="609600" indent="-609600" eaLnBrk="1" hangingPunct="1">
              <a:buFont typeface="Wingdings" pitchFamily="2" charset="2"/>
              <a:buAutoNum type="arabicPeriod"/>
              <a:defRPr/>
            </a:pPr>
            <a:r>
              <a:rPr lang="en-US" sz="2800">
                <a:sym typeface="Wingdings" pitchFamily="2" charset="2"/>
              </a:rPr>
              <a:t>Tantangan Heterogenitas: PL harus dapat beradaptasi terhadap kemajuan teknologi Tantangan teknik pengembangan untuk membangun perangkat lunak yang dapat diandalkan dan cukup flexibel untuk menghadapi heterogenitas yang ada.</a:t>
            </a:r>
          </a:p>
          <a:p>
            <a:pPr marL="609600" indent="-609600" eaLnBrk="1" hangingPunct="1">
              <a:buFont typeface="Wingdings" pitchFamily="2" charset="2"/>
              <a:buAutoNum type="arabicPeriod"/>
              <a:defRPr/>
            </a:pPr>
            <a:r>
              <a:rPr lang="en-US" sz="2800">
                <a:sym typeface="Wingdings" pitchFamily="2" charset="2"/>
              </a:rPr>
              <a:t>Tantangan Pengiriman: Tantangan mempersingkat waktu kirim sistem besar dan kompleks, tanpa mengurangi kualitas sistem.</a:t>
            </a:r>
            <a:endParaRPr lang="en-US" sz="2800"/>
          </a:p>
        </p:txBody>
      </p:sp>
      <p:sp>
        <p:nvSpPr>
          <p:cNvPr id="168962" name="Rectangle 2"/>
          <p:cNvSpPr>
            <a:spLocks noGrp="1" noRot="1" noChangeArrowheads="1"/>
          </p:cNvSpPr>
          <p:nvPr>
            <p:ph type="title"/>
          </p:nvPr>
        </p:nvSpPr>
        <p:spPr>
          <a:xfrm>
            <a:off x="457200" y="274638"/>
            <a:ext cx="8229600" cy="1020762"/>
          </a:xfrm>
        </p:spPr>
        <p:txBody>
          <a:bodyPr>
            <a:normAutofit/>
          </a:bodyPr>
          <a:lstStyle/>
          <a:p>
            <a:pPr eaLnBrk="1" hangingPunct="1">
              <a:defRPr/>
            </a:pPr>
            <a:r>
              <a:rPr lang="en-US" sz="3200"/>
              <a:t>Tantangan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p:cNvSpPr>
            <a:spLocks noGrp="1" noChangeArrowheads="1"/>
          </p:cNvSpPr>
          <p:nvPr>
            <p:ph idx="1"/>
          </p:nvPr>
        </p:nvSpPr>
        <p:spPr>
          <a:xfrm>
            <a:off x="457200" y="1295400"/>
            <a:ext cx="8229600" cy="5410200"/>
          </a:xfrm>
        </p:spPr>
        <p:txBody>
          <a:bodyPr/>
          <a:lstStyle/>
          <a:p>
            <a:pPr marL="517525" indent="-517525" eaLnBrk="1" hangingPunct="1">
              <a:defRPr/>
            </a:pPr>
            <a:r>
              <a:rPr lang="en-US" dirty="0" err="1"/>
              <a:t>Perangkat</a:t>
            </a:r>
            <a:r>
              <a:rPr lang="en-US" dirty="0"/>
              <a:t> </a:t>
            </a:r>
            <a:r>
              <a:rPr lang="en-US" dirty="0" err="1"/>
              <a:t>Lunak</a:t>
            </a:r>
            <a:r>
              <a:rPr lang="en-US" dirty="0"/>
              <a:t> </a:t>
            </a:r>
            <a:r>
              <a:rPr lang="en-US" dirty="0" err="1"/>
              <a:t>seharusnya</a:t>
            </a:r>
            <a:r>
              <a:rPr lang="en-US" dirty="0"/>
              <a:t> </a:t>
            </a:r>
            <a:r>
              <a:rPr lang="en-US" dirty="0" err="1"/>
              <a:t>memberikan</a:t>
            </a:r>
            <a:r>
              <a:rPr lang="en-US" dirty="0"/>
              <a:t> </a:t>
            </a:r>
            <a:r>
              <a:rPr lang="en-US" i="1" dirty="0"/>
              <a:t>user</a:t>
            </a:r>
            <a:r>
              <a:rPr lang="en-US" dirty="0"/>
              <a:t> </a:t>
            </a:r>
            <a:r>
              <a:rPr lang="en-US" dirty="0" err="1"/>
              <a:t>kebutuhan</a:t>
            </a:r>
            <a:r>
              <a:rPr lang="en-US" dirty="0"/>
              <a:t> </a:t>
            </a:r>
            <a:r>
              <a:rPr lang="en-US" dirty="0" err="1"/>
              <a:t>fungsionalitas</a:t>
            </a:r>
            <a:r>
              <a:rPr lang="en-US" dirty="0"/>
              <a:t> </a:t>
            </a:r>
            <a:r>
              <a:rPr lang="en-US" dirty="0" err="1"/>
              <a:t>dan</a:t>
            </a:r>
            <a:r>
              <a:rPr lang="en-US" dirty="0"/>
              <a:t> </a:t>
            </a:r>
            <a:r>
              <a:rPr lang="en-US" dirty="0" err="1"/>
              <a:t>kinerja</a:t>
            </a:r>
            <a:r>
              <a:rPr lang="en-US" dirty="0"/>
              <a:t> yang </a:t>
            </a:r>
            <a:r>
              <a:rPr lang="en-US" dirty="0" err="1"/>
              <a:t>dapat</a:t>
            </a:r>
            <a:r>
              <a:rPr lang="en-US" dirty="0"/>
              <a:t> :</a:t>
            </a:r>
          </a:p>
          <a:p>
            <a:pPr marL="990600" lvl="1" indent="-533400" eaLnBrk="1" hangingPunct="1">
              <a:buFont typeface="Wingdings" pitchFamily="2" charset="2"/>
              <a:buAutoNum type="arabicPeriod"/>
              <a:defRPr/>
            </a:pPr>
            <a:r>
              <a:rPr lang="en-US" sz="2000" dirty="0" err="1"/>
              <a:t>Dapat</a:t>
            </a:r>
            <a:r>
              <a:rPr lang="en-US" sz="2000" dirty="0"/>
              <a:t> </a:t>
            </a:r>
            <a:r>
              <a:rPr lang="en-US" sz="2000" dirty="0" err="1"/>
              <a:t>dipelihara</a:t>
            </a:r>
            <a:r>
              <a:rPr lang="en-US" sz="2000" dirty="0"/>
              <a:t> </a:t>
            </a:r>
            <a:r>
              <a:rPr lang="en-US" sz="2000" i="1" dirty="0"/>
              <a:t>(</a:t>
            </a:r>
            <a:r>
              <a:rPr lang="en-US" sz="2000" i="1" dirty="0" err="1">
                <a:effectLst/>
              </a:rPr>
              <a:t>Maintanability</a:t>
            </a:r>
            <a:r>
              <a:rPr lang="en-US" sz="2000" i="1" dirty="0">
                <a:effectLst/>
              </a:rPr>
              <a:t>) </a:t>
            </a:r>
            <a:r>
              <a:rPr lang="en-US" sz="2000" dirty="0">
                <a:effectLst/>
                <a:sym typeface="Wingdings" pitchFamily="2" charset="2"/>
              </a:rPr>
              <a:t> PL </a:t>
            </a:r>
            <a:r>
              <a:rPr lang="en-US" sz="2000" dirty="0" err="1">
                <a:effectLst/>
                <a:sym typeface="Wingdings" pitchFamily="2" charset="2"/>
              </a:rPr>
              <a:t>harus</a:t>
            </a:r>
            <a:r>
              <a:rPr lang="en-US" sz="2000" dirty="0">
                <a:effectLst/>
                <a:sym typeface="Wingdings" pitchFamily="2" charset="2"/>
              </a:rPr>
              <a:t> </a:t>
            </a:r>
            <a:r>
              <a:rPr lang="en-US" sz="2000" dirty="0" err="1">
                <a:effectLst/>
              </a:rPr>
              <a:t>dapat</a:t>
            </a:r>
            <a:r>
              <a:rPr lang="en-US" sz="2000" dirty="0">
                <a:effectLst/>
              </a:rPr>
              <a:t> </a:t>
            </a:r>
            <a:r>
              <a:rPr lang="en-US" sz="2000" dirty="0" err="1">
                <a:effectLst/>
              </a:rPr>
              <a:t>memenuhi</a:t>
            </a:r>
            <a:r>
              <a:rPr lang="en-US" sz="2000" dirty="0">
                <a:effectLst/>
              </a:rPr>
              <a:t> </a:t>
            </a:r>
            <a:r>
              <a:rPr lang="en-US" sz="2000" dirty="0" err="1">
                <a:effectLst/>
              </a:rPr>
              <a:t>perubahan</a:t>
            </a:r>
            <a:r>
              <a:rPr lang="en-US" sz="2000" dirty="0">
                <a:effectLst/>
              </a:rPr>
              <a:t> </a:t>
            </a:r>
            <a:r>
              <a:rPr lang="en-US" sz="2000" dirty="0" err="1">
                <a:effectLst/>
              </a:rPr>
              <a:t>kebutuhan</a:t>
            </a:r>
            <a:r>
              <a:rPr lang="en-US" sz="2000" dirty="0">
                <a:effectLst/>
              </a:rPr>
              <a:t> </a:t>
            </a:r>
            <a:r>
              <a:rPr lang="en-US" sz="2000" i="1" dirty="0">
                <a:effectLst/>
              </a:rPr>
              <a:t>user.</a:t>
            </a:r>
            <a:endParaRPr lang="en-US" sz="2000" dirty="0">
              <a:effectLst/>
            </a:endParaRPr>
          </a:p>
          <a:p>
            <a:pPr marL="990600" lvl="1" indent="-533400" eaLnBrk="1" hangingPunct="1">
              <a:buFont typeface="Wingdings" pitchFamily="2" charset="2"/>
              <a:buAutoNum type="arabicPeriod"/>
              <a:defRPr/>
            </a:pPr>
            <a:r>
              <a:rPr lang="en-US" sz="2000" dirty="0" err="1">
                <a:effectLst/>
              </a:rPr>
              <a:t>Dapat</a:t>
            </a:r>
            <a:r>
              <a:rPr lang="en-US" sz="2000" dirty="0">
                <a:effectLst/>
              </a:rPr>
              <a:t> </a:t>
            </a:r>
            <a:r>
              <a:rPr lang="en-US" sz="2000" dirty="0" err="1">
                <a:effectLst/>
              </a:rPr>
              <a:t>diandalkan</a:t>
            </a:r>
            <a:r>
              <a:rPr lang="en-US" sz="2000" dirty="0">
                <a:effectLst/>
              </a:rPr>
              <a:t> (</a:t>
            </a:r>
            <a:r>
              <a:rPr lang="en-US" sz="2000" i="1" dirty="0">
                <a:effectLst/>
              </a:rPr>
              <a:t>Dependability) </a:t>
            </a:r>
            <a:r>
              <a:rPr lang="en-US" sz="2000" i="1" dirty="0">
                <a:effectLst/>
                <a:sym typeface="Wingdings" pitchFamily="2" charset="2"/>
              </a:rPr>
              <a:t> </a:t>
            </a:r>
            <a:r>
              <a:rPr lang="en-US" sz="2000" dirty="0">
                <a:effectLst/>
              </a:rPr>
              <a:t>PL </a:t>
            </a:r>
            <a:r>
              <a:rPr lang="en-US" sz="2000" dirty="0" err="1">
                <a:effectLst/>
              </a:rPr>
              <a:t>harus</a:t>
            </a:r>
            <a:r>
              <a:rPr lang="en-US" sz="2000" dirty="0">
                <a:effectLst/>
              </a:rPr>
              <a:t> </a:t>
            </a:r>
            <a:r>
              <a:rPr lang="en-US" sz="2000" dirty="0" err="1">
                <a:effectLst/>
              </a:rPr>
              <a:t>dapat</a:t>
            </a:r>
            <a:r>
              <a:rPr lang="en-US" sz="2000" dirty="0">
                <a:effectLst/>
              </a:rPr>
              <a:t> </a:t>
            </a:r>
            <a:r>
              <a:rPr lang="en-US" sz="2000" dirty="0" err="1">
                <a:effectLst/>
              </a:rPr>
              <a:t>dipercaya</a:t>
            </a:r>
            <a:r>
              <a:rPr lang="en-US" sz="2000" dirty="0">
                <a:effectLst/>
              </a:rPr>
              <a:t> </a:t>
            </a:r>
            <a:r>
              <a:rPr lang="en-US" sz="2000" dirty="0" err="1">
                <a:effectLst/>
              </a:rPr>
              <a:t>dan</a:t>
            </a:r>
            <a:r>
              <a:rPr lang="en-US" sz="2000" dirty="0">
                <a:effectLst/>
              </a:rPr>
              <a:t> </a:t>
            </a:r>
            <a:r>
              <a:rPr lang="en-US" sz="2000" dirty="0" err="1">
                <a:effectLst/>
              </a:rPr>
              <a:t>tidak</a:t>
            </a:r>
            <a:r>
              <a:rPr lang="en-US" sz="2000" dirty="0">
                <a:effectLst/>
              </a:rPr>
              <a:t> </a:t>
            </a:r>
            <a:r>
              <a:rPr lang="en-US" sz="2000" dirty="0" err="1">
                <a:effectLst/>
              </a:rPr>
              <a:t>menyebabkan</a:t>
            </a:r>
            <a:r>
              <a:rPr lang="en-US" sz="2000" dirty="0">
                <a:effectLst/>
              </a:rPr>
              <a:t> </a:t>
            </a:r>
            <a:r>
              <a:rPr lang="en-US" sz="2000" dirty="0" err="1">
                <a:effectLst/>
              </a:rPr>
              <a:t>kerusakan</a:t>
            </a:r>
            <a:r>
              <a:rPr lang="en-US" sz="2000" dirty="0">
                <a:effectLst/>
              </a:rPr>
              <a:t> </a:t>
            </a:r>
            <a:r>
              <a:rPr lang="en-US" sz="2000" dirty="0" err="1">
                <a:effectLst/>
              </a:rPr>
              <a:t>fisik</a:t>
            </a:r>
            <a:r>
              <a:rPr lang="en-US" sz="2000" dirty="0">
                <a:effectLst/>
              </a:rPr>
              <a:t> </a:t>
            </a:r>
            <a:r>
              <a:rPr lang="en-US" sz="2000" dirty="0" err="1">
                <a:effectLst/>
              </a:rPr>
              <a:t>atau</a:t>
            </a:r>
            <a:r>
              <a:rPr lang="en-US" sz="2000" dirty="0">
                <a:effectLst/>
              </a:rPr>
              <a:t> </a:t>
            </a:r>
            <a:r>
              <a:rPr lang="en-US" sz="2000" dirty="0" err="1">
                <a:effectLst/>
              </a:rPr>
              <a:t>ekonomi</a:t>
            </a:r>
            <a:r>
              <a:rPr lang="en-US" sz="2000" dirty="0">
                <a:effectLst/>
              </a:rPr>
              <a:t> </a:t>
            </a:r>
            <a:r>
              <a:rPr lang="en-US" sz="2000" dirty="0" err="1">
                <a:effectLst/>
              </a:rPr>
              <a:t>jika</a:t>
            </a:r>
            <a:r>
              <a:rPr lang="en-US" sz="2000" dirty="0">
                <a:effectLst/>
              </a:rPr>
              <a:t> </a:t>
            </a:r>
            <a:r>
              <a:rPr lang="en-US" sz="2000" dirty="0" err="1">
                <a:effectLst/>
              </a:rPr>
              <a:t>terjadi</a:t>
            </a:r>
            <a:r>
              <a:rPr lang="en-US" sz="2000" dirty="0">
                <a:effectLst/>
              </a:rPr>
              <a:t> </a:t>
            </a:r>
            <a:r>
              <a:rPr lang="en-US" sz="2000" dirty="0" err="1">
                <a:effectLst/>
              </a:rPr>
              <a:t>kegagalan</a:t>
            </a:r>
            <a:r>
              <a:rPr lang="en-US" sz="2000" dirty="0">
                <a:effectLst/>
              </a:rPr>
              <a:t> </a:t>
            </a:r>
            <a:r>
              <a:rPr lang="en-US" sz="2000" dirty="0" err="1">
                <a:effectLst/>
              </a:rPr>
              <a:t>sistem</a:t>
            </a:r>
            <a:r>
              <a:rPr lang="en-US" sz="2000" dirty="0">
                <a:effectLst/>
              </a:rPr>
              <a:t>.</a:t>
            </a:r>
          </a:p>
          <a:p>
            <a:pPr marL="990600" lvl="1" indent="-533400" eaLnBrk="1" hangingPunct="1">
              <a:buFont typeface="Wingdings" pitchFamily="2" charset="2"/>
              <a:buAutoNum type="arabicPeriod"/>
              <a:defRPr/>
            </a:pPr>
            <a:r>
              <a:rPr lang="en-US" sz="2000" dirty="0" err="1">
                <a:effectLst/>
              </a:rPr>
              <a:t>Efisien</a:t>
            </a:r>
            <a:r>
              <a:rPr lang="en-US" sz="2000" dirty="0">
                <a:effectLst/>
              </a:rPr>
              <a:t> </a:t>
            </a:r>
            <a:r>
              <a:rPr lang="en-US" sz="2000" dirty="0">
                <a:effectLst/>
                <a:sym typeface="Wingdings" pitchFamily="2" charset="2"/>
              </a:rPr>
              <a:t> </a:t>
            </a:r>
            <a:r>
              <a:rPr lang="en-US" sz="2000" dirty="0">
                <a:effectLst/>
              </a:rPr>
              <a:t>PL </a:t>
            </a:r>
            <a:r>
              <a:rPr lang="en-US" sz="2000" dirty="0" err="1">
                <a:effectLst/>
              </a:rPr>
              <a:t>harus</a:t>
            </a:r>
            <a:r>
              <a:rPr lang="en-US" sz="2000" dirty="0">
                <a:effectLst/>
              </a:rPr>
              <a:t> </a:t>
            </a:r>
            <a:r>
              <a:rPr lang="en-US" sz="2000" dirty="0" err="1">
                <a:effectLst/>
              </a:rPr>
              <a:t>efisien</a:t>
            </a:r>
            <a:r>
              <a:rPr lang="en-US" sz="2000" dirty="0">
                <a:effectLst/>
              </a:rPr>
              <a:t> </a:t>
            </a:r>
            <a:r>
              <a:rPr lang="en-US" sz="2000" dirty="0" err="1">
                <a:effectLst/>
              </a:rPr>
              <a:t>dalam</a:t>
            </a:r>
            <a:r>
              <a:rPr lang="en-US" sz="2000" dirty="0">
                <a:effectLst/>
              </a:rPr>
              <a:t> </a:t>
            </a:r>
            <a:r>
              <a:rPr lang="en-US" sz="2000" dirty="0" err="1">
                <a:effectLst/>
              </a:rPr>
              <a:t>penggunaan</a:t>
            </a:r>
            <a:r>
              <a:rPr lang="en-US" sz="2000" dirty="0">
                <a:effectLst/>
              </a:rPr>
              <a:t> </a:t>
            </a:r>
            <a:r>
              <a:rPr lang="en-US" sz="2000" dirty="0" err="1">
                <a:effectLst/>
              </a:rPr>
              <a:t>sumber</a:t>
            </a:r>
            <a:r>
              <a:rPr lang="en-US" sz="2000" dirty="0">
                <a:effectLst/>
              </a:rPr>
              <a:t> </a:t>
            </a:r>
            <a:r>
              <a:rPr lang="en-US" sz="2000" dirty="0" err="1">
                <a:effectLst/>
              </a:rPr>
              <a:t>daya</a:t>
            </a:r>
            <a:r>
              <a:rPr lang="en-US" sz="2000" dirty="0">
                <a:effectLst/>
              </a:rPr>
              <a:t> </a:t>
            </a:r>
            <a:r>
              <a:rPr lang="en-US" sz="2000" dirty="0" err="1">
                <a:effectLst/>
              </a:rPr>
              <a:t>sistem</a:t>
            </a:r>
            <a:r>
              <a:rPr lang="en-US" sz="2000" dirty="0">
                <a:effectLst/>
              </a:rPr>
              <a:t>.</a:t>
            </a:r>
          </a:p>
          <a:p>
            <a:pPr marL="990600" lvl="1" indent="-533400" eaLnBrk="1" hangingPunct="1">
              <a:buFont typeface="Wingdings" pitchFamily="2" charset="2"/>
              <a:buAutoNum type="arabicPeriod"/>
              <a:defRPr/>
            </a:pPr>
            <a:r>
              <a:rPr lang="en-US" sz="2000" dirty="0" err="1">
                <a:effectLst/>
              </a:rPr>
              <a:t>Kemampupakaian</a:t>
            </a:r>
            <a:r>
              <a:rPr lang="en-US" sz="2000" dirty="0">
                <a:effectLst/>
              </a:rPr>
              <a:t> </a:t>
            </a:r>
            <a:r>
              <a:rPr lang="en-US" sz="2000" i="1" dirty="0">
                <a:effectLst/>
              </a:rPr>
              <a:t>(Usability) </a:t>
            </a:r>
            <a:r>
              <a:rPr lang="en-US" sz="2000" i="1" dirty="0">
                <a:effectLst/>
                <a:sym typeface="Wingdings" pitchFamily="2" charset="2"/>
              </a:rPr>
              <a:t> </a:t>
            </a:r>
            <a:r>
              <a:rPr lang="en-US" sz="2000" dirty="0">
                <a:effectLst/>
              </a:rPr>
              <a:t>PL </a:t>
            </a:r>
            <a:r>
              <a:rPr lang="en-US" sz="2000" dirty="0" err="1">
                <a:effectLst/>
              </a:rPr>
              <a:t>harus</a:t>
            </a:r>
            <a:r>
              <a:rPr lang="en-US" sz="2000" dirty="0">
                <a:effectLst/>
              </a:rPr>
              <a:t> </a:t>
            </a:r>
            <a:r>
              <a:rPr lang="en-US" sz="2000" dirty="0" err="1">
                <a:effectLst/>
              </a:rPr>
              <a:t>dapat</a:t>
            </a:r>
            <a:r>
              <a:rPr lang="en-US" sz="2000" dirty="0">
                <a:effectLst/>
              </a:rPr>
              <a:t> </a:t>
            </a:r>
            <a:r>
              <a:rPr lang="en-US" sz="2000" dirty="0" err="1">
                <a:effectLst/>
              </a:rPr>
              <a:t>dipakai</a:t>
            </a:r>
            <a:r>
              <a:rPr lang="en-US" sz="2000" dirty="0">
                <a:effectLst/>
              </a:rPr>
              <a:t> </a:t>
            </a:r>
            <a:r>
              <a:rPr lang="en-US" sz="2000" dirty="0" err="1">
                <a:effectLst/>
              </a:rPr>
              <a:t>sesuai</a:t>
            </a:r>
            <a:r>
              <a:rPr lang="en-US" sz="2000" dirty="0">
                <a:effectLst/>
              </a:rPr>
              <a:t> </a:t>
            </a:r>
            <a:r>
              <a:rPr lang="en-US" sz="2000" dirty="0" err="1">
                <a:effectLst/>
              </a:rPr>
              <a:t>dengan</a:t>
            </a:r>
            <a:r>
              <a:rPr lang="en-US" sz="2000" dirty="0">
                <a:effectLst/>
              </a:rPr>
              <a:t> yang </a:t>
            </a:r>
            <a:r>
              <a:rPr lang="en-US" sz="2000" dirty="0" err="1">
                <a:effectLst/>
              </a:rPr>
              <a:t>direncanakan</a:t>
            </a:r>
            <a:r>
              <a:rPr lang="en-US" sz="2000" dirty="0">
                <a:effectLst/>
              </a:rPr>
              <a:t>.</a:t>
            </a:r>
            <a:endParaRPr lang="en-US" sz="2000" i="1" dirty="0">
              <a:effectLst/>
            </a:endParaRPr>
          </a:p>
        </p:txBody>
      </p:sp>
      <p:sp>
        <p:nvSpPr>
          <p:cNvPr id="167938" name="Rectangle 2"/>
          <p:cNvSpPr>
            <a:spLocks noGrp="1" noRot="1" noChangeArrowheads="1"/>
          </p:cNvSpPr>
          <p:nvPr>
            <p:ph type="title"/>
          </p:nvPr>
        </p:nvSpPr>
        <p:spPr>
          <a:xfrm>
            <a:off x="457200" y="274638"/>
            <a:ext cx="8229600" cy="868362"/>
          </a:xfrm>
        </p:spPr>
        <p:txBody>
          <a:bodyPr>
            <a:noAutofit/>
          </a:bodyPr>
          <a:lstStyle/>
          <a:p>
            <a:pPr>
              <a:defRPr/>
            </a:pPr>
            <a:r>
              <a:rPr lang="en-US" sz="3600">
                <a:solidFill>
                  <a:schemeClr val="tx1"/>
                </a:solidFill>
                <a:effectLst/>
              </a:rPr>
              <a:t>Perangkat Lunak Berkualitas</a:t>
            </a:r>
            <a:endParaRPr lang="en-US" sz="2800">
              <a:solidFill>
                <a:schemeClr val="tx1"/>
              </a:solidFill>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ctr" eaLnBrk="1" hangingPunct="1">
              <a:buFont typeface="Wingdings" pitchFamily="2" charset="2"/>
              <a:buNone/>
              <a:defRPr/>
            </a:pPr>
            <a:endParaRPr lang="en-US" dirty="0"/>
          </a:p>
          <a:p>
            <a:pPr algn="ctr" eaLnBrk="1" hangingPunct="1">
              <a:buFont typeface="Wingdings" pitchFamily="2" charset="2"/>
              <a:buNone/>
              <a:defRPr/>
            </a:pPr>
            <a:endParaRPr lang="en-US" dirty="0"/>
          </a:p>
          <a:p>
            <a:pPr algn="ctr" eaLnBrk="1" hangingPunct="1">
              <a:buFont typeface="Wingdings" pitchFamily="2" charset="2"/>
              <a:buNone/>
              <a:defRPr/>
            </a:pPr>
            <a:r>
              <a:rPr lang="en-US" sz="4400" dirty="0" err="1"/>
              <a:t>Terimakasih</a:t>
            </a:r>
            <a:r>
              <a:rPr lang="en-US" sz="4400" dirty="0"/>
              <a:t> </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798</TotalTime>
  <Words>881</Words>
  <Application>Microsoft Office PowerPoint</Application>
  <PresentationFormat>On-screen Show (4:3)</PresentationFormat>
  <Paragraphs>74</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Garamond</vt:lpstr>
      <vt:lpstr>Lucida Sans Unicode</vt:lpstr>
      <vt:lpstr>Verdana</vt:lpstr>
      <vt:lpstr>Wingdings</vt:lpstr>
      <vt:lpstr>Wingdings 2</vt:lpstr>
      <vt:lpstr>Wingdings 3</vt:lpstr>
      <vt:lpstr>Concourse</vt:lpstr>
      <vt:lpstr>Pengantar Software Engineering</vt:lpstr>
      <vt:lpstr>Pendahuluan</vt:lpstr>
      <vt:lpstr>PERANGKAT LUNAK</vt:lpstr>
      <vt:lpstr>PERANGKAT LUNAK</vt:lpstr>
      <vt:lpstr>Program vs Perangkat Lunak</vt:lpstr>
      <vt:lpstr>PowerPoint Presentation</vt:lpstr>
      <vt:lpstr>PowerPoint Presentation</vt:lpstr>
      <vt:lpstr>Definisi Rekayasa Perangkat Lunak</vt:lpstr>
      <vt:lpstr>Definisi Rekayasa Perangkat Lunak</vt:lpstr>
      <vt:lpstr>Definisi Rekayasa Perangkat Lunak</vt:lpstr>
      <vt:lpstr>REKAYASA PERANGKAT LUNAK</vt:lpstr>
      <vt:lpstr>Kegunaan RPL</vt:lpstr>
      <vt:lpstr>Karakteristik Perangkat Lunak</vt:lpstr>
      <vt:lpstr>Proses Perangkat Lunak</vt:lpstr>
      <vt:lpstr>Tantangan</vt:lpstr>
      <vt:lpstr>Perangkat Lunak Berkualitas</vt:lpstr>
      <vt:lpstr>PowerPoint Presentation</vt:lpstr>
    </vt:vector>
  </TitlesOfParts>
  <Company>UGM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REKAYASA PERANGKAT LUNAK</dc:title>
  <dc:creator>Hilda Caem</dc:creator>
  <cp:lastModifiedBy>girihardana@gmail.com</cp:lastModifiedBy>
  <cp:revision>80</cp:revision>
  <cp:lastPrinted>1601-01-01T00:00:00Z</cp:lastPrinted>
  <dcterms:created xsi:type="dcterms:W3CDTF">2006-09-11T04:03:14Z</dcterms:created>
  <dcterms:modified xsi:type="dcterms:W3CDTF">2026-09-05T11:12:28Z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