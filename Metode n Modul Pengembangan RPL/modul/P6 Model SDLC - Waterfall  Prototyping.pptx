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24"/>
  </p:notesMasterIdLst>
  <p:handoutMasterIdLst>
    <p:handoutMasterId r:id="rId25"/>
  </p:handoutMasterIdLst>
  <p:sldIdLst>
    <p:sldId id="256" r:id="rId2"/>
    <p:sldId id="263" r:id="rId3"/>
    <p:sldId id="303" r:id="rId4"/>
    <p:sldId id="304" r:id="rId5"/>
    <p:sldId id="291" r:id="rId6"/>
    <p:sldId id="292" r:id="rId7"/>
    <p:sldId id="273" r:id="rId8"/>
    <p:sldId id="274" r:id="rId9"/>
    <p:sldId id="275" r:id="rId10"/>
    <p:sldId id="276" r:id="rId11"/>
    <p:sldId id="277" r:id="rId12"/>
    <p:sldId id="305" r:id="rId13"/>
    <p:sldId id="306" r:id="rId14"/>
    <p:sldId id="295" r:id="rId15"/>
    <p:sldId id="296" r:id="rId16"/>
    <p:sldId id="297" r:id="rId17"/>
    <p:sldId id="259" r:id="rId18"/>
    <p:sldId id="280" r:id="rId19"/>
    <p:sldId id="282" r:id="rId20"/>
    <p:sldId id="307" r:id="rId21"/>
    <p:sldId id="308" r:id="rId22"/>
    <p:sldId id="302" r:id="rId2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4" d="100"/>
          <a:sy n="54" d="100"/>
        </p:scale>
        <p:origin x="4"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6656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6656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6656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89685817-C8B2-4BE8-921B-511A5AF4EC57}"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065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27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7066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066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066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4C2E86E5-6A05-4AD7-980F-8E49D5A9895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07E79B95-ACF8-4288-B325-57BB7DA24977}"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21C81BE-0583-403C-A0C5-A62C1235EA97}" type="slidenum">
              <a:rPr lang="en-US" smtClean="0"/>
              <a:pPr>
                <a:defRPr/>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DA0886A-02A7-45DB-A069-6BF81976D88C}" type="slidenum">
              <a:rPr lang="en-US" smtClean="0"/>
              <a:pPr>
                <a:defRPr/>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9AA6E76-E375-4A4D-9277-A070CE5FD552}" type="slidenum">
              <a:rPr lang="en-US" smtClean="0"/>
              <a:pPr>
                <a:defRPr/>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B00B9866-DB37-42EA-8C62-808B38348A3C}"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1EE8A5CB-7A84-40D8-99D5-E584A8134882}" type="slidenum">
              <a:rPr lang="en-US" smtClean="0"/>
              <a:pPr>
                <a:defRPr/>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BFD28AF-0066-41C6-8143-7318A494A259}"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2670F90-4CF0-4CCE-B714-1DD7B72AD1FF}"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ECF54C99-2478-4AB4-94D8-8038D59F8599}" type="slidenum">
              <a:rPr lang="en-US" smtClean="0"/>
              <a:pPr>
                <a:defRPr/>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49861F0-B92D-4BF1-B15A-A6550930A6AB}"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01FA471-598C-41F9-9C3D-0E780C1E38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19DF6871-2F51-489E-B0B3-1C08ED80FA5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143000" y="2286000"/>
            <a:ext cx="7315200" cy="1447800"/>
          </a:xfrm>
        </p:spPr>
        <p:txBody>
          <a:bodyPr/>
          <a:lstStyle/>
          <a:p>
            <a:pPr>
              <a:defRPr/>
            </a:pPr>
            <a:r>
              <a:rPr lang="fi-FI" sz="3600" dirty="0"/>
              <a:t>Model SDLC</a:t>
            </a:r>
            <a:br>
              <a:rPr lang="fi-FI" sz="3600" dirty="0"/>
            </a:br>
            <a:r>
              <a:rPr lang="fi-FI" sz="3600" dirty="0"/>
              <a:t>Waterfall &amp; Prototyping</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p:cNvSpPr>
            <a:spLocks noGrp="1" noChangeArrowheads="1"/>
          </p:cNvSpPr>
          <p:nvPr>
            <p:ph idx="1"/>
          </p:nvPr>
        </p:nvSpPr>
        <p:spPr>
          <a:xfrm>
            <a:off x="457200" y="1219200"/>
            <a:ext cx="8229600" cy="4802188"/>
          </a:xfrm>
        </p:spPr>
        <p:txBody>
          <a:bodyPr>
            <a:normAutofit/>
          </a:bodyPr>
          <a:lstStyle/>
          <a:p>
            <a:pPr marL="342900" indent="-342900">
              <a:buFont typeface="Wingdings" panose="05000000000000000000" pitchFamily="2" charset="2"/>
              <a:buChar char="Ø"/>
            </a:pPr>
            <a:r>
              <a:rPr lang="en-ID" sz="2000" dirty="0"/>
              <a:t>Model SDLC</a:t>
            </a:r>
            <a:r>
              <a:rPr lang="en-ID" sz="2000" b="1" dirty="0"/>
              <a:t> </a:t>
            </a:r>
            <a:r>
              <a:rPr lang="en-ID" sz="2000" dirty="0" err="1"/>
              <a:t>adalah</a:t>
            </a:r>
            <a:r>
              <a:rPr lang="en-ID" sz="2000" dirty="0"/>
              <a:t> </a:t>
            </a:r>
            <a:r>
              <a:rPr lang="en-ID" sz="2000" dirty="0" err="1"/>
              <a:t>kerangka</a:t>
            </a:r>
            <a:r>
              <a:rPr lang="en-ID" sz="2000" dirty="0"/>
              <a:t> </a:t>
            </a:r>
            <a:r>
              <a:rPr lang="en-ID" sz="2000" dirty="0" err="1"/>
              <a:t>kerja</a:t>
            </a:r>
            <a:r>
              <a:rPr lang="en-ID" sz="2000" dirty="0"/>
              <a:t> </a:t>
            </a:r>
            <a:r>
              <a:rPr lang="en-ID" sz="2000" dirty="0" err="1"/>
              <a:t>atau</a:t>
            </a:r>
            <a:r>
              <a:rPr lang="en-ID" sz="2000" dirty="0"/>
              <a:t> proses </a:t>
            </a:r>
            <a:r>
              <a:rPr lang="en-ID" sz="2000" dirty="0" err="1"/>
              <a:t>sistematis</a:t>
            </a:r>
            <a:r>
              <a:rPr lang="en-ID" sz="2000" dirty="0"/>
              <a:t> yang </a:t>
            </a:r>
            <a:r>
              <a:rPr lang="en-ID" sz="2000" dirty="0" err="1"/>
              <a:t>digunakan</a:t>
            </a:r>
            <a:r>
              <a:rPr lang="en-ID" sz="2000" dirty="0"/>
              <a:t> oleh </a:t>
            </a:r>
            <a:r>
              <a:rPr lang="en-ID" sz="2000" dirty="0" err="1"/>
              <a:t>pengembang</a:t>
            </a:r>
            <a:r>
              <a:rPr lang="en-ID" sz="2000" dirty="0"/>
              <a:t> </a:t>
            </a:r>
            <a:r>
              <a:rPr lang="en-ID" sz="2000" dirty="0" err="1"/>
              <a:t>untuk</a:t>
            </a:r>
            <a:r>
              <a:rPr lang="en-ID" sz="2000" dirty="0"/>
              <a:t> </a:t>
            </a:r>
            <a:r>
              <a:rPr lang="en-ID" sz="2000" dirty="0" err="1"/>
              <a:t>merancang</a:t>
            </a:r>
            <a:r>
              <a:rPr lang="en-ID" sz="2000" dirty="0"/>
              <a:t>, </a:t>
            </a:r>
            <a:r>
              <a:rPr lang="en-ID" sz="2000" dirty="0" err="1"/>
              <a:t>mengembangkan</a:t>
            </a:r>
            <a:r>
              <a:rPr lang="en-ID" sz="2000" dirty="0"/>
              <a:t>, </a:t>
            </a:r>
            <a:r>
              <a:rPr lang="en-ID" sz="2000" dirty="0" err="1"/>
              <a:t>menguji</a:t>
            </a:r>
            <a:r>
              <a:rPr lang="en-ID" sz="2000" dirty="0"/>
              <a:t>, dan </a:t>
            </a:r>
            <a:r>
              <a:rPr lang="en-ID" sz="2000" dirty="0" err="1"/>
              <a:t>memelihara</a:t>
            </a:r>
            <a:r>
              <a:rPr lang="en-ID" sz="2000" dirty="0"/>
              <a:t> </a:t>
            </a:r>
            <a:r>
              <a:rPr lang="en-ID" sz="2000" dirty="0" err="1"/>
              <a:t>perangkat</a:t>
            </a:r>
            <a:r>
              <a:rPr lang="en-ID" sz="2000" dirty="0"/>
              <a:t> </a:t>
            </a:r>
            <a:r>
              <a:rPr lang="en-ID" sz="2000" dirty="0" err="1"/>
              <a:t>lunak</a:t>
            </a:r>
            <a:endParaRPr lang="en-ID" sz="2000" dirty="0"/>
          </a:p>
          <a:p>
            <a:pPr marL="342900" indent="-342900">
              <a:buFont typeface="Wingdings" panose="05000000000000000000" pitchFamily="2" charset="2"/>
              <a:buChar char="Ø"/>
            </a:pPr>
            <a:endParaRPr lang="en-ID" sz="2000" dirty="0"/>
          </a:p>
          <a:p>
            <a:pPr marL="342900" indent="-342900">
              <a:buFont typeface="Wingdings" panose="05000000000000000000" pitchFamily="2" charset="2"/>
              <a:buChar char="Ø"/>
            </a:pPr>
            <a:r>
              <a:rPr lang="en-ID" sz="2000" dirty="0"/>
              <a:t>Model SDLC </a:t>
            </a:r>
            <a:r>
              <a:rPr lang="en-ID" sz="2000" dirty="0" err="1"/>
              <a:t>adalah</a:t>
            </a:r>
            <a:r>
              <a:rPr lang="en-ID" sz="2000" dirty="0"/>
              <a:t> proses </a:t>
            </a:r>
            <a:r>
              <a:rPr lang="en-ID" sz="2000" dirty="0" err="1"/>
              <a:t>terstruktur</a:t>
            </a:r>
            <a:r>
              <a:rPr lang="en-ID" sz="2000" dirty="0"/>
              <a:t> yang </a:t>
            </a:r>
            <a:r>
              <a:rPr lang="en-ID" sz="2000" dirty="0" err="1"/>
              <a:t>memandu</a:t>
            </a:r>
            <a:r>
              <a:rPr lang="en-ID" sz="2000" dirty="0"/>
              <a:t> </a:t>
            </a:r>
            <a:r>
              <a:rPr lang="en-ID" sz="2000" dirty="0" err="1"/>
              <a:t>perencanaan</a:t>
            </a:r>
            <a:r>
              <a:rPr lang="en-ID" sz="2000" dirty="0"/>
              <a:t>, </a:t>
            </a:r>
            <a:r>
              <a:rPr lang="en-ID" sz="2000" dirty="0" err="1"/>
              <a:t>perancangan</a:t>
            </a:r>
            <a:r>
              <a:rPr lang="en-ID" sz="2000" dirty="0"/>
              <a:t>, </a:t>
            </a:r>
            <a:r>
              <a:rPr lang="en-ID" sz="2000" dirty="0" err="1"/>
              <a:t>pengembangan</a:t>
            </a:r>
            <a:r>
              <a:rPr lang="en-ID" sz="2000" dirty="0"/>
              <a:t>, </a:t>
            </a:r>
            <a:r>
              <a:rPr lang="en-ID" sz="2000" dirty="0" err="1"/>
              <a:t>pengujian</a:t>
            </a:r>
            <a:r>
              <a:rPr lang="en-ID" sz="2000" dirty="0"/>
              <a:t>, </a:t>
            </a:r>
            <a:r>
              <a:rPr lang="en-ID" sz="2000" dirty="0" err="1"/>
              <a:t>hingga</a:t>
            </a:r>
            <a:r>
              <a:rPr lang="en-ID" sz="2000" dirty="0"/>
              <a:t> </a:t>
            </a:r>
            <a:r>
              <a:rPr lang="en-ID" sz="2000" dirty="0" err="1"/>
              <a:t>pemeliharaan</a:t>
            </a:r>
            <a:r>
              <a:rPr lang="en-ID" sz="2000" dirty="0"/>
              <a:t> </a:t>
            </a:r>
            <a:r>
              <a:rPr lang="en-ID" sz="2000" dirty="0" err="1"/>
              <a:t>perangkat</a:t>
            </a:r>
            <a:r>
              <a:rPr lang="en-ID" sz="2000" dirty="0"/>
              <a:t> </a:t>
            </a:r>
            <a:r>
              <a:rPr lang="en-ID" sz="2000" dirty="0" err="1"/>
              <a:t>lunak</a:t>
            </a:r>
            <a:endParaRPr lang="en-ID" sz="2000" dirty="0"/>
          </a:p>
          <a:p>
            <a:pPr marL="342900" indent="-342900">
              <a:buFont typeface="Wingdings" panose="05000000000000000000" pitchFamily="2" charset="2"/>
              <a:buChar char="Ø"/>
            </a:pPr>
            <a:endParaRPr lang="en-ID" sz="2000" dirty="0"/>
          </a:p>
          <a:p>
            <a:pPr marL="342900" indent="-342900">
              <a:buFont typeface="Wingdings" panose="05000000000000000000" pitchFamily="2" charset="2"/>
              <a:buChar char="Ø"/>
            </a:pPr>
            <a:r>
              <a:rPr lang="en-ID" sz="2000" dirty="0"/>
              <a:t>Model SDLC </a:t>
            </a:r>
            <a:r>
              <a:rPr lang="en-ID" sz="2000" dirty="0" err="1"/>
              <a:t>dapat</a:t>
            </a:r>
            <a:r>
              <a:rPr lang="en-ID" sz="2000" dirty="0"/>
              <a:t> </a:t>
            </a:r>
            <a:r>
              <a:rPr lang="en-ID" sz="2000" dirty="0" err="1"/>
              <a:t>berfungsi</a:t>
            </a:r>
            <a:r>
              <a:rPr lang="en-ID" sz="2000" dirty="0"/>
              <a:t> </a:t>
            </a:r>
            <a:r>
              <a:rPr lang="en-ID" sz="2000" dirty="0" err="1"/>
              <a:t>sebagai</a:t>
            </a:r>
            <a:r>
              <a:rPr lang="en-ID" sz="2000" dirty="0"/>
              <a:t> </a:t>
            </a:r>
            <a:r>
              <a:rPr lang="en-ID" sz="2000" dirty="0" err="1"/>
              <a:t>kerangka</a:t>
            </a:r>
            <a:r>
              <a:rPr lang="en-ID" sz="2000" dirty="0"/>
              <a:t> </a:t>
            </a:r>
            <a:r>
              <a:rPr lang="en-ID" sz="2000" dirty="0" err="1"/>
              <a:t>kerja</a:t>
            </a:r>
            <a:r>
              <a:rPr lang="en-ID" sz="2000" dirty="0"/>
              <a:t> </a:t>
            </a:r>
            <a:r>
              <a:rPr lang="en-ID" sz="2000" dirty="0" err="1"/>
              <a:t>dalam</a:t>
            </a:r>
            <a:r>
              <a:rPr lang="en-ID" sz="2000" dirty="0"/>
              <a:t> </a:t>
            </a:r>
            <a:r>
              <a:rPr lang="en-ID" sz="2000" dirty="0" err="1"/>
              <a:t>mengatur</a:t>
            </a:r>
            <a:r>
              <a:rPr lang="en-ID" sz="2000" dirty="0"/>
              <a:t> Langkah-langkah yang </a:t>
            </a:r>
            <a:r>
              <a:rPr lang="en-ID" sz="2000" dirty="0" err="1"/>
              <a:t>harus</a:t>
            </a:r>
            <a:r>
              <a:rPr lang="en-ID" sz="2000" dirty="0"/>
              <a:t> </a:t>
            </a:r>
            <a:r>
              <a:rPr lang="en-ID" sz="2000" dirty="0" err="1"/>
              <a:t>diambil</a:t>
            </a:r>
            <a:r>
              <a:rPr lang="en-ID" sz="2000" dirty="0"/>
              <a:t> </a:t>
            </a:r>
            <a:r>
              <a:rPr lang="en-ID" sz="2000" dirty="0" err="1"/>
              <a:t>disetiap</a:t>
            </a:r>
            <a:r>
              <a:rPr lang="en-ID" sz="2000" dirty="0"/>
              <a:t> </a:t>
            </a:r>
            <a:r>
              <a:rPr lang="en-ID" sz="2000" dirty="0" err="1"/>
              <a:t>proyek</a:t>
            </a:r>
            <a:r>
              <a:rPr lang="en-ID" sz="2000" dirty="0"/>
              <a:t> </a:t>
            </a:r>
            <a:r>
              <a:rPr lang="en-ID" sz="2000" dirty="0" err="1"/>
              <a:t>pengembangan</a:t>
            </a:r>
            <a:r>
              <a:rPr lang="en-ID" sz="2000" dirty="0"/>
              <a:t> </a:t>
            </a:r>
            <a:r>
              <a:rPr lang="en-ID" sz="2000" dirty="0" err="1"/>
              <a:t>perangkat</a:t>
            </a:r>
            <a:r>
              <a:rPr lang="en-ID" sz="2000" dirty="0"/>
              <a:t> </a:t>
            </a:r>
            <a:r>
              <a:rPr lang="en-ID" sz="2000" dirty="0" err="1"/>
              <a:t>lunak</a:t>
            </a:r>
            <a:r>
              <a:rPr lang="en-ID" sz="2000" dirty="0"/>
              <a:t>.</a:t>
            </a:r>
            <a:endParaRPr lang="en-US" sz="2000" dirty="0"/>
          </a:p>
        </p:txBody>
      </p:sp>
      <p:sp>
        <p:nvSpPr>
          <p:cNvPr id="12290" name="Rectangle 2"/>
          <p:cNvSpPr>
            <a:spLocks noGrp="1" noChangeArrowheads="1"/>
          </p:cNvSpPr>
          <p:nvPr>
            <p:ph type="title"/>
          </p:nvPr>
        </p:nvSpPr>
        <p:spPr>
          <a:xfrm>
            <a:off x="442913" y="103188"/>
            <a:ext cx="8243887" cy="963612"/>
          </a:xfrm>
        </p:spPr>
        <p:txBody>
          <a:bodyPr/>
          <a:lstStyle/>
          <a:p>
            <a:pPr eaLnBrk="1" hangingPunct="1">
              <a:defRPr/>
            </a:pPr>
            <a:r>
              <a:rPr lang="en-US" b="1" dirty="0" err="1"/>
              <a:t>Definisi</a:t>
            </a:r>
            <a:r>
              <a:rPr lang="en-US" b="1" dirty="0"/>
              <a:t> Model SDLC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77EF99-86D4-44E4-2C1F-1580D77878D2}"/>
              </a:ext>
            </a:extLst>
          </p:cNvPr>
          <p:cNvSpPr>
            <a:spLocks noGrp="1"/>
          </p:cNvSpPr>
          <p:nvPr>
            <p:ph idx="1"/>
          </p:nvPr>
        </p:nvSpPr>
        <p:spPr/>
        <p:txBody>
          <a:bodyPr>
            <a:normAutofit/>
          </a:bodyPr>
          <a:lstStyle/>
          <a:p>
            <a:pPr lvl="0"/>
            <a:r>
              <a:rPr lang="en-ID" b="1" dirty="0"/>
              <a:t>Waterfall:</a:t>
            </a:r>
            <a:r>
              <a:rPr lang="en-ID" dirty="0"/>
              <a:t> </a:t>
            </a:r>
            <a:r>
              <a:rPr lang="en-ID" dirty="0" err="1"/>
              <a:t>Pendekatan</a:t>
            </a:r>
            <a:r>
              <a:rPr lang="en-ID" dirty="0"/>
              <a:t> </a:t>
            </a:r>
            <a:r>
              <a:rPr lang="en-ID" dirty="0" err="1"/>
              <a:t>klasik</a:t>
            </a:r>
            <a:r>
              <a:rPr lang="en-ID" dirty="0"/>
              <a:t> yang </a:t>
            </a:r>
            <a:r>
              <a:rPr lang="en-ID" dirty="0" err="1"/>
              <a:t>berjalan</a:t>
            </a:r>
            <a:r>
              <a:rPr lang="en-ID" dirty="0"/>
              <a:t> </a:t>
            </a:r>
            <a:r>
              <a:rPr lang="en-ID" dirty="0" err="1"/>
              <a:t>secara</a:t>
            </a:r>
            <a:r>
              <a:rPr lang="en-ID" dirty="0"/>
              <a:t> linear dan </a:t>
            </a:r>
            <a:r>
              <a:rPr lang="en-ID" dirty="0" err="1"/>
              <a:t>berurutan</a:t>
            </a:r>
            <a:r>
              <a:rPr lang="en-ID" dirty="0"/>
              <a:t> </a:t>
            </a:r>
            <a:r>
              <a:rPr lang="en-ID" dirty="0" err="1"/>
              <a:t>dari</a:t>
            </a:r>
            <a:r>
              <a:rPr lang="en-ID" dirty="0"/>
              <a:t> </a:t>
            </a:r>
            <a:r>
              <a:rPr lang="en-ID" dirty="0" err="1"/>
              <a:t>atas</a:t>
            </a:r>
            <a:r>
              <a:rPr lang="en-ID" dirty="0"/>
              <a:t> </a:t>
            </a:r>
            <a:r>
              <a:rPr lang="en-ID" dirty="0" err="1"/>
              <a:t>ke</a:t>
            </a:r>
            <a:r>
              <a:rPr lang="en-ID" dirty="0"/>
              <a:t> </a:t>
            </a:r>
            <a:r>
              <a:rPr lang="en-ID" dirty="0" err="1"/>
              <a:t>bawah</a:t>
            </a:r>
            <a:r>
              <a:rPr lang="en-ID" dirty="0"/>
              <a:t>.</a:t>
            </a:r>
          </a:p>
          <a:p>
            <a:pPr lvl="0"/>
            <a:r>
              <a:rPr lang="en-ID" b="1" dirty="0"/>
              <a:t>Prototyping:</a:t>
            </a:r>
            <a:r>
              <a:rPr lang="en-ID" dirty="0"/>
              <a:t> </a:t>
            </a:r>
            <a:r>
              <a:rPr lang="en-ID" dirty="0" err="1"/>
              <a:t>Pembuatan</a:t>
            </a:r>
            <a:r>
              <a:rPr lang="en-ID" dirty="0"/>
              <a:t> model </a:t>
            </a:r>
            <a:r>
              <a:rPr lang="en-ID" dirty="0" err="1"/>
              <a:t>awal</a:t>
            </a:r>
            <a:r>
              <a:rPr lang="en-ID" dirty="0"/>
              <a:t> </a:t>
            </a:r>
            <a:r>
              <a:rPr lang="en-ID" dirty="0" err="1"/>
              <a:t>atau</a:t>
            </a:r>
            <a:r>
              <a:rPr lang="en-ID" dirty="0"/>
              <a:t> </a:t>
            </a:r>
            <a:r>
              <a:rPr lang="en-ID" dirty="0" err="1"/>
              <a:t>purwarupa</a:t>
            </a:r>
            <a:r>
              <a:rPr lang="en-ID" dirty="0"/>
              <a:t> </a:t>
            </a:r>
            <a:r>
              <a:rPr lang="en-ID" dirty="0" err="1"/>
              <a:t>untuk</a:t>
            </a:r>
            <a:r>
              <a:rPr lang="en-ID" dirty="0"/>
              <a:t> </a:t>
            </a:r>
            <a:r>
              <a:rPr lang="en-ID" dirty="0" err="1"/>
              <a:t>diuji</a:t>
            </a:r>
            <a:r>
              <a:rPr lang="en-ID" dirty="0"/>
              <a:t> </a:t>
            </a:r>
            <a:r>
              <a:rPr lang="en-ID" dirty="0" err="1"/>
              <a:t>pengguna</a:t>
            </a:r>
            <a:r>
              <a:rPr lang="en-ID" dirty="0"/>
              <a:t> </a:t>
            </a:r>
            <a:r>
              <a:rPr lang="en-ID" dirty="0" err="1"/>
              <a:t>sebelum</a:t>
            </a:r>
            <a:r>
              <a:rPr lang="en-ID" dirty="0"/>
              <a:t> </a:t>
            </a:r>
            <a:r>
              <a:rPr lang="en-ID" dirty="0" err="1"/>
              <a:t>versi</a:t>
            </a:r>
            <a:r>
              <a:rPr lang="en-ID" dirty="0"/>
              <a:t> final </a:t>
            </a:r>
            <a:r>
              <a:rPr lang="en-ID" dirty="0" err="1"/>
              <a:t>dibuat</a:t>
            </a:r>
            <a:r>
              <a:rPr lang="en-ID" dirty="0"/>
              <a:t>.</a:t>
            </a:r>
          </a:p>
        </p:txBody>
      </p:sp>
      <p:sp>
        <p:nvSpPr>
          <p:cNvPr id="4" name="Title 3">
            <a:extLst>
              <a:ext uri="{FF2B5EF4-FFF2-40B4-BE49-F238E27FC236}">
                <a16:creationId xmlns:a16="http://schemas.microsoft.com/office/drawing/2014/main" id="{867A8CA8-744A-4640-4E7A-2A99FBC78BCE}"/>
              </a:ext>
            </a:extLst>
          </p:cNvPr>
          <p:cNvSpPr>
            <a:spLocks noGrp="1"/>
          </p:cNvSpPr>
          <p:nvPr>
            <p:ph type="title"/>
          </p:nvPr>
        </p:nvSpPr>
        <p:spPr/>
        <p:txBody>
          <a:bodyPr/>
          <a:lstStyle/>
          <a:p>
            <a:r>
              <a:rPr lang="en-ID" dirty="0"/>
              <a:t>Model-Model </a:t>
            </a:r>
            <a:r>
              <a:rPr lang="en-ID" dirty="0" err="1"/>
              <a:t>Populer</a:t>
            </a:r>
            <a:r>
              <a:rPr lang="en-ID" dirty="0"/>
              <a:t> SDLC</a:t>
            </a:r>
          </a:p>
        </p:txBody>
      </p:sp>
    </p:spTree>
    <p:extLst>
      <p:ext uri="{BB962C8B-B14F-4D97-AF65-F5344CB8AC3E}">
        <p14:creationId xmlns:p14="http://schemas.microsoft.com/office/powerpoint/2010/main" val="1242525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AE88F2-D352-4C07-2238-CA1C49B1A397}"/>
              </a:ext>
            </a:extLst>
          </p:cNvPr>
          <p:cNvSpPr>
            <a:spLocks noGrp="1"/>
          </p:cNvSpPr>
          <p:nvPr>
            <p:ph idx="1"/>
          </p:nvPr>
        </p:nvSpPr>
        <p:spPr/>
        <p:txBody>
          <a:bodyPr/>
          <a:lstStyle/>
          <a:p>
            <a:r>
              <a:rPr lang="en-ID" b="1" dirty="0"/>
              <a:t>Spiral:</a:t>
            </a:r>
            <a:r>
              <a:rPr lang="en-ID" dirty="0"/>
              <a:t> </a:t>
            </a:r>
            <a:r>
              <a:rPr lang="en-ID" dirty="0" err="1"/>
              <a:t>Menggabungkan</a:t>
            </a:r>
            <a:r>
              <a:rPr lang="en-ID" dirty="0"/>
              <a:t> </a:t>
            </a:r>
            <a:r>
              <a:rPr lang="en-ID" dirty="0" err="1"/>
              <a:t>desain</a:t>
            </a:r>
            <a:r>
              <a:rPr lang="en-ID" dirty="0"/>
              <a:t> dan </a:t>
            </a:r>
            <a:r>
              <a:rPr lang="en-ID" dirty="0" err="1"/>
              <a:t>pembuatan</a:t>
            </a:r>
            <a:r>
              <a:rPr lang="en-ID" dirty="0"/>
              <a:t> </a:t>
            </a:r>
            <a:r>
              <a:rPr lang="en-ID" dirty="0" err="1"/>
              <a:t>prototipe</a:t>
            </a:r>
            <a:r>
              <a:rPr lang="en-ID" dirty="0"/>
              <a:t> </a:t>
            </a:r>
            <a:r>
              <a:rPr lang="en-ID" dirty="0" err="1"/>
              <a:t>dengan</a:t>
            </a:r>
            <a:r>
              <a:rPr lang="en-ID" dirty="0"/>
              <a:t> </a:t>
            </a:r>
            <a:r>
              <a:rPr lang="en-ID" dirty="0" err="1"/>
              <a:t>penekanan</a:t>
            </a:r>
            <a:r>
              <a:rPr lang="en-ID" dirty="0"/>
              <a:t> </a:t>
            </a:r>
            <a:r>
              <a:rPr lang="en-ID" dirty="0" err="1"/>
              <a:t>tinggi</a:t>
            </a:r>
            <a:r>
              <a:rPr lang="en-ID" dirty="0"/>
              <a:t> pada </a:t>
            </a:r>
            <a:r>
              <a:rPr lang="en-ID" dirty="0" err="1"/>
              <a:t>analisis</a:t>
            </a:r>
            <a:r>
              <a:rPr lang="en-ID" dirty="0"/>
              <a:t> Risiko</a:t>
            </a:r>
          </a:p>
          <a:p>
            <a:r>
              <a:rPr lang="en-ID" b="1" dirty="0"/>
              <a:t>RAD:</a:t>
            </a:r>
            <a:r>
              <a:rPr lang="en-ID" dirty="0"/>
              <a:t> </a:t>
            </a:r>
            <a:r>
              <a:rPr lang="en-ID" dirty="0" err="1"/>
              <a:t>adalah</a:t>
            </a:r>
            <a:r>
              <a:rPr lang="en-ID" dirty="0"/>
              <a:t> model SDLC yang </a:t>
            </a:r>
            <a:r>
              <a:rPr lang="en-ID" dirty="0" err="1"/>
              <a:t>mengutamakan</a:t>
            </a:r>
            <a:r>
              <a:rPr lang="en-ID" dirty="0"/>
              <a:t> </a:t>
            </a:r>
            <a:r>
              <a:rPr lang="en-ID" dirty="0" err="1"/>
              <a:t>siklus</a:t>
            </a:r>
            <a:r>
              <a:rPr lang="en-ID" dirty="0"/>
              <a:t> </a:t>
            </a:r>
            <a:r>
              <a:rPr lang="en-ID" dirty="0" err="1"/>
              <a:t>pengembangan</a:t>
            </a:r>
            <a:r>
              <a:rPr lang="en-ID" dirty="0"/>
              <a:t> sangat </a:t>
            </a:r>
            <a:r>
              <a:rPr lang="en-ID" dirty="0" err="1"/>
              <a:t>singkat</a:t>
            </a:r>
            <a:r>
              <a:rPr lang="en-ID" dirty="0"/>
              <a:t> (</a:t>
            </a:r>
            <a:r>
              <a:rPr lang="en-ID" dirty="0" err="1"/>
              <a:t>biasanya</a:t>
            </a:r>
            <a:r>
              <a:rPr lang="en-ID" dirty="0"/>
              <a:t> 60 </a:t>
            </a:r>
            <a:r>
              <a:rPr lang="en-ID" dirty="0" err="1"/>
              <a:t>hingga</a:t>
            </a:r>
            <a:r>
              <a:rPr lang="en-ID" dirty="0"/>
              <a:t> 90 </a:t>
            </a:r>
            <a:r>
              <a:rPr lang="en-ID" dirty="0" err="1"/>
              <a:t>hari</a:t>
            </a:r>
            <a:r>
              <a:rPr lang="en-ID" dirty="0"/>
              <a:t>).</a:t>
            </a:r>
          </a:p>
          <a:p>
            <a:r>
              <a:rPr lang="en-ID" b="1" dirty="0"/>
              <a:t>Iterative</a:t>
            </a:r>
            <a:r>
              <a:rPr lang="en-ID" dirty="0"/>
              <a:t>: Model </a:t>
            </a:r>
            <a:r>
              <a:rPr lang="en-ID" dirty="0" err="1"/>
              <a:t>perulangan</a:t>
            </a:r>
            <a:r>
              <a:rPr lang="en-ID" dirty="0"/>
              <a:t> yang </a:t>
            </a:r>
            <a:r>
              <a:rPr lang="en-ID" dirty="0" err="1"/>
              <a:t>membangun</a:t>
            </a:r>
            <a:r>
              <a:rPr lang="en-ID" dirty="0"/>
              <a:t> software </a:t>
            </a:r>
            <a:r>
              <a:rPr lang="en-ID" dirty="0" err="1"/>
              <a:t>secara</a:t>
            </a:r>
            <a:r>
              <a:rPr lang="en-ID" dirty="0"/>
              <a:t> </a:t>
            </a:r>
            <a:r>
              <a:rPr lang="en-ID" dirty="0" err="1"/>
              <a:t>bertahap</a:t>
            </a:r>
            <a:r>
              <a:rPr lang="en-ID" dirty="0"/>
              <a:t> </a:t>
            </a:r>
            <a:r>
              <a:rPr lang="en-ID" dirty="0" err="1"/>
              <a:t>melalui</a:t>
            </a:r>
            <a:r>
              <a:rPr lang="en-ID" dirty="0"/>
              <a:t> </a:t>
            </a:r>
            <a:r>
              <a:rPr lang="en-ID" dirty="0" err="1"/>
              <a:t>versi-versi</a:t>
            </a:r>
            <a:r>
              <a:rPr lang="en-ID" dirty="0"/>
              <a:t> </a:t>
            </a:r>
            <a:r>
              <a:rPr lang="en-ID" dirty="0" err="1"/>
              <a:t>kecil</a:t>
            </a:r>
            <a:r>
              <a:rPr lang="en-ID" dirty="0"/>
              <a:t> yang </a:t>
            </a:r>
            <a:r>
              <a:rPr lang="en-ID" dirty="0" err="1"/>
              <a:t>terus</a:t>
            </a:r>
            <a:r>
              <a:rPr lang="en-ID" dirty="0"/>
              <a:t> </a:t>
            </a:r>
            <a:r>
              <a:rPr lang="en-ID" dirty="0" err="1"/>
              <a:t>disempurnakan</a:t>
            </a:r>
            <a:r>
              <a:rPr lang="en-ID" dirty="0"/>
              <a:t>. </a:t>
            </a:r>
          </a:p>
          <a:p>
            <a:endParaRPr lang="en-ID" dirty="0"/>
          </a:p>
          <a:p>
            <a:pPr marL="109728" indent="0">
              <a:buNone/>
            </a:pPr>
            <a:endParaRPr lang="en-ID" dirty="0"/>
          </a:p>
        </p:txBody>
      </p:sp>
      <p:sp>
        <p:nvSpPr>
          <p:cNvPr id="3" name="Slide Number Placeholder 2">
            <a:extLst>
              <a:ext uri="{FF2B5EF4-FFF2-40B4-BE49-F238E27FC236}">
                <a16:creationId xmlns:a16="http://schemas.microsoft.com/office/drawing/2014/main" id="{0E9EE681-A2F8-87CC-F2B9-FF06399D8920}"/>
              </a:ext>
            </a:extLst>
          </p:cNvPr>
          <p:cNvSpPr>
            <a:spLocks noGrp="1"/>
          </p:cNvSpPr>
          <p:nvPr>
            <p:ph type="sldNum" sz="quarter" idx="12"/>
          </p:nvPr>
        </p:nvSpPr>
        <p:spPr/>
        <p:txBody>
          <a:bodyPr/>
          <a:lstStyle/>
          <a:p>
            <a:pPr>
              <a:defRPr/>
            </a:pPr>
            <a:fld id="{721C81BE-0583-403C-A0C5-A62C1235EA97}" type="slidenum">
              <a:rPr lang="en-US" smtClean="0"/>
              <a:pPr>
                <a:defRPr/>
              </a:pPr>
              <a:t>4</a:t>
            </a:fld>
            <a:endParaRPr lang="en-US"/>
          </a:p>
        </p:txBody>
      </p:sp>
      <p:sp>
        <p:nvSpPr>
          <p:cNvPr id="4" name="Title 3">
            <a:extLst>
              <a:ext uri="{FF2B5EF4-FFF2-40B4-BE49-F238E27FC236}">
                <a16:creationId xmlns:a16="http://schemas.microsoft.com/office/drawing/2014/main" id="{E12F924E-502C-266C-5A3E-3EE30CA92F70}"/>
              </a:ext>
            </a:extLst>
          </p:cNvPr>
          <p:cNvSpPr>
            <a:spLocks noGrp="1"/>
          </p:cNvSpPr>
          <p:nvPr>
            <p:ph type="title"/>
          </p:nvPr>
        </p:nvSpPr>
        <p:spPr/>
        <p:txBody>
          <a:bodyPr/>
          <a:lstStyle/>
          <a:p>
            <a:r>
              <a:rPr lang="en-ID" dirty="0"/>
              <a:t>Model-Model </a:t>
            </a:r>
            <a:r>
              <a:rPr lang="en-ID" dirty="0" err="1"/>
              <a:t>Populer</a:t>
            </a:r>
            <a:r>
              <a:rPr lang="en-ID" dirty="0"/>
              <a:t> SDLC</a:t>
            </a:r>
          </a:p>
        </p:txBody>
      </p:sp>
    </p:spTree>
    <p:extLst>
      <p:ext uri="{BB962C8B-B14F-4D97-AF65-F5344CB8AC3E}">
        <p14:creationId xmlns:p14="http://schemas.microsoft.com/office/powerpoint/2010/main" val="3817511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3"/>
          <p:cNvSpPr>
            <a:spLocks noGrp="1" noChangeArrowheads="1"/>
          </p:cNvSpPr>
          <p:nvPr>
            <p:ph idx="1"/>
          </p:nvPr>
        </p:nvSpPr>
        <p:spPr/>
        <p:txBody>
          <a:bodyPr/>
          <a:lstStyle/>
          <a:p>
            <a:pPr eaLnBrk="1" hangingPunct="1">
              <a:lnSpc>
                <a:spcPct val="90000"/>
              </a:lnSpc>
              <a:buFontTx/>
              <a:buNone/>
            </a:pPr>
            <a:r>
              <a:rPr lang="en-US" dirty="0"/>
              <a:t>Model Waterfall, yang </a:t>
            </a:r>
            <a:r>
              <a:rPr lang="en-US" dirty="0" err="1"/>
              <a:t>sering</a:t>
            </a:r>
            <a:r>
              <a:rPr lang="en-US" dirty="0"/>
              <a:t> </a:t>
            </a:r>
            <a:r>
              <a:rPr lang="en-US" dirty="0" err="1"/>
              <a:t>disebut</a:t>
            </a:r>
            <a:r>
              <a:rPr lang="en-US" dirty="0"/>
              <a:t> juga classic life cycle, </a:t>
            </a:r>
            <a:r>
              <a:rPr lang="en-US" dirty="0" err="1"/>
              <a:t>menyampaikan</a:t>
            </a:r>
            <a:r>
              <a:rPr lang="en-US" dirty="0"/>
              <a:t> </a:t>
            </a:r>
            <a:r>
              <a:rPr lang="en-US" dirty="0" err="1"/>
              <a:t>suatu</a:t>
            </a:r>
            <a:r>
              <a:rPr lang="en-US" dirty="0"/>
              <a:t> </a:t>
            </a:r>
            <a:r>
              <a:rPr lang="en-US" dirty="0" err="1"/>
              <a:t>pendekatan</a:t>
            </a:r>
            <a:r>
              <a:rPr lang="en-US" dirty="0"/>
              <a:t> yang </a:t>
            </a:r>
            <a:r>
              <a:rPr lang="en-US" dirty="0" err="1"/>
              <a:t>berurutan</a:t>
            </a:r>
            <a:r>
              <a:rPr lang="en-US" dirty="0"/>
              <a:t> </a:t>
            </a:r>
            <a:r>
              <a:rPr lang="en-US" dirty="0" err="1"/>
              <a:t>untuk</a:t>
            </a:r>
            <a:r>
              <a:rPr lang="en-US" dirty="0"/>
              <a:t> </a:t>
            </a:r>
            <a:r>
              <a:rPr lang="en-US" dirty="0" err="1"/>
              <a:t>pengembangan</a:t>
            </a:r>
            <a:r>
              <a:rPr lang="en-US" dirty="0"/>
              <a:t> </a:t>
            </a:r>
            <a:r>
              <a:rPr lang="en-US" dirty="0" err="1"/>
              <a:t>perangkat</a:t>
            </a:r>
            <a:r>
              <a:rPr lang="en-US" dirty="0"/>
              <a:t> </a:t>
            </a:r>
            <a:r>
              <a:rPr lang="en-US" dirty="0" err="1"/>
              <a:t>lunak</a:t>
            </a:r>
            <a:r>
              <a:rPr lang="en-US" dirty="0"/>
              <a:t>. </a:t>
            </a:r>
          </a:p>
          <a:p>
            <a:pPr eaLnBrk="1" hangingPunct="1">
              <a:lnSpc>
                <a:spcPct val="90000"/>
              </a:lnSpc>
              <a:buFontTx/>
              <a:buNone/>
            </a:pPr>
            <a:r>
              <a:rPr lang="en-US" dirty="0" err="1"/>
              <a:t>Pengembangan</a:t>
            </a:r>
            <a:r>
              <a:rPr lang="en-US" dirty="0"/>
              <a:t> </a:t>
            </a:r>
            <a:r>
              <a:rPr lang="en-US" dirty="0" err="1"/>
              <a:t>dimulai</a:t>
            </a:r>
            <a:r>
              <a:rPr lang="en-US" dirty="0"/>
              <a:t> </a:t>
            </a:r>
            <a:r>
              <a:rPr lang="en-US" dirty="0" err="1"/>
              <a:t>dari</a:t>
            </a:r>
            <a:r>
              <a:rPr lang="en-US" dirty="0"/>
              <a:t> </a:t>
            </a:r>
            <a:r>
              <a:rPr lang="en-US" dirty="0" err="1"/>
              <a:t>spesifikasi</a:t>
            </a:r>
            <a:r>
              <a:rPr lang="en-US" dirty="0"/>
              <a:t> </a:t>
            </a:r>
            <a:r>
              <a:rPr lang="en-US" dirty="0" err="1"/>
              <a:t>kebutuhan</a:t>
            </a:r>
            <a:r>
              <a:rPr lang="en-US" dirty="0"/>
              <a:t> dan </a:t>
            </a:r>
            <a:r>
              <a:rPr lang="en-US" dirty="0" err="1"/>
              <a:t>berlanjut</a:t>
            </a:r>
            <a:r>
              <a:rPr lang="en-US" dirty="0"/>
              <a:t> </a:t>
            </a:r>
            <a:r>
              <a:rPr lang="en-US" dirty="0" err="1"/>
              <a:t>dengan</a:t>
            </a:r>
            <a:r>
              <a:rPr lang="en-US" dirty="0"/>
              <a:t> </a:t>
            </a:r>
            <a:r>
              <a:rPr lang="en-US" dirty="0" err="1"/>
              <a:t>perencanaan</a:t>
            </a:r>
            <a:r>
              <a:rPr lang="en-US" dirty="0"/>
              <a:t>, </a:t>
            </a:r>
            <a:r>
              <a:rPr lang="en-US" dirty="0" err="1"/>
              <a:t>pemodelan</a:t>
            </a:r>
            <a:r>
              <a:rPr lang="en-US" dirty="0"/>
              <a:t>, </a:t>
            </a:r>
            <a:r>
              <a:rPr lang="en-US" dirty="0" err="1"/>
              <a:t>konstruksi</a:t>
            </a:r>
            <a:r>
              <a:rPr lang="en-US" dirty="0"/>
              <a:t>, dan </a:t>
            </a:r>
            <a:r>
              <a:rPr lang="en-US" dirty="0" err="1"/>
              <a:t>penyerahan</a:t>
            </a:r>
            <a:r>
              <a:rPr lang="en-US" dirty="0"/>
              <a:t>. </a:t>
            </a:r>
          </a:p>
        </p:txBody>
      </p:sp>
      <p:sp>
        <p:nvSpPr>
          <p:cNvPr id="14339" name="Rectangle 2"/>
          <p:cNvSpPr>
            <a:spLocks noGrp="1" noChangeArrowheads="1"/>
          </p:cNvSpPr>
          <p:nvPr>
            <p:ph type="title"/>
          </p:nvPr>
        </p:nvSpPr>
        <p:spPr>
          <a:xfrm>
            <a:off x="442913" y="381000"/>
            <a:ext cx="8243887" cy="1036638"/>
          </a:xfrm>
        </p:spPr>
        <p:txBody>
          <a:bodyPr/>
          <a:lstStyle/>
          <a:p>
            <a:pPr eaLnBrk="1" hangingPunct="1"/>
            <a:r>
              <a:rPr lang="en-US" sz="6000" b="1" dirty="0">
                <a:effectLst/>
              </a:rPr>
              <a:t>Model Waterfall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p:txBody>
          <a:bodyPr/>
          <a:lstStyle/>
          <a:p>
            <a:pPr eaLnBrk="1" hangingPunct="1"/>
            <a:r>
              <a:rPr lang="en-US" sz="6000" b="1" dirty="0">
                <a:effectLst/>
              </a:rPr>
              <a:t>Model Waterfall</a:t>
            </a:r>
          </a:p>
        </p:txBody>
      </p:sp>
      <p:sp>
        <p:nvSpPr>
          <p:cNvPr id="1029" name="Rectangle 3"/>
          <p:cNvSpPr>
            <a:spLocks noChangeArrowheads="1"/>
          </p:cNvSpPr>
          <p:nvPr/>
        </p:nvSpPr>
        <p:spPr bwMode="auto">
          <a:xfrm>
            <a:off x="0" y="2085975"/>
            <a:ext cx="9144000" cy="0"/>
          </a:xfrm>
          <a:prstGeom prst="rect">
            <a:avLst/>
          </a:prstGeom>
          <a:noFill/>
          <a:ln w="9525">
            <a:noFill/>
            <a:miter lim="800000"/>
            <a:headEnd/>
            <a:tailEnd/>
          </a:ln>
        </p:spPr>
        <p:txBody>
          <a:bodyPr wrap="none" anchor="ctr">
            <a:spAutoFit/>
          </a:bodyPr>
          <a:lstStyle/>
          <a:p>
            <a:endParaRPr lang="en-US"/>
          </a:p>
        </p:txBody>
      </p:sp>
      <p:pic>
        <p:nvPicPr>
          <p:cNvPr id="6" name="Picture 5" descr="data:image/png;base64,iVBORw0KGgoAAAANSUhEUgAAAOoAAACUCAMAAACqYkXNAAABBVBMVEXw8PDAwMCra+UAsnZxlv/kJk/////+lwD+lAAArm5tk//v8/b08fLx9/b2+/G84dPodIqnYeT19O9kjf/l5/LkG0nv5+f5t2/jADm528qetfrp6enS0tLJycni4uLY2NjjCEK7iurC0f/+0KD+4MXyrLiww/99nv+WsP/i6f+pvv/+iQD+uWv+myf/4L7+wID/8eLN7N/3zdPwnarlNFjmQmLfAAD0t8HmXXeiVuPKqevOsevw5vreyPSvcub17vvBlevq2/jY4f+KqP/+pTn+rUz+p1H+o0T30qj+w43+rmD04cw3u4rd6+Zsx55UwZSc1r+CzrHv19vtiZjhACq2fujHoe1JKHDWAAAMsUlEQVR4nO2cB1viShuGAZUajhAQkDTpiHTlgAWUskpbAXX9/z/le2dCCZDApLjwnSvPIgZww9x560wCFospU6ZMmTJlypQpU6ZMmTJlypQpU6ZM/UfEMDwSwxx6ID8rRmA561Icrx3XY4gMRFsXL8Fc0mrblSfpvLlx6lbZWMCF+C1OUVpgPeWb/D/FUgEN14G13BAfOYjkdPyEXRkFUCT1bkw7enas4qCHIZ2/SvkVnxMOwjaWHGvYeFZhB6nVKqjcm2fopO0L0UmAdCZK5V7hzeF47TkKjkK+8NbrvTkLb/DP+VpwvL05R6+FVxnWvtGs20G6LlYdaeImaZeojFCTI8eomE8O6EKx0C8OyuFkMjxKlBPFfmLUGyXD5WF5IGfZ0SYrL0BIsSwMSWDV2mA/KaQnNaTJmwRGTBZE4iRCHY5+lQfh5M2oUHzrF0vweJAvOpPOPj1I/Erk8yNneFSQMWuPXqdkBEldAGheVS7ZT6qKtewYitbsv4moYC1nqRcu9fu9Qb/sLCZKg/zAAY8SjoRjEO4PeqXha6KUKO4KV6jz2J6bYgQVpiUhVcHqeS0sAvVVRH1FecmBs7HzJukQ68j8sWO5vZ6jN8KV51jF5EieNVkiUuJ49QxuivY1VHoNQcZJ98g52veehD6sVE63RbZDQC0skpLowEmMuiywhZ46Zmdh73syZD68ZTxlfyban8VTLNy8jSQJuIQgncni3EvDReyww5KCw24bdX+9UfZu6R8tQtHuxfZlKU7RzqQu7OkXbn6Vl6jYfIXiyDko9nv9/rAI2aifyJeKfSJSoyrrskniefGOoQQ7w3MCx7ICw3G8YOVX7QVpAvDQicJNfgGLjTpIJIf91+RwUM4nioNBslRKJEskpHmjeohVTgJXZnjBIjBWLwBaeIaD1M7ZrRZh1UqRdxIA67gJY9g+Ri2XSqP+MJnol8P9IV0Ijwb90oiAtEf2fvuDVdr5CgyUHYwKSFCmOfj/nMUKNpYeD1WwzhLAhnFIvkJ0ojZw+Fro/eqj7d7wlSBYCQIVab8RVmEJ6RXVYgFQ4QDYOQvDUTxChTm62iS8hB04naVVQDoXd0nxFwEoaaASpGDpPJyb/6Abfp4TNzjpH6lBRbAluVkr+UTWsEDdOXOTl9p3ANiwduUpo0hVtA+aPFiE/QsLLgQt/+5ZqpzUz5rWRBkgmd0SVAayRl8qdRPXTVDLuQH6vQVLMo9DqHCk1/xYsf3HLqAyL21o7Bq7dOtEwkp+5DEqKqZWnuVYq8AJAkKF/khgeSv0EJzAWlmeg+c5zi7oRKXeTyr2yvn7+ATGq12uyXKP2JwCUQ83RxUYRqCgMaJ4nuEZ1s5CmYJNFnpEwctaWDtgwuusPlRq6qqIneLvCuDqYJ3NzcogoxIuusxRART6QJjkw1RfAFQrTBQ4DqYL0DhRPH7NarFS+hyYqrhmkumOd6KD9VxkxfMZwr4co6LyyjC8FYwHDSEiZCAGGIvAQlcIfRPYmkWgOKQ1o1LekwlmrMxNe6nHiXG4CmhgpBKbIs666pPmbRLYepWdOclv7agTl0j4PhaNi6zqWgatSu4xQmXR6oPccpMiqqyUXtJabKiZ6/fcdafv+BeK1krlHOcol2s6RtTE6QqFK0y9WI4sJ1n+YgtBXbrOF6QnXuzHaMQV1/vlyXR2cjmbjafT2WQ6JTXrIlyJ9TcaQ1EnLq9Iej724q2pC6NOKpWpd1IZn0+nk8sZ4BKzqkRdb/e5VVgqSiOp5d11cikadSzGKk7AlUllcjmdjWeV89n5DGxLjOqaqp0JLNGgY7DyHL9gZ5ZHgVlzco1ZiWGo84lrvPBhVGtwYZ2g+vo+Gb+PJyeT6eXJeExYb13vquc8kqUUlH4pwcqiRgFKDzIwdEocgzonvaEKyYNah61sJqDx9FxFWzFWP4alB0O7YIXmQ4AWAvApDi2pcVBtWXiSXRlfC+ciaQMs9MDzqjrdyrWqmsXtlp9gHFJUzoL7BUBFT0M2tyN+O79cXNJQauCALbcpyyV0sJVlqGqV61LLlH1hVtYO9gRUHl8lAI8sVnRDLTHqpJYhrFMUJcJ6dZHOtC1OKJ+x4beqrmqjyqxuUdQUkoqebl9LoIpSIhWoradUk8ombAxr0HxVnYw+PSXdtcLzFHOpQxXta2sGn3QkktGLS6Qy+FTyQqSduNcIGcnKqc2+DKEXeOs+A/RBOiqCyz5U1xlCo3pTXz7fWeTq6kKXaqTD2suqb6FwF2k1cgsdRSjlu4tcXZxp1oWP2Id35yYjM9K6QmeNRVscSn2eaYeNpIhZd9UcLZNUQv9t3Nmlqmm3a+RDjpUR0IrM5hWwSksS2mYzRP/Lexv5QIQfn1URtQFmvdBo2jtpFWIW1/8w6LpmHp1PXcOVgdV6kSwRqrceqWPCavUCI9sjMOJGQ8Jaa8hAyR8LSbjyrMx1IML6c4wgTVDki1TaFLryzcP0s0Fh5CsYcChVPUNJFd1dNVIRcUuiK19DFvYKhSuDFkzlh81smY3nwd4Cr+7aPU2q1eYhStUb2Kq3QOWrf6U+U/XPVA1+Uo3Ubb1+V62nPqvVerUGt2r9tl6Vd+GLKlos3WWenzHdrvrECyzLCvWvWkhEBQKMeneGUes+O7DdpkL1aqP+8S/c/Rv69NUb1dRH1fdxVv2Ut+rZ1ee+LEy6aqxOvHK0CjgwWO9n5OoWO25dTEtUBKGG6vVIFQpPqJaq3zZSqXq99pG6vf0EVF81Vfu4+/DJW/Witr89JrqWS7V2HUABnS+xeEO+r4vbVamBUMWpFNz4Do/9Dt9d1KrzTHSBXlNKS2cXBN3hX/+YCc/Mje798EWuUgtUnwLD3SdJ/bmqEzcRxkvuSl3I8djci1D2fjQiZ2LJsStSEJHuDVSsn0q2G7MbBmJ0/kklScx4q41IDcGGdPTAEKhkNv25Hnd+lT2u6ZKLtNcXnQD2q1FFpUYHaohwOMbSbWjRninLa0GW1UNKHKiH//ib11KvRbTriyxQj0ReS0iHSN/l51vAY9GOvuZg+scIbe/2x1ZTtCvYur/361ZwtcPj/TSu7U/z8cXm99v0yB9b7RDX8SMMVDpmw91Tuxlr2XTg+h8WHzLDM1L2+FDpx/unRVtMPTVjOljbIis+efTD6wxaRDfvm9KltWftqLaWGK7ckcZq0PYtMrYfdaOK4YrWVY6hT9pSrDU3Z0tEbkK0Pjw8tOaDX2wQsqJw5dCKk4bPuv6w6G//s0j63RRRX5AjPrdsELOx1lMr1mrFbK3YH1JWCFdGOMI4lQRq0//SaqPE9AcP+L792Gw2X57hADy3H58en0kzs//p0EwKoh/8f+ZWfW6/oF9Pfjxev+fx4U/7pX3f/G7G2s17YlTbsaJaLI+2++8FLLp78ItWfWy/PLZjYFpAhXtSVH+T3v+eBxFjoakH2/3D87LWvIgjRq0TvoHg9YcmGeqqizgyMXjdiWYe/P7HBawswcs3oU1je9/zwKKD4LaPHlxcdfXBreD+NzuA1q5Op4Pf9y3UQjzqQT3SQN1cSaWDL/e2ZltVw7BJeqyBuiX66eVel01jR0kq37X98/SiZ2pu3OckDZTiWSPa2AWXw+svnMv9P1PQAP3cd5ARidCmuYAByhyUlez0Lp0OdDzX6Wwm4Hafapc7esi0THTGiO4E4rhRBNzoaUA7rTt+lCVIoqA7Kllvuu7qYD3OZnEpupuRLq3Z43qc+GDhSrLmQ0cDuPn3BDKiG6cBFWIWh61aanf2QC5M8l1JEKgd0XGzc6uCA7vjXXc07Xa7c1m4y3TdIjq+uZfHQU6BA4UrycmxYCAtEgajbmxVDzLqNRyAzmk8m+2m491r2Ipm0vFMNp5Jp6PudNodjyqxuq8Pw7q/1NCZwCpIccx2EGq8k4t3MunrePo624mn4/Hr6HUunk3HO9FOPNftpIMZJdTDVtcdorOBzPXcgbudZah2sp5uBwDjaTAvkMbT3U4GHoKpOx1AjacVozV9GJCdvRIvsGgiG88EshjWI9oWmyuXyZ3muvFctptz5zLx0zg8kYnmclF4Gh7ATcGB3d0D5aUdvb6AL46EFoNewWLjiiM+xRnIjbPQqZiJTpcPd6Slw1WbXaeyGXb+lYwAexrIztfWOnqq6mmgc4z9EvqqikXfSFvS7kAOe3BWVxecPiSp7DW8vHjqV9IhY9i0Zx6qWkkP1UDMxW60/AyDr9KzbF7BS3vSgUBasV6SKHPoFpiZX58tfqpAciX95rSHDuZgXqNDxxCo6KsFIedunB/cdm2AjWrX0U/h1kXr0aEHb8qUKVOmTJkyZcqUKVOmTJkyZcrUf1j/A3YxD8iGsHG3AAAAAElFTkSuQmCC">
            <a:extLst>
              <a:ext uri="{FF2B5EF4-FFF2-40B4-BE49-F238E27FC236}">
                <a16:creationId xmlns:a16="http://schemas.microsoft.com/office/drawing/2014/main" id="{7F3516EA-DB56-9ABF-9EB0-CDDB7D5FFF4F}"/>
              </a:ext>
            </a:extLst>
          </p:cNvPr>
          <p:cNvPicPr>
            <a:picLocks noChangeAspect="1"/>
          </p:cNvPicPr>
          <p:nvPr/>
        </p:nvPicPr>
        <p:blipFill>
          <a:blip r:embed="rId2"/>
          <a:stretch>
            <a:fillRect/>
          </a:stretch>
        </p:blipFill>
        <p:spPr>
          <a:xfrm>
            <a:off x="1143000" y="1280986"/>
            <a:ext cx="7010532" cy="44340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p:cNvSpPr>
            <a:spLocks noGrp="1" noChangeArrowheads="1"/>
          </p:cNvSpPr>
          <p:nvPr>
            <p:ph idx="1"/>
          </p:nvPr>
        </p:nvSpPr>
        <p:spPr>
          <a:xfrm>
            <a:off x="457200" y="1600200"/>
            <a:ext cx="8229600" cy="4648200"/>
          </a:xfrm>
        </p:spPr>
        <p:txBody>
          <a:bodyPr/>
          <a:lstStyle/>
          <a:p>
            <a:pPr eaLnBrk="1" hangingPunct="1">
              <a:buFontTx/>
              <a:buNone/>
            </a:pPr>
            <a:r>
              <a:rPr lang="en-US"/>
              <a:t>Tahap dimana inisialisasi pendefinisian masalah untuk menyelesaikan teknis pengembangan perangkat lunak mulai dilakukan</a:t>
            </a:r>
          </a:p>
          <a:p>
            <a:pPr eaLnBrk="1" hangingPunct="1">
              <a:buFontTx/>
              <a:buNone/>
            </a:pPr>
            <a:r>
              <a:rPr lang="en-US"/>
              <a:t>Akhir tahap ini saat didapat definisi permasalahan yang disetujui oleh  pengguna dan pengembang dan akan dicarikan solusi dengan menggunakan komputer</a:t>
            </a:r>
          </a:p>
        </p:txBody>
      </p:sp>
      <p:sp>
        <p:nvSpPr>
          <p:cNvPr id="15363" name="Rectangle 2"/>
          <p:cNvSpPr>
            <a:spLocks noGrp="1" noChangeArrowheads="1"/>
          </p:cNvSpPr>
          <p:nvPr>
            <p:ph type="title"/>
          </p:nvPr>
        </p:nvSpPr>
        <p:spPr/>
        <p:txBody>
          <a:bodyPr/>
          <a:lstStyle/>
          <a:p>
            <a:pPr eaLnBrk="1" hangingPunct="1"/>
            <a:r>
              <a:rPr lang="en-US" sz="4800" b="1">
                <a:effectLst/>
              </a:rPr>
              <a:t>Waterfall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p:cNvSpPr>
            <a:spLocks noGrp="1" noChangeArrowheads="1"/>
          </p:cNvSpPr>
          <p:nvPr>
            <p:ph idx="1"/>
          </p:nvPr>
        </p:nvSpPr>
        <p:spPr/>
        <p:txBody>
          <a:bodyPr/>
          <a:lstStyle/>
          <a:p>
            <a:pPr marL="0" indent="0" eaLnBrk="1" hangingPunct="1">
              <a:buFontTx/>
              <a:buNone/>
            </a:pPr>
            <a:r>
              <a:rPr lang="en-US" sz="2800"/>
              <a:t>Tahapan yang melakukan proses perancangan terhadap hasil yang didapat dari tahap analisis meliputi proses:</a:t>
            </a:r>
          </a:p>
          <a:p>
            <a:pPr marL="0" indent="0" eaLnBrk="1" hangingPunct="1"/>
            <a:r>
              <a:rPr lang="en-US" sz="2800"/>
              <a:t>Dekomposisi modul sistem</a:t>
            </a:r>
          </a:p>
          <a:p>
            <a:pPr marL="0" indent="0" eaLnBrk="1" hangingPunct="1"/>
            <a:r>
              <a:rPr lang="en-US" sz="2800"/>
              <a:t>Rancangan masukan dan keluaran</a:t>
            </a:r>
          </a:p>
          <a:p>
            <a:pPr marL="0" indent="0" eaLnBrk="1" hangingPunct="1"/>
            <a:r>
              <a:rPr lang="en-US" sz="2800"/>
              <a:t>Penetapan struktur data</a:t>
            </a:r>
          </a:p>
          <a:p>
            <a:pPr marL="0" indent="0" eaLnBrk="1" hangingPunct="1"/>
            <a:r>
              <a:rPr lang="en-US" sz="2800"/>
              <a:t>Penetapan prosedur kerja</a:t>
            </a:r>
          </a:p>
          <a:p>
            <a:pPr marL="0" indent="0" eaLnBrk="1" hangingPunct="1"/>
            <a:r>
              <a:rPr lang="en-US" sz="2800"/>
              <a:t>Penetapan formula pengolahan data</a:t>
            </a:r>
          </a:p>
        </p:txBody>
      </p:sp>
      <p:sp>
        <p:nvSpPr>
          <p:cNvPr id="16387" name="Rectangle 2"/>
          <p:cNvSpPr>
            <a:spLocks noGrp="1" noChangeArrowheads="1"/>
          </p:cNvSpPr>
          <p:nvPr>
            <p:ph type="title"/>
          </p:nvPr>
        </p:nvSpPr>
        <p:spPr>
          <a:xfrm>
            <a:off x="442913" y="103188"/>
            <a:ext cx="8243887" cy="1168400"/>
          </a:xfrm>
        </p:spPr>
        <p:txBody>
          <a:bodyPr/>
          <a:lstStyle/>
          <a:p>
            <a:pPr eaLnBrk="1" hangingPunct="1"/>
            <a:r>
              <a:rPr lang="en-US" sz="4800" b="1">
                <a:effectLst/>
              </a:rPr>
              <a:t>Waterfall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p:cNvSpPr>
            <a:spLocks noGrp="1" noChangeArrowheads="1"/>
          </p:cNvSpPr>
          <p:nvPr>
            <p:ph idx="1"/>
          </p:nvPr>
        </p:nvSpPr>
        <p:spPr>
          <a:xfrm>
            <a:off x="457200" y="2095500"/>
            <a:ext cx="8229600" cy="3960813"/>
          </a:xfrm>
        </p:spPr>
        <p:txBody>
          <a:bodyPr/>
          <a:lstStyle/>
          <a:p>
            <a:pPr marL="0" indent="0" eaLnBrk="1" hangingPunct="1">
              <a:buFontTx/>
              <a:buNone/>
            </a:pPr>
            <a:r>
              <a:rPr lang="en-US"/>
              <a:t>Tahap dimana dilakukan konversi dari hasil rancangan (spesifikasi program) menjadi “source code” juga dilakukan pengecekan eksekusi bagian program yang dibuat</a:t>
            </a:r>
          </a:p>
        </p:txBody>
      </p:sp>
      <p:sp>
        <p:nvSpPr>
          <p:cNvPr id="17411" name="Rectangle 2"/>
          <p:cNvSpPr>
            <a:spLocks noGrp="1" noChangeArrowheads="1"/>
          </p:cNvSpPr>
          <p:nvPr>
            <p:ph type="title"/>
          </p:nvPr>
        </p:nvSpPr>
        <p:spPr/>
        <p:txBody>
          <a:bodyPr/>
          <a:lstStyle/>
          <a:p>
            <a:pPr eaLnBrk="1" hangingPunct="1"/>
            <a:r>
              <a:rPr lang="en-US" sz="4800" b="1">
                <a:effectLst/>
              </a:rPr>
              <a:t>Waterfall (Code)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idx="1"/>
          </p:nvPr>
        </p:nvSpPr>
        <p:spPr/>
        <p:txBody>
          <a:bodyPr/>
          <a:lstStyle/>
          <a:p>
            <a:pPr eaLnBrk="1" hangingPunct="1">
              <a:lnSpc>
                <a:spcPct val="90000"/>
              </a:lnSpc>
            </a:pPr>
            <a:r>
              <a:rPr lang="en-US" sz="2800"/>
              <a:t>Pengujian merupakan proses mengeksekusi program dengan tujuan untuk menemukan kesalahan</a:t>
            </a:r>
          </a:p>
          <a:p>
            <a:pPr eaLnBrk="1" hangingPunct="1">
              <a:lnSpc>
                <a:spcPct val="90000"/>
              </a:lnSpc>
            </a:pPr>
            <a:r>
              <a:rPr lang="en-US" sz="2800"/>
              <a:t>Pengujian yang baik adalah pengujian yang dilakukan dengan mempunyai probabilitas penemuan kesalahan yang tidak diduga</a:t>
            </a:r>
          </a:p>
          <a:p>
            <a:pPr eaLnBrk="1" hangingPunct="1">
              <a:lnSpc>
                <a:spcPct val="90000"/>
              </a:lnSpc>
            </a:pPr>
            <a:r>
              <a:rPr lang="en-US" sz="2800"/>
              <a:t>Pengujian yang sukses adalah pengujian yang berhasil mengatasi penyelesaian penemuan kesalahan yang tidak diduga</a:t>
            </a:r>
          </a:p>
        </p:txBody>
      </p:sp>
      <p:sp>
        <p:nvSpPr>
          <p:cNvPr id="18435" name="Rectangle 2"/>
          <p:cNvSpPr>
            <a:spLocks noGrp="1" noChangeArrowheads="1"/>
          </p:cNvSpPr>
          <p:nvPr>
            <p:ph type="title"/>
          </p:nvPr>
        </p:nvSpPr>
        <p:spPr/>
        <p:txBody>
          <a:bodyPr/>
          <a:lstStyle/>
          <a:p>
            <a:pPr eaLnBrk="1" hangingPunct="1"/>
            <a:r>
              <a:rPr lang="en-US" sz="4800" b="1">
                <a:effectLst/>
              </a:rPr>
              <a:t>Waterfall (Test)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p:txBody>
          <a:bodyPr/>
          <a:lstStyle/>
          <a:p>
            <a:pPr eaLnBrk="1" hangingPunct="1"/>
            <a:r>
              <a:rPr lang="en-US"/>
              <a:t>Perawatan PL bukan hanya sekedar proses memperbaiki kesalahan tetapi proses yang memiliki, perubahan teknologi, melengkapi fungsi baru, dll.</a:t>
            </a:r>
          </a:p>
          <a:p>
            <a:pPr eaLnBrk="1" hangingPunct="1"/>
            <a:r>
              <a:rPr lang="en-US"/>
              <a:t>Proses perawatan PL tergantung atas permintaan perubahan dari pemakai, manajemen atau customer</a:t>
            </a:r>
          </a:p>
        </p:txBody>
      </p:sp>
      <p:sp>
        <p:nvSpPr>
          <p:cNvPr id="19459" name="Rectangle 2"/>
          <p:cNvSpPr>
            <a:spLocks noGrp="1" noChangeArrowheads="1"/>
          </p:cNvSpPr>
          <p:nvPr>
            <p:ph type="title"/>
          </p:nvPr>
        </p:nvSpPr>
        <p:spPr>
          <a:xfrm>
            <a:off x="442913" y="381000"/>
            <a:ext cx="8243887" cy="1036638"/>
          </a:xfrm>
        </p:spPr>
        <p:txBody>
          <a:bodyPr/>
          <a:lstStyle/>
          <a:p>
            <a:pPr eaLnBrk="1" hangingPunct="1"/>
            <a:r>
              <a:rPr lang="en-US" b="1">
                <a:effectLst/>
              </a:rPr>
              <a:t>Waterfall (Maintenance)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EEA2EF-5169-9921-8CDC-129EF145C577}"/>
              </a:ext>
            </a:extLst>
          </p:cNvPr>
          <p:cNvSpPr>
            <a:spLocks noGrp="1"/>
          </p:cNvSpPr>
          <p:nvPr>
            <p:ph idx="1"/>
          </p:nvPr>
        </p:nvSpPr>
        <p:spPr/>
        <p:txBody>
          <a:bodyPr>
            <a:normAutofit lnSpcReduction="10000"/>
          </a:bodyPr>
          <a:lstStyle/>
          <a:p>
            <a:r>
              <a:rPr lang="en-ID" dirty="0" err="1"/>
              <a:t>Mudah</a:t>
            </a:r>
            <a:r>
              <a:rPr lang="en-ID" dirty="0"/>
              <a:t> </a:t>
            </a:r>
            <a:r>
              <a:rPr lang="en-ID" dirty="0" err="1"/>
              <a:t>diaplikasikan</a:t>
            </a:r>
            <a:endParaRPr lang="en-ID" dirty="0"/>
          </a:p>
          <a:p>
            <a:r>
              <a:rPr lang="en-ID" dirty="0" err="1"/>
              <a:t>Memberikan</a:t>
            </a:r>
            <a:r>
              <a:rPr lang="en-ID" dirty="0"/>
              <a:t> template </a:t>
            </a:r>
            <a:r>
              <a:rPr lang="en-ID" dirty="0" err="1"/>
              <a:t>tentang</a:t>
            </a:r>
            <a:r>
              <a:rPr lang="en-ID" dirty="0"/>
              <a:t> </a:t>
            </a:r>
            <a:r>
              <a:rPr lang="en-ID" dirty="0" err="1"/>
              <a:t>metode</a:t>
            </a:r>
            <a:r>
              <a:rPr lang="en-ID" dirty="0"/>
              <a:t> </a:t>
            </a:r>
            <a:r>
              <a:rPr lang="en-ID" dirty="0" err="1"/>
              <a:t>analisis</a:t>
            </a:r>
            <a:r>
              <a:rPr lang="en-ID" dirty="0"/>
              <a:t>, </a:t>
            </a:r>
            <a:r>
              <a:rPr lang="en-ID" dirty="0" err="1"/>
              <a:t>desain</a:t>
            </a:r>
            <a:r>
              <a:rPr lang="en-ID" dirty="0"/>
              <a:t>, </a:t>
            </a:r>
            <a:r>
              <a:rPr lang="en-ID" dirty="0" err="1"/>
              <a:t>pengodean</a:t>
            </a:r>
            <a:r>
              <a:rPr lang="en-ID" dirty="0"/>
              <a:t>, </a:t>
            </a:r>
            <a:r>
              <a:rPr lang="en-ID" dirty="0" err="1"/>
              <a:t>pengujian</a:t>
            </a:r>
            <a:r>
              <a:rPr lang="en-ID" dirty="0"/>
              <a:t>, dan </a:t>
            </a:r>
            <a:r>
              <a:rPr lang="en-ID" dirty="0" err="1"/>
              <a:t>pemeliharaan</a:t>
            </a:r>
            <a:endParaRPr lang="en-ID" dirty="0"/>
          </a:p>
          <a:p>
            <a:r>
              <a:rPr lang="en-ID" dirty="0" err="1"/>
              <a:t>Cocok</a:t>
            </a:r>
            <a:r>
              <a:rPr lang="en-ID" dirty="0"/>
              <a:t> </a:t>
            </a:r>
            <a:r>
              <a:rPr lang="en-ID" dirty="0" err="1"/>
              <a:t>digunakan</a:t>
            </a:r>
            <a:r>
              <a:rPr lang="en-ID" dirty="0"/>
              <a:t> </a:t>
            </a:r>
            <a:r>
              <a:rPr lang="en-ID" dirty="0" err="1"/>
              <a:t>untuk</a:t>
            </a:r>
            <a:r>
              <a:rPr lang="en-ID" dirty="0"/>
              <a:t> </a:t>
            </a:r>
            <a:r>
              <a:rPr lang="en-ID" dirty="0" err="1"/>
              <a:t>produk</a:t>
            </a:r>
            <a:r>
              <a:rPr lang="en-ID" dirty="0"/>
              <a:t> </a:t>
            </a:r>
            <a:r>
              <a:rPr lang="en-ID" dirty="0" err="1"/>
              <a:t>perangkat</a:t>
            </a:r>
            <a:r>
              <a:rPr lang="en-ID" dirty="0"/>
              <a:t> </a:t>
            </a:r>
            <a:r>
              <a:rPr lang="en-ID" dirty="0" err="1"/>
              <a:t>lunak</a:t>
            </a:r>
            <a:r>
              <a:rPr lang="en-ID" dirty="0"/>
              <a:t> yang </a:t>
            </a:r>
            <a:r>
              <a:rPr lang="en-ID" dirty="0" err="1"/>
              <a:t>sudah</a:t>
            </a:r>
            <a:r>
              <a:rPr lang="en-ID" dirty="0"/>
              <a:t> </a:t>
            </a:r>
            <a:r>
              <a:rPr lang="en-ID" dirty="0" err="1"/>
              <a:t>jelas</a:t>
            </a:r>
            <a:r>
              <a:rPr lang="en-ID" dirty="0"/>
              <a:t> </a:t>
            </a:r>
            <a:r>
              <a:rPr lang="en-ID" dirty="0" err="1"/>
              <a:t>kebutuhannya</a:t>
            </a:r>
            <a:r>
              <a:rPr lang="en-ID" dirty="0"/>
              <a:t> di </a:t>
            </a:r>
            <a:r>
              <a:rPr lang="en-ID" dirty="0" err="1"/>
              <a:t>awal</a:t>
            </a:r>
            <a:r>
              <a:rPr lang="en-ID" dirty="0"/>
              <a:t>, </a:t>
            </a:r>
            <a:r>
              <a:rPr lang="en-ID" dirty="0" err="1"/>
              <a:t>sehingga</a:t>
            </a:r>
            <a:r>
              <a:rPr lang="en-ID" dirty="0"/>
              <a:t> </a:t>
            </a:r>
            <a:r>
              <a:rPr lang="en-ID" dirty="0" err="1"/>
              <a:t>dapat</a:t>
            </a:r>
            <a:r>
              <a:rPr lang="en-ID" dirty="0"/>
              <a:t> </a:t>
            </a:r>
            <a:r>
              <a:rPr lang="en-ID" dirty="0" err="1"/>
              <a:t>meminimalisasi</a:t>
            </a:r>
            <a:r>
              <a:rPr lang="en-ID" dirty="0"/>
              <a:t> </a:t>
            </a:r>
            <a:r>
              <a:rPr lang="en-ID" dirty="0" err="1"/>
              <a:t>kesalahan</a:t>
            </a:r>
            <a:endParaRPr lang="en-ID" dirty="0"/>
          </a:p>
          <a:p>
            <a:r>
              <a:rPr lang="en-ID" dirty="0"/>
              <a:t>Adanya </a:t>
            </a:r>
            <a:r>
              <a:rPr lang="en-ID" dirty="0" err="1"/>
              <a:t>pergeseran</a:t>
            </a:r>
            <a:r>
              <a:rPr lang="en-ID" dirty="0"/>
              <a:t> dan </a:t>
            </a:r>
            <a:r>
              <a:rPr lang="en-ID" dirty="0" err="1"/>
              <a:t>pembagian</a:t>
            </a:r>
            <a:r>
              <a:rPr lang="en-ID" dirty="0"/>
              <a:t> </a:t>
            </a:r>
            <a:r>
              <a:rPr lang="en-ID" dirty="0" err="1"/>
              <a:t>tim</a:t>
            </a:r>
            <a:r>
              <a:rPr lang="en-ID" dirty="0"/>
              <a:t> </a:t>
            </a:r>
            <a:r>
              <a:rPr lang="en-ID" dirty="0" err="1"/>
              <a:t>sehingga</a:t>
            </a:r>
            <a:r>
              <a:rPr lang="en-ID" dirty="0"/>
              <a:t> </a:t>
            </a:r>
            <a:r>
              <a:rPr lang="en-ID" dirty="0" err="1"/>
              <a:t>lebih</a:t>
            </a:r>
            <a:r>
              <a:rPr lang="en-ID" dirty="0"/>
              <a:t> </a:t>
            </a:r>
            <a:r>
              <a:rPr lang="en-ID" dirty="0" err="1"/>
              <a:t>terfokus</a:t>
            </a:r>
            <a:endParaRPr lang="en-ID" dirty="0"/>
          </a:p>
          <a:p>
            <a:r>
              <a:rPr lang="en-ID" dirty="0" err="1"/>
              <a:t>Memungkinan</a:t>
            </a:r>
            <a:r>
              <a:rPr lang="en-ID" dirty="0"/>
              <a:t> </a:t>
            </a:r>
            <a:r>
              <a:rPr lang="en-ID" dirty="0" err="1"/>
              <a:t>untuk</a:t>
            </a:r>
            <a:r>
              <a:rPr lang="en-ID" dirty="0"/>
              <a:t> </a:t>
            </a:r>
            <a:r>
              <a:rPr lang="en-ID" dirty="0" err="1"/>
              <a:t>perbuahan</a:t>
            </a:r>
            <a:r>
              <a:rPr lang="en-ID" dirty="0"/>
              <a:t> </a:t>
            </a:r>
            <a:r>
              <a:rPr lang="en-ID" dirty="0" err="1"/>
              <a:t>desain</a:t>
            </a:r>
            <a:r>
              <a:rPr lang="en-ID" dirty="0"/>
              <a:t> </a:t>
            </a:r>
            <a:r>
              <a:rPr lang="en-ID" dirty="0" err="1"/>
              <a:t>saat</a:t>
            </a:r>
            <a:r>
              <a:rPr lang="en-ID" dirty="0"/>
              <a:t> </a:t>
            </a:r>
            <a:r>
              <a:rPr lang="en-ID" dirty="0" err="1"/>
              <a:t>pengerjaan</a:t>
            </a:r>
            <a:r>
              <a:rPr lang="en-ID" dirty="0"/>
              <a:t> </a:t>
            </a:r>
            <a:r>
              <a:rPr lang="en-ID" dirty="0" err="1"/>
              <a:t>fase</a:t>
            </a:r>
            <a:r>
              <a:rPr lang="en-ID" dirty="0"/>
              <a:t> </a:t>
            </a:r>
            <a:r>
              <a:rPr lang="en-ID" dirty="0" err="1"/>
              <a:t>awal</a:t>
            </a:r>
            <a:endParaRPr lang="en-ID" dirty="0"/>
          </a:p>
        </p:txBody>
      </p:sp>
      <p:sp>
        <p:nvSpPr>
          <p:cNvPr id="3" name="Slide Number Placeholder 2">
            <a:extLst>
              <a:ext uri="{FF2B5EF4-FFF2-40B4-BE49-F238E27FC236}">
                <a16:creationId xmlns:a16="http://schemas.microsoft.com/office/drawing/2014/main" id="{DCD644A3-DAC8-C4AA-5437-A5F4ED6C6655}"/>
              </a:ext>
            </a:extLst>
          </p:cNvPr>
          <p:cNvSpPr>
            <a:spLocks noGrp="1"/>
          </p:cNvSpPr>
          <p:nvPr>
            <p:ph type="sldNum" sz="quarter" idx="12"/>
          </p:nvPr>
        </p:nvSpPr>
        <p:spPr/>
        <p:txBody>
          <a:bodyPr/>
          <a:lstStyle/>
          <a:p>
            <a:pPr>
              <a:defRPr/>
            </a:pPr>
            <a:fld id="{721C81BE-0583-403C-A0C5-A62C1235EA97}" type="slidenum">
              <a:rPr lang="en-US" smtClean="0"/>
              <a:pPr>
                <a:defRPr/>
              </a:pPr>
              <a:t>12</a:t>
            </a:fld>
            <a:endParaRPr lang="en-US"/>
          </a:p>
        </p:txBody>
      </p:sp>
      <p:sp>
        <p:nvSpPr>
          <p:cNvPr id="4" name="Title 3">
            <a:extLst>
              <a:ext uri="{FF2B5EF4-FFF2-40B4-BE49-F238E27FC236}">
                <a16:creationId xmlns:a16="http://schemas.microsoft.com/office/drawing/2014/main" id="{B34681C9-1ADA-D167-C8DE-B59BC0BF26AE}"/>
              </a:ext>
            </a:extLst>
          </p:cNvPr>
          <p:cNvSpPr>
            <a:spLocks noGrp="1"/>
          </p:cNvSpPr>
          <p:nvPr>
            <p:ph type="title"/>
          </p:nvPr>
        </p:nvSpPr>
        <p:spPr/>
        <p:txBody>
          <a:bodyPr>
            <a:noAutofit/>
          </a:bodyPr>
          <a:lstStyle/>
          <a:p>
            <a:r>
              <a:rPr lang="en-ID" sz="3600" dirty="0" err="1">
                <a:solidFill>
                  <a:schemeClr val="tx1"/>
                </a:solidFill>
                <a:effectLst/>
              </a:rPr>
              <a:t>Kelebihan</a:t>
            </a:r>
            <a:r>
              <a:rPr lang="en-ID" sz="3600" dirty="0">
                <a:solidFill>
                  <a:schemeClr val="tx1"/>
                </a:solidFill>
                <a:effectLst/>
              </a:rPr>
              <a:t> Model </a:t>
            </a:r>
            <a:r>
              <a:rPr lang="en-ID" sz="3600" i="1" dirty="0">
                <a:solidFill>
                  <a:schemeClr val="tx1"/>
                </a:solidFill>
                <a:effectLst/>
              </a:rPr>
              <a:t>Waterfall</a:t>
            </a:r>
            <a:endParaRPr lang="en-ID" sz="3600" dirty="0">
              <a:solidFill>
                <a:schemeClr val="tx1"/>
              </a:solidFill>
            </a:endParaRPr>
          </a:p>
        </p:txBody>
      </p:sp>
    </p:spTree>
    <p:extLst>
      <p:ext uri="{BB962C8B-B14F-4D97-AF65-F5344CB8AC3E}">
        <p14:creationId xmlns:p14="http://schemas.microsoft.com/office/powerpoint/2010/main" val="2780445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B29569-C324-F738-7107-228B831A8E7A}"/>
              </a:ext>
            </a:extLst>
          </p:cNvPr>
          <p:cNvSpPr>
            <a:spLocks noGrp="1"/>
          </p:cNvSpPr>
          <p:nvPr>
            <p:ph idx="1"/>
          </p:nvPr>
        </p:nvSpPr>
        <p:spPr/>
        <p:txBody>
          <a:bodyPr>
            <a:normAutofit fontScale="92500"/>
          </a:bodyPr>
          <a:lstStyle/>
          <a:p>
            <a:r>
              <a:rPr lang="en-ID" dirty="0" err="1"/>
              <a:t>Permodelan</a:t>
            </a:r>
            <a:r>
              <a:rPr lang="en-ID" dirty="0"/>
              <a:t> </a:t>
            </a:r>
            <a:r>
              <a:rPr lang="en-ID" dirty="0" err="1"/>
              <a:t>bersifat</a:t>
            </a:r>
            <a:r>
              <a:rPr lang="en-ID" dirty="0"/>
              <a:t> </a:t>
            </a:r>
            <a:r>
              <a:rPr lang="en-ID" dirty="0" err="1"/>
              <a:t>kaku</a:t>
            </a:r>
            <a:r>
              <a:rPr lang="en-ID" dirty="0"/>
              <a:t> dan </a:t>
            </a:r>
            <a:r>
              <a:rPr lang="en-ID" dirty="0" err="1"/>
              <a:t>sulit</a:t>
            </a:r>
            <a:r>
              <a:rPr lang="en-ID" dirty="0"/>
              <a:t> </a:t>
            </a:r>
            <a:r>
              <a:rPr lang="en-ID" dirty="0" err="1"/>
              <a:t>melakukan</a:t>
            </a:r>
            <a:r>
              <a:rPr lang="en-ID" dirty="0"/>
              <a:t> </a:t>
            </a:r>
            <a:r>
              <a:rPr lang="en-ID" dirty="0" err="1"/>
              <a:t>perubahan</a:t>
            </a:r>
            <a:r>
              <a:rPr lang="en-ID" dirty="0"/>
              <a:t> </a:t>
            </a:r>
            <a:r>
              <a:rPr lang="en-ID" dirty="0" err="1"/>
              <a:t>saat</a:t>
            </a:r>
            <a:r>
              <a:rPr lang="en-ID" dirty="0"/>
              <a:t> program </a:t>
            </a:r>
            <a:r>
              <a:rPr lang="en-ID" dirty="0" err="1"/>
              <a:t>sudah</a:t>
            </a:r>
            <a:r>
              <a:rPr lang="en-ID" dirty="0"/>
              <a:t> </a:t>
            </a:r>
            <a:r>
              <a:rPr lang="en-ID" dirty="0" err="1"/>
              <a:t>dijalankan</a:t>
            </a:r>
            <a:endParaRPr lang="en-ID" dirty="0"/>
          </a:p>
          <a:p>
            <a:r>
              <a:rPr lang="en-ID" dirty="0" err="1"/>
              <a:t>Pelanggan</a:t>
            </a:r>
            <a:r>
              <a:rPr lang="en-ID" dirty="0"/>
              <a:t> </a:t>
            </a:r>
            <a:r>
              <a:rPr lang="en-ID" dirty="0" err="1"/>
              <a:t>harus</a:t>
            </a:r>
            <a:r>
              <a:rPr lang="en-ID" dirty="0"/>
              <a:t> </a:t>
            </a:r>
            <a:r>
              <a:rPr lang="en-ID" dirty="0" err="1"/>
              <a:t>sabar</a:t>
            </a:r>
            <a:r>
              <a:rPr lang="en-ID" dirty="0"/>
              <a:t> </a:t>
            </a:r>
            <a:r>
              <a:rPr lang="en-ID" dirty="0" err="1"/>
              <a:t>untuk</a:t>
            </a:r>
            <a:r>
              <a:rPr lang="en-ID" dirty="0"/>
              <a:t> </a:t>
            </a:r>
            <a:r>
              <a:rPr lang="en-ID" dirty="0" err="1"/>
              <a:t>menanti</a:t>
            </a:r>
            <a:r>
              <a:rPr lang="en-ID" dirty="0"/>
              <a:t> </a:t>
            </a:r>
            <a:r>
              <a:rPr lang="en-ID" dirty="0" err="1"/>
              <a:t>produk</a:t>
            </a:r>
            <a:r>
              <a:rPr lang="en-ID" dirty="0"/>
              <a:t> </a:t>
            </a:r>
            <a:r>
              <a:rPr lang="en-ID" dirty="0" err="1"/>
              <a:t>selesai</a:t>
            </a:r>
            <a:r>
              <a:rPr lang="en-ID" dirty="0"/>
              <a:t> </a:t>
            </a:r>
            <a:r>
              <a:rPr lang="en-ID" dirty="0" err="1"/>
              <a:t>karena</a:t>
            </a:r>
            <a:r>
              <a:rPr lang="en-ID" dirty="0"/>
              <a:t> </a:t>
            </a:r>
            <a:r>
              <a:rPr lang="en-ID" dirty="0" err="1"/>
              <a:t>penyelesaian</a:t>
            </a:r>
            <a:r>
              <a:rPr lang="en-ID" dirty="0"/>
              <a:t> per </a:t>
            </a:r>
            <a:r>
              <a:rPr lang="en-ID" dirty="0" err="1"/>
              <a:t>tahap</a:t>
            </a:r>
            <a:endParaRPr lang="en-ID" dirty="0"/>
          </a:p>
          <a:p>
            <a:r>
              <a:rPr lang="en-ID" dirty="0" err="1"/>
              <a:t>Terjadinya</a:t>
            </a:r>
            <a:r>
              <a:rPr lang="en-ID" dirty="0"/>
              <a:t> </a:t>
            </a:r>
            <a:r>
              <a:rPr lang="en-ID" dirty="0" err="1"/>
              <a:t>pembagian</a:t>
            </a:r>
            <a:r>
              <a:rPr lang="en-ID" dirty="0"/>
              <a:t> </a:t>
            </a:r>
            <a:r>
              <a:rPr lang="en-ID" dirty="0" err="1"/>
              <a:t>proyek</a:t>
            </a:r>
            <a:r>
              <a:rPr lang="en-ID" dirty="0"/>
              <a:t> </a:t>
            </a:r>
            <a:r>
              <a:rPr lang="en-ID" dirty="0" err="1"/>
              <a:t>menjadi</a:t>
            </a:r>
            <a:r>
              <a:rPr lang="en-ID" dirty="0"/>
              <a:t> </a:t>
            </a:r>
            <a:r>
              <a:rPr lang="en-ID" dirty="0" err="1"/>
              <a:t>beberapa</a:t>
            </a:r>
            <a:r>
              <a:rPr lang="en-ID" dirty="0"/>
              <a:t> </a:t>
            </a:r>
            <a:r>
              <a:rPr lang="en-ID" dirty="0" err="1"/>
              <a:t>tahap</a:t>
            </a:r>
            <a:r>
              <a:rPr lang="en-ID" dirty="0"/>
              <a:t> </a:t>
            </a:r>
            <a:r>
              <a:rPr lang="en-ID" dirty="0" err="1"/>
              <a:t>tidak</a:t>
            </a:r>
            <a:r>
              <a:rPr lang="en-ID" dirty="0"/>
              <a:t> </a:t>
            </a:r>
            <a:r>
              <a:rPr lang="en-ID" dirty="0" err="1"/>
              <a:t>fleksibel</a:t>
            </a:r>
            <a:r>
              <a:rPr lang="en-ID" dirty="0"/>
              <a:t> </a:t>
            </a:r>
            <a:r>
              <a:rPr lang="en-ID" dirty="0" err="1"/>
              <a:t>karena</a:t>
            </a:r>
            <a:r>
              <a:rPr lang="en-ID" dirty="0"/>
              <a:t> </a:t>
            </a:r>
            <a:r>
              <a:rPr lang="en-ID" dirty="0" err="1"/>
              <a:t>harus</a:t>
            </a:r>
            <a:r>
              <a:rPr lang="en-ID" dirty="0"/>
              <a:t> </a:t>
            </a:r>
            <a:r>
              <a:rPr lang="en-ID" dirty="0" err="1"/>
              <a:t>ada</a:t>
            </a:r>
            <a:r>
              <a:rPr lang="en-ID" dirty="0"/>
              <a:t> </a:t>
            </a:r>
            <a:r>
              <a:rPr lang="en-ID" dirty="0" err="1"/>
              <a:t>komitmen</a:t>
            </a:r>
            <a:r>
              <a:rPr lang="en-ID" dirty="0"/>
              <a:t> </a:t>
            </a:r>
            <a:r>
              <a:rPr lang="en-ID" dirty="0" err="1"/>
              <a:t>bersama</a:t>
            </a:r>
            <a:r>
              <a:rPr lang="en-ID" dirty="0"/>
              <a:t> di </a:t>
            </a:r>
            <a:r>
              <a:rPr lang="en-ID" dirty="0" err="1"/>
              <a:t>awal</a:t>
            </a:r>
            <a:r>
              <a:rPr lang="en-ID" dirty="0"/>
              <a:t> </a:t>
            </a:r>
            <a:r>
              <a:rPr lang="en-ID" dirty="0" err="1"/>
              <a:t>proyek</a:t>
            </a:r>
            <a:endParaRPr lang="en-ID" dirty="0"/>
          </a:p>
          <a:p>
            <a:r>
              <a:rPr lang="en-ID" dirty="0"/>
              <a:t>Adanya </a:t>
            </a:r>
            <a:r>
              <a:rPr lang="en-ID" dirty="0" err="1"/>
              <a:t>waktu</a:t>
            </a:r>
            <a:r>
              <a:rPr lang="en-ID" dirty="0"/>
              <a:t> </a:t>
            </a:r>
            <a:r>
              <a:rPr lang="en-ID" dirty="0" err="1"/>
              <a:t>kosong</a:t>
            </a:r>
            <a:r>
              <a:rPr lang="en-ID" dirty="0"/>
              <a:t> </a:t>
            </a:r>
            <a:r>
              <a:rPr lang="en-ID" dirty="0" err="1"/>
              <a:t>bagi</a:t>
            </a:r>
            <a:r>
              <a:rPr lang="en-ID" dirty="0"/>
              <a:t> </a:t>
            </a:r>
            <a:r>
              <a:rPr lang="en-ID" dirty="0" err="1"/>
              <a:t>pengembang</a:t>
            </a:r>
            <a:r>
              <a:rPr lang="en-ID" dirty="0"/>
              <a:t> </a:t>
            </a:r>
            <a:r>
              <a:rPr lang="en-ID" dirty="0" err="1"/>
              <a:t>karena</a:t>
            </a:r>
            <a:r>
              <a:rPr lang="en-ID" dirty="0"/>
              <a:t> </a:t>
            </a:r>
            <a:r>
              <a:rPr lang="en-ID" dirty="0" err="1"/>
              <a:t>harus</a:t>
            </a:r>
            <a:r>
              <a:rPr lang="en-ID" dirty="0"/>
              <a:t> </a:t>
            </a:r>
            <a:r>
              <a:rPr lang="en-ID" dirty="0" err="1"/>
              <a:t>menunggu</a:t>
            </a:r>
            <a:r>
              <a:rPr lang="en-ID" dirty="0"/>
              <a:t> </a:t>
            </a:r>
            <a:r>
              <a:rPr lang="en-ID" dirty="0" err="1"/>
              <a:t>anggota</a:t>
            </a:r>
            <a:r>
              <a:rPr lang="en-ID" dirty="0"/>
              <a:t> </a:t>
            </a:r>
            <a:r>
              <a:rPr lang="en-ID" dirty="0" err="1"/>
              <a:t>tim</a:t>
            </a:r>
            <a:r>
              <a:rPr lang="en-ID" dirty="0"/>
              <a:t> </a:t>
            </a:r>
            <a:r>
              <a:rPr lang="en-ID" dirty="0" err="1"/>
              <a:t>menyelesaikan</a:t>
            </a:r>
            <a:r>
              <a:rPr lang="en-ID" dirty="0"/>
              <a:t> </a:t>
            </a:r>
            <a:r>
              <a:rPr lang="en-ID" dirty="0" err="1"/>
              <a:t>tiap</a:t>
            </a:r>
            <a:r>
              <a:rPr lang="en-ID" dirty="0"/>
              <a:t> </a:t>
            </a:r>
            <a:r>
              <a:rPr lang="en-ID" dirty="0" err="1"/>
              <a:t>tahap</a:t>
            </a:r>
            <a:endParaRPr lang="en-ID" dirty="0"/>
          </a:p>
          <a:p>
            <a:r>
              <a:rPr lang="en-ID" dirty="0"/>
              <a:t>Kendala </a:t>
            </a:r>
            <a:r>
              <a:rPr lang="en-ID" dirty="0" err="1"/>
              <a:t>desain</a:t>
            </a:r>
            <a:r>
              <a:rPr lang="en-ID" dirty="0"/>
              <a:t> yang non </a:t>
            </a:r>
            <a:r>
              <a:rPr lang="en-ID" dirty="0" err="1"/>
              <a:t>adaptif</a:t>
            </a:r>
            <a:endParaRPr lang="en-ID" dirty="0"/>
          </a:p>
        </p:txBody>
      </p:sp>
      <p:sp>
        <p:nvSpPr>
          <p:cNvPr id="3" name="Slide Number Placeholder 2">
            <a:extLst>
              <a:ext uri="{FF2B5EF4-FFF2-40B4-BE49-F238E27FC236}">
                <a16:creationId xmlns:a16="http://schemas.microsoft.com/office/drawing/2014/main" id="{48C92EDE-2A9E-00BB-70FB-C57B10A691F1}"/>
              </a:ext>
            </a:extLst>
          </p:cNvPr>
          <p:cNvSpPr>
            <a:spLocks noGrp="1"/>
          </p:cNvSpPr>
          <p:nvPr>
            <p:ph type="sldNum" sz="quarter" idx="12"/>
          </p:nvPr>
        </p:nvSpPr>
        <p:spPr/>
        <p:txBody>
          <a:bodyPr/>
          <a:lstStyle/>
          <a:p>
            <a:pPr>
              <a:defRPr/>
            </a:pPr>
            <a:fld id="{721C81BE-0583-403C-A0C5-A62C1235EA97}" type="slidenum">
              <a:rPr lang="en-US" smtClean="0"/>
              <a:pPr>
                <a:defRPr/>
              </a:pPr>
              <a:t>13</a:t>
            </a:fld>
            <a:endParaRPr lang="en-US"/>
          </a:p>
        </p:txBody>
      </p:sp>
      <p:sp>
        <p:nvSpPr>
          <p:cNvPr id="4" name="Title 3">
            <a:extLst>
              <a:ext uri="{FF2B5EF4-FFF2-40B4-BE49-F238E27FC236}">
                <a16:creationId xmlns:a16="http://schemas.microsoft.com/office/drawing/2014/main" id="{F4CE2F10-B1BF-302D-91B9-0855BAEB03C8}"/>
              </a:ext>
            </a:extLst>
          </p:cNvPr>
          <p:cNvSpPr>
            <a:spLocks noGrp="1"/>
          </p:cNvSpPr>
          <p:nvPr>
            <p:ph type="title"/>
          </p:nvPr>
        </p:nvSpPr>
        <p:spPr/>
        <p:txBody>
          <a:bodyPr/>
          <a:lstStyle/>
          <a:p>
            <a:r>
              <a:rPr lang="en-ID" sz="4400" dirty="0" err="1">
                <a:solidFill>
                  <a:schemeClr val="tx1"/>
                </a:solidFill>
                <a:effectLst/>
              </a:rPr>
              <a:t>Kekurangan</a:t>
            </a:r>
            <a:r>
              <a:rPr lang="en-ID" sz="4400" dirty="0">
                <a:solidFill>
                  <a:schemeClr val="tx1"/>
                </a:solidFill>
                <a:effectLst/>
              </a:rPr>
              <a:t> Model </a:t>
            </a:r>
            <a:r>
              <a:rPr lang="en-ID" sz="4400" i="1" dirty="0">
                <a:solidFill>
                  <a:schemeClr val="tx1"/>
                </a:solidFill>
                <a:effectLst/>
              </a:rPr>
              <a:t>Waterfall</a:t>
            </a:r>
            <a:endParaRPr lang="en-ID" dirty="0"/>
          </a:p>
        </p:txBody>
      </p:sp>
    </p:spTree>
    <p:extLst>
      <p:ext uri="{BB962C8B-B14F-4D97-AF65-F5344CB8AC3E}">
        <p14:creationId xmlns:p14="http://schemas.microsoft.com/office/powerpoint/2010/main" val="306459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p:cNvSpPr>
            <a:spLocks noGrp="1" noChangeArrowheads="1"/>
          </p:cNvSpPr>
          <p:nvPr>
            <p:ph idx="1"/>
          </p:nvPr>
        </p:nvSpPr>
        <p:spPr>
          <a:xfrm>
            <a:off x="457200" y="1493837"/>
            <a:ext cx="8229600" cy="4525963"/>
          </a:xfrm>
        </p:spPr>
        <p:txBody>
          <a:bodyPr/>
          <a:lstStyle/>
          <a:p>
            <a:pPr marL="117475" indent="-7938" eaLnBrk="1" hangingPunct="1">
              <a:buFontTx/>
              <a:buNone/>
            </a:pPr>
            <a:r>
              <a:rPr lang="en-US" sz="2800"/>
              <a:t>Customer seringkali menjelaskan sekumpulan sasaran umum perangkat lunak, namun tidak mengidentifikasi kebutuhan input, proses, atau output. Pada kasus lain, pengembang mungkin tidak yakin akan efisiensi dari suatu algoritma, adaptabilitas dari suatu sistem operasi, atau bentuk yang akan diambil dalam interaksi manusia-mesin. </a:t>
            </a:r>
          </a:p>
        </p:txBody>
      </p:sp>
      <p:sp>
        <p:nvSpPr>
          <p:cNvPr id="25603" name="Rectangle 2"/>
          <p:cNvSpPr>
            <a:spLocks noGrp="1" noChangeArrowheads="1"/>
          </p:cNvSpPr>
          <p:nvPr>
            <p:ph type="title"/>
          </p:nvPr>
        </p:nvSpPr>
        <p:spPr>
          <a:xfrm>
            <a:off x="457200" y="304800"/>
            <a:ext cx="8243888" cy="884238"/>
          </a:xfrm>
        </p:spPr>
        <p:txBody>
          <a:bodyPr>
            <a:normAutofit fontScale="90000"/>
          </a:bodyPr>
          <a:lstStyle/>
          <a:p>
            <a:pPr eaLnBrk="1" hangingPunct="1"/>
            <a:r>
              <a:rPr lang="en-US" sz="5400" b="1" dirty="0">
                <a:effectLst/>
              </a:rPr>
              <a:t>Model Prototyping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3"/>
          <p:cNvSpPr>
            <a:spLocks noGrp="1" noChangeArrowheads="1"/>
          </p:cNvSpPr>
          <p:nvPr>
            <p:ph idx="1"/>
          </p:nvPr>
        </p:nvSpPr>
        <p:spPr/>
        <p:txBody>
          <a:bodyPr/>
          <a:lstStyle/>
          <a:p>
            <a:pPr eaLnBrk="1" hangingPunct="1">
              <a:buFontTx/>
              <a:buNone/>
            </a:pPr>
            <a:r>
              <a:rPr lang="it-IT" sz="2800"/>
              <a:t>Paradigma prototyping diawali dengan komunikasi. Pengembang dan pengguna bertemu dan mendefinisikan sasaran-sasaran menyeluruh dari perangkat lunak yang akan dibangun, mengidentifikasi kebutuhan apa saja yang diinginkan. Iterasi prototyping direncanakan secara cepat, demikian juga pemodelan dalam bentuk rancangan segera dibuat. </a:t>
            </a:r>
            <a:endParaRPr lang="en-US" sz="2800"/>
          </a:p>
        </p:txBody>
      </p:sp>
      <p:sp>
        <p:nvSpPr>
          <p:cNvPr id="26627" name="Rectangle 2"/>
          <p:cNvSpPr>
            <a:spLocks noGrp="1" noChangeArrowheads="1"/>
          </p:cNvSpPr>
          <p:nvPr>
            <p:ph type="title"/>
          </p:nvPr>
        </p:nvSpPr>
        <p:spPr>
          <a:xfrm>
            <a:off x="442913" y="457200"/>
            <a:ext cx="8243887" cy="960438"/>
          </a:xfrm>
        </p:spPr>
        <p:txBody>
          <a:bodyPr>
            <a:normAutofit fontScale="90000"/>
          </a:bodyPr>
          <a:lstStyle/>
          <a:p>
            <a:r>
              <a:rPr lang="en-US" sz="6000" dirty="0">
                <a:effectLst/>
              </a:rPr>
              <a:t>Model </a:t>
            </a:r>
            <a:r>
              <a:rPr lang="en-US" sz="6000" b="1" dirty="0">
                <a:effectLst/>
              </a:rPr>
              <a:t>Prototyping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p:cNvSpPr>
            <a:spLocks noGrp="1" noChangeArrowheads="1"/>
          </p:cNvSpPr>
          <p:nvPr>
            <p:ph idx="1"/>
          </p:nvPr>
        </p:nvSpPr>
        <p:spPr/>
        <p:txBody>
          <a:bodyPr/>
          <a:lstStyle/>
          <a:p>
            <a:pPr eaLnBrk="1" hangingPunct="1">
              <a:lnSpc>
                <a:spcPct val="80000"/>
              </a:lnSpc>
              <a:buFontTx/>
              <a:buNone/>
            </a:pPr>
            <a:r>
              <a:rPr lang="it-IT" sz="2800"/>
              <a:t>Secara ideal, prototype adalah suatu mekanisme untuk mengidentifikasi kebutuhan dari perangkat lunak yang akan dihasilkan. Pada saat prototype ini dikembangkan, pengembang berusaha menggunakan program atau tool yang ada, seperti report generator, windows manager, yang memungkinkan prototype dibuat secara cepat. Prototype berlaku sebagai sistem pengenal, bukan sebagai sistem yang benar-benar dihasilkan untuk dioperasionalkan.</a:t>
            </a:r>
            <a:endParaRPr lang="en-US" sz="2800"/>
          </a:p>
        </p:txBody>
      </p:sp>
      <p:sp>
        <p:nvSpPr>
          <p:cNvPr id="27651" name="Rectangle 2"/>
          <p:cNvSpPr>
            <a:spLocks noGrp="1" noChangeArrowheads="1"/>
          </p:cNvSpPr>
          <p:nvPr>
            <p:ph type="title"/>
          </p:nvPr>
        </p:nvSpPr>
        <p:spPr>
          <a:xfrm>
            <a:off x="442913" y="609600"/>
            <a:ext cx="8243887" cy="808038"/>
          </a:xfrm>
        </p:spPr>
        <p:txBody>
          <a:bodyPr>
            <a:normAutofit fontScale="90000"/>
          </a:bodyPr>
          <a:lstStyle/>
          <a:p>
            <a:r>
              <a:rPr lang="en-US" sz="5400" dirty="0">
                <a:effectLst/>
              </a:rPr>
              <a:t>Model </a:t>
            </a:r>
            <a:r>
              <a:rPr lang="en-US" sz="5400" b="1" dirty="0">
                <a:effectLst/>
              </a:rPr>
              <a:t>Prototyping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sz="6000" dirty="0">
                <a:effectLst/>
              </a:rPr>
              <a:t>Model </a:t>
            </a:r>
            <a:r>
              <a:rPr lang="en-US" sz="6000" b="1" dirty="0">
                <a:effectLst/>
              </a:rPr>
              <a:t>Prototyping</a:t>
            </a:r>
          </a:p>
        </p:txBody>
      </p:sp>
      <p:pic>
        <p:nvPicPr>
          <p:cNvPr id="28676" name="Picture 4"/>
          <p:cNvPicPr>
            <a:picLocks noChangeAspect="1" noChangeArrowheads="1"/>
          </p:cNvPicPr>
          <p:nvPr/>
        </p:nvPicPr>
        <p:blipFill>
          <a:blip r:embed="rId2"/>
          <a:srcRect/>
          <a:stretch>
            <a:fillRect/>
          </a:stretch>
        </p:blipFill>
        <p:spPr bwMode="auto">
          <a:xfrm>
            <a:off x="1295400" y="2132013"/>
            <a:ext cx="6629400" cy="394811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Grp="1" noChangeArrowheads="1"/>
          </p:cNvSpPr>
          <p:nvPr>
            <p:ph idx="1"/>
          </p:nvPr>
        </p:nvSpPr>
        <p:spPr/>
        <p:txBody>
          <a:bodyPr/>
          <a:lstStyle/>
          <a:p>
            <a:pPr marL="57150" indent="-57150" eaLnBrk="1" hangingPunct="1">
              <a:buFontTx/>
              <a:buNone/>
            </a:pPr>
            <a:r>
              <a:rPr lang="en-US"/>
              <a:t>Tiga bentuk model</a:t>
            </a:r>
          </a:p>
          <a:p>
            <a:pPr lvl="1" indent="-514350" eaLnBrk="1" hangingPunct="1"/>
            <a:r>
              <a:rPr lang="en-US"/>
              <a:t>Di atas kertas berbasis komputer menggambarkan interaksi manusia</a:t>
            </a:r>
          </a:p>
          <a:p>
            <a:pPr lvl="1" indent="-514350" eaLnBrk="1" hangingPunct="1"/>
            <a:r>
              <a:rPr lang="en-US"/>
              <a:t>Working prototype: mengimplementasikan sebagian fungsi PL</a:t>
            </a:r>
          </a:p>
          <a:p>
            <a:pPr lvl="1" indent="-514350" eaLnBrk="1" hangingPunct="1"/>
            <a:r>
              <a:rPr lang="en-US"/>
              <a:t>Program jadi: melakukan sebagian atau keseluruhan fungsi yang akan dilakukan, ada feature yang belum dikembangkan</a:t>
            </a:r>
          </a:p>
        </p:txBody>
      </p:sp>
      <p:sp>
        <p:nvSpPr>
          <p:cNvPr id="29699" name="Rectangle 2"/>
          <p:cNvSpPr>
            <a:spLocks noGrp="1" noChangeArrowheads="1"/>
          </p:cNvSpPr>
          <p:nvPr>
            <p:ph type="title"/>
          </p:nvPr>
        </p:nvSpPr>
        <p:spPr>
          <a:xfrm>
            <a:off x="442913" y="103188"/>
            <a:ext cx="8243887" cy="1095375"/>
          </a:xfrm>
        </p:spPr>
        <p:txBody>
          <a:bodyPr/>
          <a:lstStyle/>
          <a:p>
            <a:r>
              <a:rPr lang="en-US" sz="4800" dirty="0">
                <a:effectLst/>
              </a:rPr>
              <a:t>Model </a:t>
            </a:r>
            <a:r>
              <a:rPr lang="en-US" sz="4800" b="1" dirty="0">
                <a:effectLst/>
              </a:rPr>
              <a:t>Prototyping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idx="1"/>
          </p:nvPr>
        </p:nvSpPr>
        <p:spPr/>
        <p:txBody>
          <a:bodyPr/>
          <a:lstStyle/>
          <a:p>
            <a:pPr eaLnBrk="1" hangingPunct="1"/>
            <a:r>
              <a:rPr lang="en-US" dirty="0" err="1"/>
              <a:t>Pengumpulan</a:t>
            </a:r>
            <a:r>
              <a:rPr lang="en-US" dirty="0"/>
              <a:t> </a:t>
            </a:r>
            <a:r>
              <a:rPr lang="en-US" dirty="0" err="1"/>
              <a:t>kebutuhan</a:t>
            </a:r>
            <a:r>
              <a:rPr lang="en-US" dirty="0"/>
              <a:t> dan </a:t>
            </a:r>
            <a:r>
              <a:rPr lang="en-US" dirty="0" err="1"/>
              <a:t>perbaikan</a:t>
            </a:r>
            <a:r>
              <a:rPr lang="en-US" dirty="0"/>
              <a:t> (</a:t>
            </a:r>
            <a:r>
              <a:rPr lang="en-US" dirty="0" err="1"/>
              <a:t>awal</a:t>
            </a:r>
            <a:r>
              <a:rPr lang="en-US" dirty="0"/>
              <a:t>)</a:t>
            </a:r>
          </a:p>
          <a:p>
            <a:pPr eaLnBrk="1" hangingPunct="1"/>
            <a:r>
              <a:rPr lang="en-US" dirty="0"/>
              <a:t>Quick design</a:t>
            </a:r>
          </a:p>
          <a:p>
            <a:pPr eaLnBrk="1" hangingPunct="1"/>
            <a:r>
              <a:rPr lang="en-US" dirty="0" err="1"/>
              <a:t>Pembentukan</a:t>
            </a:r>
            <a:r>
              <a:rPr lang="en-US" dirty="0"/>
              <a:t> prototype</a:t>
            </a:r>
          </a:p>
          <a:p>
            <a:pPr eaLnBrk="1" hangingPunct="1"/>
            <a:r>
              <a:rPr lang="en-US" dirty="0" err="1"/>
              <a:t>Evaluasi</a:t>
            </a:r>
            <a:r>
              <a:rPr lang="en-US" dirty="0"/>
              <a:t> </a:t>
            </a:r>
            <a:r>
              <a:rPr lang="en-US" dirty="0" err="1"/>
              <a:t>pelanggan</a:t>
            </a:r>
            <a:endParaRPr lang="en-US" dirty="0"/>
          </a:p>
          <a:p>
            <a:pPr eaLnBrk="1" hangingPunct="1"/>
            <a:r>
              <a:rPr lang="en-US" dirty="0" err="1"/>
              <a:t>Perbaikan</a:t>
            </a:r>
            <a:r>
              <a:rPr lang="en-US" dirty="0"/>
              <a:t> prototype</a:t>
            </a:r>
          </a:p>
          <a:p>
            <a:pPr eaLnBrk="1" hangingPunct="1"/>
            <a:r>
              <a:rPr lang="en-US" dirty="0" err="1"/>
              <a:t>Produk</a:t>
            </a:r>
            <a:r>
              <a:rPr lang="en-US" dirty="0"/>
              <a:t> S/W (</a:t>
            </a:r>
            <a:r>
              <a:rPr lang="en-US" dirty="0" err="1"/>
              <a:t>akhir</a:t>
            </a:r>
            <a:r>
              <a:rPr lang="en-US" dirty="0"/>
              <a:t>)</a:t>
            </a:r>
          </a:p>
        </p:txBody>
      </p:sp>
      <p:sp>
        <p:nvSpPr>
          <p:cNvPr id="30723" name="Rectangle 2"/>
          <p:cNvSpPr>
            <a:spLocks noGrp="1" noChangeArrowheads="1"/>
          </p:cNvSpPr>
          <p:nvPr>
            <p:ph type="title"/>
          </p:nvPr>
        </p:nvSpPr>
        <p:spPr/>
        <p:txBody>
          <a:bodyPr/>
          <a:lstStyle/>
          <a:p>
            <a:pPr eaLnBrk="1" hangingPunct="1"/>
            <a:r>
              <a:rPr lang="en-US" b="1">
                <a:effectLst/>
              </a:rPr>
              <a:t>Tahapan Prototyping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0ACAC3-4C44-66FD-9795-7077979244E3}"/>
              </a:ext>
            </a:extLst>
          </p:cNvPr>
          <p:cNvSpPr>
            <a:spLocks noGrp="1"/>
          </p:cNvSpPr>
          <p:nvPr>
            <p:ph idx="1"/>
          </p:nvPr>
        </p:nvSpPr>
        <p:spPr/>
        <p:txBody>
          <a:bodyPr>
            <a:normAutofit fontScale="77500" lnSpcReduction="20000"/>
          </a:bodyPr>
          <a:lstStyle/>
          <a:p>
            <a:r>
              <a:rPr lang="en-ID" b="1" dirty="0"/>
              <a:t>Waktu </a:t>
            </a:r>
            <a:r>
              <a:rPr lang="en-ID" b="1" dirty="0" err="1"/>
              <a:t>Pengembangan</a:t>
            </a:r>
            <a:r>
              <a:rPr lang="en-ID" b="1" dirty="0"/>
              <a:t> </a:t>
            </a:r>
            <a:r>
              <a:rPr lang="en-ID" b="1" dirty="0" err="1"/>
              <a:t>Cepat</a:t>
            </a:r>
            <a:r>
              <a:rPr lang="en-ID" b="1" dirty="0"/>
              <a:t>:</a:t>
            </a:r>
            <a:r>
              <a:rPr lang="en-ID" dirty="0"/>
              <a:t> </a:t>
            </a:r>
            <a:r>
              <a:rPr lang="en-ID" dirty="0" err="1"/>
              <a:t>Siklus</a:t>
            </a:r>
            <a:r>
              <a:rPr lang="en-ID" dirty="0"/>
              <a:t> </a:t>
            </a:r>
            <a:r>
              <a:rPr lang="en-ID" dirty="0" err="1"/>
              <a:t>pembuatan</a:t>
            </a:r>
            <a:r>
              <a:rPr lang="en-ID" dirty="0"/>
              <a:t> </a:t>
            </a:r>
            <a:r>
              <a:rPr lang="en-ID" dirty="0" err="1"/>
              <a:t>aplikasi</a:t>
            </a:r>
            <a:r>
              <a:rPr lang="en-ID" dirty="0"/>
              <a:t> </a:t>
            </a:r>
            <a:r>
              <a:rPr lang="en-ID" dirty="0" err="1"/>
              <a:t>menjadi</a:t>
            </a:r>
            <a:r>
              <a:rPr lang="en-ID" dirty="0"/>
              <a:t> sangat </a:t>
            </a:r>
            <a:r>
              <a:rPr lang="en-ID" dirty="0" err="1"/>
              <a:t>singkat</a:t>
            </a:r>
            <a:r>
              <a:rPr lang="en-ID" dirty="0"/>
              <a:t>, </a:t>
            </a:r>
            <a:r>
              <a:rPr lang="en-ID" dirty="0" err="1"/>
              <a:t>biasanya</a:t>
            </a:r>
            <a:r>
              <a:rPr lang="en-ID" dirty="0"/>
              <a:t> </a:t>
            </a:r>
            <a:r>
              <a:rPr lang="en-ID" dirty="0" err="1"/>
              <a:t>berkisar</a:t>
            </a:r>
            <a:r>
              <a:rPr lang="en-ID" dirty="0"/>
              <a:t> </a:t>
            </a:r>
            <a:r>
              <a:rPr lang="en-ID" dirty="0" err="1"/>
              <a:t>antara</a:t>
            </a:r>
            <a:r>
              <a:rPr lang="en-ID" dirty="0"/>
              <a:t> 60 </a:t>
            </a:r>
            <a:r>
              <a:rPr lang="en-ID" dirty="0" err="1"/>
              <a:t>hingga</a:t>
            </a:r>
            <a:r>
              <a:rPr lang="en-ID" dirty="0"/>
              <a:t> 90 </a:t>
            </a:r>
            <a:r>
              <a:rPr lang="en-ID" dirty="0" err="1"/>
              <a:t>hari</a:t>
            </a:r>
            <a:endParaRPr lang="en-ID" dirty="0"/>
          </a:p>
          <a:p>
            <a:r>
              <a:rPr lang="en-ID" dirty="0" err="1"/>
              <a:t>Pemanfaatan</a:t>
            </a:r>
            <a:r>
              <a:rPr lang="en-ID" dirty="0"/>
              <a:t> </a:t>
            </a:r>
            <a:r>
              <a:rPr lang="en-ID" dirty="0" err="1"/>
              <a:t>Komponen</a:t>
            </a:r>
            <a:r>
              <a:rPr lang="en-ID" dirty="0"/>
              <a:t> yang Ada</a:t>
            </a:r>
            <a:r>
              <a:rPr lang="en-ID" b="1" dirty="0"/>
              <a:t>:</a:t>
            </a:r>
            <a:r>
              <a:rPr lang="en-ID" dirty="0"/>
              <a:t> </a:t>
            </a:r>
            <a:r>
              <a:rPr lang="en-ID" dirty="0" err="1"/>
              <a:t>Memungkinkan</a:t>
            </a:r>
            <a:r>
              <a:rPr lang="en-ID" dirty="0"/>
              <a:t> </a:t>
            </a:r>
            <a:r>
              <a:rPr lang="en-ID" dirty="0" err="1"/>
              <a:t>pengembang</a:t>
            </a:r>
            <a:r>
              <a:rPr lang="en-ID" dirty="0"/>
              <a:t> </a:t>
            </a:r>
            <a:r>
              <a:rPr lang="en-ID" dirty="0" err="1"/>
              <a:t>menggunakan</a:t>
            </a:r>
            <a:r>
              <a:rPr lang="en-ID" dirty="0"/>
              <a:t> </a:t>
            </a:r>
            <a:r>
              <a:rPr lang="en-ID" dirty="0" err="1"/>
              <a:t>kembali</a:t>
            </a:r>
            <a:r>
              <a:rPr lang="en-ID" dirty="0"/>
              <a:t> </a:t>
            </a:r>
            <a:r>
              <a:rPr lang="en-ID" dirty="0" err="1"/>
              <a:t>komponen</a:t>
            </a:r>
            <a:r>
              <a:rPr lang="en-ID" dirty="0"/>
              <a:t> </a:t>
            </a:r>
            <a:r>
              <a:rPr lang="en-ID" dirty="0" err="1"/>
              <a:t>atau</a:t>
            </a:r>
            <a:r>
              <a:rPr lang="en-ID" dirty="0"/>
              <a:t> </a:t>
            </a:r>
            <a:r>
              <a:rPr lang="en-ID" dirty="0" err="1"/>
              <a:t>objek</a:t>
            </a:r>
            <a:r>
              <a:rPr lang="en-ID" dirty="0"/>
              <a:t> yang </a:t>
            </a:r>
            <a:r>
              <a:rPr lang="en-ID" dirty="0" err="1"/>
              <a:t>sudah</a:t>
            </a:r>
            <a:r>
              <a:rPr lang="en-ID" dirty="0"/>
              <a:t> </a:t>
            </a:r>
            <a:r>
              <a:rPr lang="en-ID" dirty="0" err="1"/>
              <a:t>ada</a:t>
            </a:r>
            <a:r>
              <a:rPr lang="en-ID" dirty="0"/>
              <a:t> (</a:t>
            </a:r>
            <a:r>
              <a:rPr lang="en-ID" i="1" dirty="0"/>
              <a:t>reusable objects</a:t>
            </a:r>
            <a:r>
              <a:rPr lang="en-ID" dirty="0"/>
              <a:t>) </a:t>
            </a:r>
            <a:r>
              <a:rPr lang="en-ID" dirty="0" err="1"/>
              <a:t>sehingga</a:t>
            </a:r>
            <a:r>
              <a:rPr lang="en-ID" dirty="0"/>
              <a:t> </a:t>
            </a:r>
            <a:r>
              <a:rPr lang="en-ID" dirty="0" err="1"/>
              <a:t>tidak</a:t>
            </a:r>
            <a:r>
              <a:rPr lang="en-ID" dirty="0"/>
              <a:t> </a:t>
            </a:r>
            <a:r>
              <a:rPr lang="en-ID" dirty="0" err="1"/>
              <a:t>perlu</a:t>
            </a:r>
            <a:r>
              <a:rPr lang="en-ID" dirty="0"/>
              <a:t> </a:t>
            </a:r>
            <a:r>
              <a:rPr lang="en-ID" dirty="0" err="1"/>
              <a:t>membuat</a:t>
            </a:r>
            <a:r>
              <a:rPr lang="en-ID" dirty="0"/>
              <a:t> </a:t>
            </a:r>
            <a:r>
              <a:rPr lang="en-ID" dirty="0" err="1"/>
              <a:t>dari</a:t>
            </a:r>
            <a:r>
              <a:rPr lang="en-ID" dirty="0"/>
              <a:t> </a:t>
            </a:r>
            <a:r>
              <a:rPr lang="en-ID" dirty="0" err="1"/>
              <a:t>awal</a:t>
            </a:r>
            <a:endParaRPr lang="en-ID" dirty="0"/>
          </a:p>
          <a:p>
            <a:r>
              <a:rPr lang="en-ID" b="1" dirty="0" err="1"/>
              <a:t>Keterlibatan</a:t>
            </a:r>
            <a:r>
              <a:rPr lang="en-ID" b="1" dirty="0"/>
              <a:t> </a:t>
            </a:r>
            <a:r>
              <a:rPr lang="en-ID" b="1" dirty="0" err="1"/>
              <a:t>Pengguna</a:t>
            </a:r>
            <a:r>
              <a:rPr lang="en-ID" b="1" dirty="0"/>
              <a:t> </a:t>
            </a:r>
            <a:r>
              <a:rPr lang="en-ID" b="1" dirty="0" err="1"/>
              <a:t>Aktif</a:t>
            </a:r>
            <a:r>
              <a:rPr lang="en-ID" b="1" dirty="0"/>
              <a:t>:</a:t>
            </a:r>
            <a:r>
              <a:rPr lang="en-ID" dirty="0"/>
              <a:t> </a:t>
            </a:r>
            <a:r>
              <a:rPr lang="en-ID" dirty="0" err="1"/>
              <a:t>Pengguna</a:t>
            </a:r>
            <a:r>
              <a:rPr lang="en-ID" dirty="0"/>
              <a:t> </a:t>
            </a:r>
            <a:r>
              <a:rPr lang="en-ID" dirty="0" err="1"/>
              <a:t>memberikan</a:t>
            </a:r>
            <a:r>
              <a:rPr lang="en-ID" dirty="0"/>
              <a:t> </a:t>
            </a:r>
            <a:r>
              <a:rPr lang="en-ID" dirty="0" err="1"/>
              <a:t>umpan</a:t>
            </a:r>
            <a:r>
              <a:rPr lang="en-ID" dirty="0"/>
              <a:t> </a:t>
            </a:r>
            <a:r>
              <a:rPr lang="en-ID" dirty="0" err="1"/>
              <a:t>balik</a:t>
            </a:r>
            <a:r>
              <a:rPr lang="en-ID" dirty="0"/>
              <a:t> </a:t>
            </a:r>
            <a:r>
              <a:rPr lang="en-ID" dirty="0" err="1"/>
              <a:t>secara</a:t>
            </a:r>
            <a:r>
              <a:rPr lang="en-ID" dirty="0"/>
              <a:t> </a:t>
            </a:r>
            <a:r>
              <a:rPr lang="en-ID" dirty="0" err="1"/>
              <a:t>langsung</a:t>
            </a:r>
            <a:r>
              <a:rPr lang="en-ID" dirty="0"/>
              <a:t> pada </a:t>
            </a:r>
            <a:r>
              <a:rPr lang="en-ID" dirty="0" err="1"/>
              <a:t>setiap</a:t>
            </a:r>
            <a:r>
              <a:rPr lang="en-ID" dirty="0"/>
              <a:t> </a:t>
            </a:r>
            <a:r>
              <a:rPr lang="en-ID" dirty="0" err="1"/>
              <a:t>iterasi</a:t>
            </a:r>
            <a:r>
              <a:rPr lang="en-ID" dirty="0"/>
              <a:t>, </a:t>
            </a:r>
            <a:r>
              <a:rPr lang="en-ID" dirty="0" err="1"/>
              <a:t>sehingga</a:t>
            </a:r>
            <a:r>
              <a:rPr lang="en-ID" dirty="0"/>
              <a:t> </a:t>
            </a:r>
            <a:r>
              <a:rPr lang="en-ID" dirty="0" err="1"/>
              <a:t>hasil</a:t>
            </a:r>
            <a:r>
              <a:rPr lang="en-ID" dirty="0"/>
              <a:t> </a:t>
            </a:r>
            <a:r>
              <a:rPr lang="en-ID" dirty="0" err="1"/>
              <a:t>akhir</a:t>
            </a:r>
            <a:r>
              <a:rPr lang="en-ID" dirty="0"/>
              <a:t> </a:t>
            </a:r>
            <a:r>
              <a:rPr lang="en-ID" dirty="0" err="1"/>
              <a:t>lebih</a:t>
            </a:r>
            <a:r>
              <a:rPr lang="en-ID" dirty="0"/>
              <a:t> </a:t>
            </a:r>
            <a:r>
              <a:rPr lang="en-ID" dirty="0" err="1"/>
              <a:t>sesuai</a:t>
            </a:r>
            <a:r>
              <a:rPr lang="en-ID" dirty="0"/>
              <a:t> </a:t>
            </a:r>
            <a:r>
              <a:rPr lang="en-ID" dirty="0" err="1"/>
              <a:t>dengan</a:t>
            </a:r>
            <a:r>
              <a:rPr lang="en-ID" dirty="0"/>
              <a:t> </a:t>
            </a:r>
            <a:r>
              <a:rPr lang="en-ID" dirty="0" err="1"/>
              <a:t>kebutuhan</a:t>
            </a:r>
            <a:endParaRPr lang="en-ID" dirty="0"/>
          </a:p>
          <a:p>
            <a:r>
              <a:rPr lang="en-ID" b="1" dirty="0" err="1"/>
              <a:t>Fleksibilitas</a:t>
            </a:r>
            <a:r>
              <a:rPr lang="en-ID" b="1" dirty="0"/>
              <a:t> Tinggi:</a:t>
            </a:r>
            <a:r>
              <a:rPr lang="en-ID" dirty="0"/>
              <a:t> </a:t>
            </a:r>
            <a:r>
              <a:rPr lang="en-ID" dirty="0" err="1"/>
              <a:t>Perubahan</a:t>
            </a:r>
            <a:r>
              <a:rPr lang="en-ID" dirty="0"/>
              <a:t> dan </a:t>
            </a:r>
            <a:r>
              <a:rPr lang="en-ID" dirty="0" err="1"/>
              <a:t>penyesuaian</a:t>
            </a:r>
            <a:r>
              <a:rPr lang="en-ID" dirty="0"/>
              <a:t> </a:t>
            </a:r>
            <a:r>
              <a:rPr lang="en-ID" dirty="0" err="1"/>
              <a:t>kebutuhan</a:t>
            </a:r>
            <a:r>
              <a:rPr lang="en-ID" dirty="0"/>
              <a:t> </a:t>
            </a:r>
            <a:r>
              <a:rPr lang="en-ID" dirty="0" err="1"/>
              <a:t>fitur</a:t>
            </a:r>
            <a:r>
              <a:rPr lang="en-ID" dirty="0"/>
              <a:t> </a:t>
            </a:r>
            <a:r>
              <a:rPr lang="en-ID" dirty="0" err="1"/>
              <a:t>dapat</a:t>
            </a:r>
            <a:r>
              <a:rPr lang="en-ID" dirty="0"/>
              <a:t> </a:t>
            </a:r>
            <a:r>
              <a:rPr lang="en-ID" dirty="0" err="1"/>
              <a:t>dilakukan</a:t>
            </a:r>
            <a:r>
              <a:rPr lang="en-ID" dirty="0"/>
              <a:t> </a:t>
            </a:r>
            <a:r>
              <a:rPr lang="en-ID" dirty="0" err="1"/>
              <a:t>dengan</a:t>
            </a:r>
            <a:r>
              <a:rPr lang="en-ID" dirty="0"/>
              <a:t> </a:t>
            </a:r>
            <a:r>
              <a:rPr lang="en-ID" dirty="0" err="1"/>
              <a:t>mudah</a:t>
            </a:r>
            <a:r>
              <a:rPr lang="en-ID" dirty="0"/>
              <a:t> di </a:t>
            </a:r>
            <a:r>
              <a:rPr lang="en-ID" dirty="0" err="1"/>
              <a:t>tengah</a:t>
            </a:r>
            <a:r>
              <a:rPr lang="en-ID" dirty="0"/>
              <a:t> proses </a:t>
            </a:r>
            <a:r>
              <a:rPr lang="en-ID" dirty="0" err="1"/>
              <a:t>pengembangan</a:t>
            </a:r>
            <a:endParaRPr lang="en-ID" dirty="0"/>
          </a:p>
          <a:p>
            <a:r>
              <a:rPr lang="en-ID" b="1" dirty="0" err="1"/>
              <a:t>Mengurangi</a:t>
            </a:r>
            <a:r>
              <a:rPr lang="en-ID" b="1" dirty="0"/>
              <a:t> Risiko:</a:t>
            </a:r>
            <a:r>
              <a:rPr lang="en-ID" dirty="0"/>
              <a:t> </a:t>
            </a:r>
            <a:r>
              <a:rPr lang="en-ID" dirty="0" err="1"/>
              <a:t>Kesalahan</a:t>
            </a:r>
            <a:r>
              <a:rPr lang="en-ID" dirty="0"/>
              <a:t> </a:t>
            </a:r>
            <a:r>
              <a:rPr lang="en-ID" dirty="0" err="1"/>
              <a:t>atau</a:t>
            </a:r>
            <a:r>
              <a:rPr lang="en-ID" dirty="0"/>
              <a:t> </a:t>
            </a:r>
            <a:r>
              <a:rPr lang="en-ID" i="1" dirty="0"/>
              <a:t>error</a:t>
            </a:r>
            <a:r>
              <a:rPr lang="en-ID" dirty="0"/>
              <a:t> </a:t>
            </a:r>
            <a:r>
              <a:rPr lang="en-ID" dirty="0" err="1"/>
              <a:t>dapat</a:t>
            </a:r>
            <a:r>
              <a:rPr lang="en-ID" dirty="0"/>
              <a:t> </a:t>
            </a:r>
            <a:r>
              <a:rPr lang="en-ID" dirty="0" err="1"/>
              <a:t>dideteksi</a:t>
            </a:r>
            <a:r>
              <a:rPr lang="en-ID" dirty="0"/>
              <a:t> dan </a:t>
            </a:r>
            <a:r>
              <a:rPr lang="en-ID" dirty="0" err="1"/>
              <a:t>diperbaiki</a:t>
            </a:r>
            <a:r>
              <a:rPr lang="en-ID" dirty="0"/>
              <a:t> </a:t>
            </a:r>
            <a:r>
              <a:rPr lang="en-ID" dirty="0" err="1"/>
              <a:t>lebih</a:t>
            </a:r>
            <a:r>
              <a:rPr lang="en-ID" dirty="0"/>
              <a:t> </a:t>
            </a:r>
            <a:r>
              <a:rPr lang="en-ID" dirty="0" err="1"/>
              <a:t>awal</a:t>
            </a:r>
            <a:r>
              <a:rPr lang="en-ID" dirty="0"/>
              <a:t> </a:t>
            </a:r>
            <a:r>
              <a:rPr lang="en-ID" dirty="0" err="1"/>
              <a:t>melalui</a:t>
            </a:r>
            <a:r>
              <a:rPr lang="en-ID" dirty="0"/>
              <a:t> </a:t>
            </a:r>
            <a:r>
              <a:rPr lang="en-ID" dirty="0" err="1"/>
              <a:t>pengujian</a:t>
            </a:r>
            <a:r>
              <a:rPr lang="en-ID" dirty="0"/>
              <a:t> </a:t>
            </a:r>
            <a:r>
              <a:rPr lang="en-ID" dirty="0" err="1"/>
              <a:t>prototipe</a:t>
            </a:r>
            <a:endParaRPr lang="en-ID" dirty="0"/>
          </a:p>
        </p:txBody>
      </p:sp>
      <p:sp>
        <p:nvSpPr>
          <p:cNvPr id="4" name="Title 3">
            <a:extLst>
              <a:ext uri="{FF2B5EF4-FFF2-40B4-BE49-F238E27FC236}">
                <a16:creationId xmlns:a16="http://schemas.microsoft.com/office/drawing/2014/main" id="{E4761A21-7FEE-55B9-4950-3D44192EE4DA}"/>
              </a:ext>
            </a:extLst>
          </p:cNvPr>
          <p:cNvSpPr>
            <a:spLocks noGrp="1"/>
          </p:cNvSpPr>
          <p:nvPr>
            <p:ph type="title"/>
          </p:nvPr>
        </p:nvSpPr>
        <p:spPr/>
        <p:txBody>
          <a:bodyPr/>
          <a:lstStyle/>
          <a:p>
            <a:r>
              <a:rPr lang="en-US" dirty="0" err="1"/>
              <a:t>Kelebihan</a:t>
            </a:r>
            <a:r>
              <a:rPr lang="en-US" dirty="0"/>
              <a:t> Model Prototyping</a:t>
            </a:r>
            <a:endParaRPr lang="en-ID" dirty="0"/>
          </a:p>
        </p:txBody>
      </p:sp>
    </p:spTree>
    <p:extLst>
      <p:ext uri="{BB962C8B-B14F-4D97-AF65-F5344CB8AC3E}">
        <p14:creationId xmlns:p14="http://schemas.microsoft.com/office/powerpoint/2010/main" val="3468264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7867A-FC21-B2F1-FB16-5039DFD468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15E0ED-1AFE-A80A-E746-19FC8AE3B99F}"/>
              </a:ext>
            </a:extLst>
          </p:cNvPr>
          <p:cNvSpPr>
            <a:spLocks noGrp="1"/>
          </p:cNvSpPr>
          <p:nvPr>
            <p:ph idx="1"/>
          </p:nvPr>
        </p:nvSpPr>
        <p:spPr/>
        <p:txBody>
          <a:bodyPr>
            <a:normAutofit fontScale="85000" lnSpcReduction="10000"/>
          </a:bodyPr>
          <a:lstStyle/>
          <a:p>
            <a:r>
              <a:rPr lang="en-ID" b="1" dirty="0"/>
              <a:t>Tidak </a:t>
            </a:r>
            <a:r>
              <a:rPr lang="en-ID" b="1" dirty="0" err="1"/>
              <a:t>Cocok</a:t>
            </a:r>
            <a:r>
              <a:rPr lang="en-ID" b="1" dirty="0"/>
              <a:t> </a:t>
            </a:r>
            <a:r>
              <a:rPr lang="en-ID" b="1" dirty="0" err="1"/>
              <a:t>untuk</a:t>
            </a:r>
            <a:r>
              <a:rPr lang="en-ID" b="1" dirty="0"/>
              <a:t> </a:t>
            </a:r>
            <a:r>
              <a:rPr lang="en-ID" b="1" dirty="0" err="1"/>
              <a:t>Proyek</a:t>
            </a:r>
            <a:r>
              <a:rPr lang="en-ID" b="1" dirty="0"/>
              <a:t> Besar:</a:t>
            </a:r>
            <a:r>
              <a:rPr lang="en-ID" dirty="0"/>
              <a:t> Kurang </a:t>
            </a:r>
            <a:r>
              <a:rPr lang="en-ID" dirty="0" err="1"/>
              <a:t>efektif</a:t>
            </a:r>
            <a:r>
              <a:rPr lang="en-ID" dirty="0"/>
              <a:t> </a:t>
            </a:r>
            <a:r>
              <a:rPr lang="en-ID" dirty="0" err="1"/>
              <a:t>jika</a:t>
            </a:r>
            <a:r>
              <a:rPr lang="en-ID" dirty="0"/>
              <a:t> </a:t>
            </a:r>
            <a:r>
              <a:rPr lang="en-ID" dirty="0" err="1"/>
              <a:t>diterapkan</a:t>
            </a:r>
            <a:r>
              <a:rPr lang="en-ID" dirty="0"/>
              <a:t> pada </a:t>
            </a:r>
            <a:r>
              <a:rPr lang="en-ID" dirty="0" err="1"/>
              <a:t>sistem</a:t>
            </a:r>
            <a:r>
              <a:rPr lang="en-ID" dirty="0"/>
              <a:t> yang </a:t>
            </a:r>
            <a:r>
              <a:rPr lang="en-ID" dirty="0" err="1"/>
              <a:t>berskala</a:t>
            </a:r>
            <a:r>
              <a:rPr lang="en-ID" dirty="0"/>
              <a:t> </a:t>
            </a:r>
            <a:r>
              <a:rPr lang="en-ID" dirty="0" err="1"/>
              <a:t>besar</a:t>
            </a:r>
            <a:r>
              <a:rPr lang="en-ID" dirty="0"/>
              <a:t> </a:t>
            </a:r>
            <a:r>
              <a:rPr lang="en-ID" dirty="0" err="1"/>
              <a:t>atau</a:t>
            </a:r>
            <a:r>
              <a:rPr lang="en-ID" dirty="0"/>
              <a:t> sangat </a:t>
            </a:r>
            <a:r>
              <a:rPr lang="en-ID" dirty="0" err="1"/>
              <a:t>kompleks</a:t>
            </a:r>
            <a:endParaRPr lang="en-ID" dirty="0"/>
          </a:p>
          <a:p>
            <a:r>
              <a:rPr lang="en-ID" b="1" dirty="0" err="1"/>
              <a:t>Ketergantungan</a:t>
            </a:r>
            <a:r>
              <a:rPr lang="en-ID" b="1" dirty="0"/>
              <a:t> pada </a:t>
            </a:r>
            <a:r>
              <a:rPr lang="en-ID" b="1" dirty="0" err="1"/>
              <a:t>Pengguna</a:t>
            </a:r>
            <a:r>
              <a:rPr lang="en-ID" b="1" dirty="0"/>
              <a:t>:</a:t>
            </a:r>
            <a:r>
              <a:rPr lang="en-ID" dirty="0"/>
              <a:t> Jika </a:t>
            </a:r>
            <a:r>
              <a:rPr lang="en-ID" dirty="0" err="1"/>
              <a:t>pengguna</a:t>
            </a:r>
            <a:r>
              <a:rPr lang="en-ID" dirty="0"/>
              <a:t> </a:t>
            </a:r>
            <a:r>
              <a:rPr lang="en-ID" dirty="0" err="1"/>
              <a:t>atau</a:t>
            </a:r>
            <a:r>
              <a:rPr lang="en-ID" dirty="0"/>
              <a:t> </a:t>
            </a:r>
            <a:r>
              <a:rPr lang="en-ID" i="1" dirty="0"/>
              <a:t>stakeholder</a:t>
            </a:r>
            <a:r>
              <a:rPr lang="en-ID" dirty="0"/>
              <a:t> </a:t>
            </a:r>
            <a:r>
              <a:rPr lang="en-ID" dirty="0" err="1"/>
              <a:t>tidak</a:t>
            </a:r>
            <a:r>
              <a:rPr lang="en-ID" dirty="0"/>
              <a:t> </a:t>
            </a:r>
            <a:r>
              <a:rPr lang="en-ID" dirty="0" err="1"/>
              <a:t>kooperatif</a:t>
            </a:r>
            <a:r>
              <a:rPr lang="en-ID" dirty="0"/>
              <a:t> </a:t>
            </a:r>
            <a:r>
              <a:rPr lang="en-ID" dirty="0" err="1"/>
              <a:t>atau</a:t>
            </a:r>
            <a:r>
              <a:rPr lang="en-ID" dirty="0"/>
              <a:t> </a:t>
            </a:r>
            <a:r>
              <a:rPr lang="en-ID" dirty="0" err="1"/>
              <a:t>jarang</a:t>
            </a:r>
            <a:r>
              <a:rPr lang="en-ID" dirty="0"/>
              <a:t> </a:t>
            </a:r>
            <a:r>
              <a:rPr lang="en-ID" dirty="0" err="1"/>
              <a:t>memberi</a:t>
            </a:r>
            <a:r>
              <a:rPr lang="en-ID" dirty="0"/>
              <a:t> </a:t>
            </a:r>
            <a:r>
              <a:rPr lang="en-ID" dirty="0" err="1"/>
              <a:t>waktu</a:t>
            </a:r>
            <a:r>
              <a:rPr lang="en-ID" dirty="0"/>
              <a:t>, proses </a:t>
            </a:r>
            <a:r>
              <a:rPr lang="en-ID" dirty="0" err="1"/>
              <a:t>pengembangan</a:t>
            </a:r>
            <a:r>
              <a:rPr lang="en-ID" dirty="0"/>
              <a:t> </a:t>
            </a:r>
            <a:r>
              <a:rPr lang="en-ID" dirty="0" err="1"/>
              <a:t>bisa</a:t>
            </a:r>
            <a:r>
              <a:rPr lang="en-ID" dirty="0"/>
              <a:t> </a:t>
            </a:r>
            <a:r>
              <a:rPr lang="en-ID" dirty="0" err="1"/>
              <a:t>terhambat</a:t>
            </a:r>
            <a:r>
              <a:rPr lang="en-ID" dirty="0"/>
              <a:t> dan </a:t>
            </a:r>
            <a:r>
              <a:rPr lang="en-ID" dirty="0" err="1"/>
              <a:t>hasil</a:t>
            </a:r>
            <a:r>
              <a:rPr lang="en-ID" dirty="0"/>
              <a:t> </a:t>
            </a:r>
            <a:r>
              <a:rPr lang="en-ID" dirty="0" err="1"/>
              <a:t>menjadi</a:t>
            </a:r>
            <a:r>
              <a:rPr lang="en-ID" dirty="0"/>
              <a:t> </a:t>
            </a:r>
            <a:r>
              <a:rPr lang="en-ID" dirty="0" err="1"/>
              <a:t>kurang</a:t>
            </a:r>
            <a:r>
              <a:rPr lang="en-ID" dirty="0"/>
              <a:t> optimal</a:t>
            </a:r>
          </a:p>
          <a:p>
            <a:r>
              <a:rPr lang="en-ID" b="1" dirty="0" err="1"/>
              <a:t>Membutuhkan</a:t>
            </a:r>
            <a:r>
              <a:rPr lang="en-ID" b="1" dirty="0"/>
              <a:t> Tim yang Solid:</a:t>
            </a:r>
            <a:r>
              <a:rPr lang="en-ID" dirty="0"/>
              <a:t> </a:t>
            </a:r>
            <a:r>
              <a:rPr lang="en-ID" dirty="0" err="1"/>
              <a:t>Menuntut</a:t>
            </a:r>
            <a:r>
              <a:rPr lang="en-ID" dirty="0"/>
              <a:t> </a:t>
            </a:r>
            <a:r>
              <a:rPr lang="en-ID" dirty="0" err="1"/>
              <a:t>kolaborasi</a:t>
            </a:r>
            <a:r>
              <a:rPr lang="en-ID" dirty="0"/>
              <a:t>, </a:t>
            </a:r>
            <a:r>
              <a:rPr lang="en-ID" dirty="0" err="1"/>
              <a:t>keterampilan</a:t>
            </a:r>
            <a:r>
              <a:rPr lang="en-ID" dirty="0"/>
              <a:t>, dan </a:t>
            </a:r>
            <a:r>
              <a:rPr lang="en-ID" dirty="0" err="1"/>
              <a:t>komitmen</a:t>
            </a:r>
            <a:r>
              <a:rPr lang="en-ID" dirty="0"/>
              <a:t> </a:t>
            </a:r>
            <a:r>
              <a:rPr lang="en-ID" dirty="0" err="1"/>
              <a:t>tinggi</a:t>
            </a:r>
            <a:r>
              <a:rPr lang="en-ID" dirty="0"/>
              <a:t> </a:t>
            </a:r>
            <a:r>
              <a:rPr lang="en-ID" dirty="0" err="1"/>
              <a:t>dari</a:t>
            </a:r>
            <a:r>
              <a:rPr lang="en-ID" dirty="0"/>
              <a:t> </a:t>
            </a:r>
            <a:r>
              <a:rPr lang="en-ID" dirty="0" err="1"/>
              <a:t>seluruh</a:t>
            </a:r>
            <a:r>
              <a:rPr lang="en-ID" dirty="0"/>
              <a:t> </a:t>
            </a:r>
            <a:r>
              <a:rPr lang="en-ID" dirty="0" err="1"/>
              <a:t>anggota</a:t>
            </a:r>
            <a:r>
              <a:rPr lang="en-ID" dirty="0"/>
              <a:t> </a:t>
            </a:r>
            <a:r>
              <a:rPr lang="en-ID" dirty="0" err="1"/>
              <a:t>tim</a:t>
            </a:r>
            <a:r>
              <a:rPr lang="en-ID" dirty="0"/>
              <a:t> </a:t>
            </a:r>
            <a:r>
              <a:rPr lang="en-ID" dirty="0" err="1"/>
              <a:t>pengembang</a:t>
            </a:r>
            <a:endParaRPr lang="en-ID" dirty="0"/>
          </a:p>
          <a:p>
            <a:r>
              <a:rPr lang="en-ID" b="1" dirty="0" err="1"/>
              <a:t>Manajemen</a:t>
            </a:r>
            <a:r>
              <a:rPr lang="en-ID" b="1" dirty="0"/>
              <a:t> yang Rumit:</a:t>
            </a:r>
            <a:r>
              <a:rPr lang="en-ID" dirty="0"/>
              <a:t> </a:t>
            </a:r>
            <a:r>
              <a:rPr lang="en-ID" dirty="0" err="1"/>
              <a:t>Fleksibilitas</a:t>
            </a:r>
            <a:r>
              <a:rPr lang="en-ID" dirty="0"/>
              <a:t> </a:t>
            </a:r>
            <a:r>
              <a:rPr lang="en-ID" dirty="0" err="1"/>
              <a:t>tinggi</a:t>
            </a:r>
            <a:r>
              <a:rPr lang="en-ID" dirty="0"/>
              <a:t> </a:t>
            </a:r>
            <a:r>
              <a:rPr lang="en-ID" dirty="0" err="1"/>
              <a:t>rentan</a:t>
            </a:r>
            <a:r>
              <a:rPr lang="en-ID" dirty="0"/>
              <a:t> </a:t>
            </a:r>
            <a:r>
              <a:rPr lang="en-ID" dirty="0" err="1"/>
              <a:t>memicu</a:t>
            </a:r>
            <a:r>
              <a:rPr lang="en-ID" dirty="0"/>
              <a:t> </a:t>
            </a:r>
            <a:r>
              <a:rPr lang="en-ID" dirty="0" err="1"/>
              <a:t>penambahan</a:t>
            </a:r>
            <a:r>
              <a:rPr lang="en-ID" dirty="0"/>
              <a:t> </a:t>
            </a:r>
            <a:r>
              <a:rPr lang="en-ID" dirty="0" err="1"/>
              <a:t>ruang</a:t>
            </a:r>
            <a:r>
              <a:rPr lang="en-ID" dirty="0"/>
              <a:t> </a:t>
            </a:r>
            <a:r>
              <a:rPr lang="en-ID" dirty="0" err="1"/>
              <a:t>lingkup</a:t>
            </a:r>
            <a:r>
              <a:rPr lang="en-ID" dirty="0"/>
              <a:t> </a:t>
            </a:r>
            <a:r>
              <a:rPr lang="en-ID" dirty="0" err="1"/>
              <a:t>pekerjaan</a:t>
            </a:r>
            <a:r>
              <a:rPr lang="en-ID" dirty="0"/>
              <a:t> (</a:t>
            </a:r>
            <a:r>
              <a:rPr lang="en-ID" i="1" dirty="0"/>
              <a:t>scope creep</a:t>
            </a:r>
            <a:r>
              <a:rPr lang="en-ID" dirty="0"/>
              <a:t>) </a:t>
            </a:r>
            <a:r>
              <a:rPr lang="en-ID" dirty="0" err="1"/>
              <a:t>jika</a:t>
            </a:r>
            <a:r>
              <a:rPr lang="en-ID" dirty="0"/>
              <a:t> </a:t>
            </a:r>
            <a:r>
              <a:rPr lang="en-ID" dirty="0" err="1"/>
              <a:t>tidak</a:t>
            </a:r>
            <a:r>
              <a:rPr lang="en-ID" dirty="0"/>
              <a:t> </a:t>
            </a:r>
            <a:r>
              <a:rPr lang="en-ID" dirty="0" err="1"/>
              <a:t>dikendalikan</a:t>
            </a:r>
            <a:r>
              <a:rPr lang="en-ID" dirty="0"/>
              <a:t> </a:t>
            </a:r>
            <a:r>
              <a:rPr lang="en-ID" dirty="0" err="1"/>
              <a:t>dengan</a:t>
            </a:r>
            <a:r>
              <a:rPr lang="en-ID" dirty="0"/>
              <a:t> </a:t>
            </a:r>
            <a:r>
              <a:rPr lang="en-ID" dirty="0" err="1"/>
              <a:t>baik</a:t>
            </a:r>
            <a:endParaRPr lang="en-ID" dirty="0"/>
          </a:p>
        </p:txBody>
      </p:sp>
      <p:sp>
        <p:nvSpPr>
          <p:cNvPr id="4" name="Title 3">
            <a:extLst>
              <a:ext uri="{FF2B5EF4-FFF2-40B4-BE49-F238E27FC236}">
                <a16:creationId xmlns:a16="http://schemas.microsoft.com/office/drawing/2014/main" id="{BFFA9922-5132-A383-7BD8-56B9B6FFD7D5}"/>
              </a:ext>
            </a:extLst>
          </p:cNvPr>
          <p:cNvSpPr>
            <a:spLocks noGrp="1"/>
          </p:cNvSpPr>
          <p:nvPr>
            <p:ph type="title"/>
          </p:nvPr>
        </p:nvSpPr>
        <p:spPr/>
        <p:txBody>
          <a:bodyPr/>
          <a:lstStyle/>
          <a:p>
            <a:r>
              <a:rPr lang="en-US" dirty="0" err="1"/>
              <a:t>Kekurangan</a:t>
            </a:r>
            <a:r>
              <a:rPr lang="en-US" dirty="0"/>
              <a:t> Model Prototyping</a:t>
            </a:r>
            <a:endParaRPr lang="en-ID" dirty="0"/>
          </a:p>
        </p:txBody>
      </p:sp>
    </p:spTree>
    <p:extLst>
      <p:ext uri="{BB962C8B-B14F-4D97-AF65-F5344CB8AC3E}">
        <p14:creationId xmlns:p14="http://schemas.microsoft.com/office/powerpoint/2010/main" val="1341564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819400"/>
            <a:ext cx="8243887" cy="1314450"/>
          </a:xfrm>
        </p:spPr>
        <p:txBody>
          <a:bodyPr>
            <a:normAutofit/>
          </a:bodyPr>
          <a:lstStyle/>
          <a:p>
            <a:pPr algn="ctr"/>
            <a:r>
              <a:rPr lang="en-US" sz="5400">
                <a:solidFill>
                  <a:schemeClr val="tx1"/>
                </a:solidFill>
                <a:effectLst/>
              </a:rPr>
              <a:t>Terimakasih</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444</TotalTime>
  <Words>897</Words>
  <Application>Microsoft Office PowerPoint</Application>
  <PresentationFormat>On-screen Show (4:3)</PresentationFormat>
  <Paragraphs>83</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Lucida Sans Unicode</vt:lpstr>
      <vt:lpstr>Verdana</vt:lpstr>
      <vt:lpstr>Wingdings</vt:lpstr>
      <vt:lpstr>Wingdings 2</vt:lpstr>
      <vt:lpstr>Wingdings 3</vt:lpstr>
      <vt:lpstr>Concourse</vt:lpstr>
      <vt:lpstr>Model SDLC Waterfall &amp; Prototyping</vt:lpstr>
      <vt:lpstr>Definisi Model SDLC</vt:lpstr>
      <vt:lpstr>Model-Model Populer SDLC</vt:lpstr>
      <vt:lpstr>Model-Model Populer SDLC</vt:lpstr>
      <vt:lpstr>Model Waterfall</vt:lpstr>
      <vt:lpstr>Model Waterfall</vt:lpstr>
      <vt:lpstr>Waterfall (Analysis)</vt:lpstr>
      <vt:lpstr>Waterfall (Design)</vt:lpstr>
      <vt:lpstr>Waterfall (Code)</vt:lpstr>
      <vt:lpstr>Waterfall (Test)</vt:lpstr>
      <vt:lpstr>Waterfall (Maintenance)</vt:lpstr>
      <vt:lpstr>Kelebihan Model Waterfall</vt:lpstr>
      <vt:lpstr>Kekurangan Model Waterfall</vt:lpstr>
      <vt:lpstr>Model Prototyping</vt:lpstr>
      <vt:lpstr>Model Prototyping</vt:lpstr>
      <vt:lpstr>Model Prototyping</vt:lpstr>
      <vt:lpstr>Model Prototyping</vt:lpstr>
      <vt:lpstr>Model Prototyping</vt:lpstr>
      <vt:lpstr>Tahapan Prototyping</vt:lpstr>
      <vt:lpstr>Kelebihan Model Prototyping</vt:lpstr>
      <vt:lpstr>Kekurangan Model Prototyping</vt:lpstr>
      <vt:lpstr>Terimakasih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Proses (Paradigma Rekayasa Perangkat Lunak)</dc:title>
  <dc:creator>kertiasih</dc:creator>
  <cp:lastModifiedBy>girihardana@gmail.com</cp:lastModifiedBy>
  <cp:revision>52</cp:revision>
  <dcterms:created xsi:type="dcterms:W3CDTF">2009-01-28T03:26:54Z</dcterms:created>
  <dcterms:modified xsi:type="dcterms:W3CDTF">2026-10-16T02:02:15Z</dcterms:modified>
</cp:coreProperties>
</file>