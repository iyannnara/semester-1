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notesMasterIdLst>
    <p:notesMasterId r:id="rId26"/>
  </p:notesMasterIdLst>
  <p:handoutMasterIdLst>
    <p:handoutMasterId r:id="rId27"/>
  </p:handoutMasterIdLst>
  <p:sldIdLst>
    <p:sldId id="256" r:id="rId2"/>
    <p:sldId id="305" r:id="rId3"/>
    <p:sldId id="311" r:id="rId4"/>
    <p:sldId id="306" r:id="rId5"/>
    <p:sldId id="312" r:id="rId6"/>
    <p:sldId id="313" r:id="rId7"/>
    <p:sldId id="298" r:id="rId8"/>
    <p:sldId id="299" r:id="rId9"/>
    <p:sldId id="308" r:id="rId10"/>
    <p:sldId id="300" r:id="rId11"/>
    <p:sldId id="309" r:id="rId12"/>
    <p:sldId id="314" r:id="rId13"/>
    <p:sldId id="315" r:id="rId14"/>
    <p:sldId id="303" r:id="rId15"/>
    <p:sldId id="319" r:id="rId16"/>
    <p:sldId id="320" r:id="rId17"/>
    <p:sldId id="310" r:id="rId18"/>
    <p:sldId id="321" r:id="rId19"/>
    <p:sldId id="307" r:id="rId20"/>
    <p:sldId id="304" r:id="rId21"/>
    <p:sldId id="316" r:id="rId22"/>
    <p:sldId id="318" r:id="rId23"/>
    <p:sldId id="322" r:id="rId24"/>
    <p:sldId id="302" r:id="rId2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3" d="100"/>
          <a:sy n="53" d="100"/>
        </p:scale>
        <p:origin x="32" y="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6656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6656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6656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89685817-C8B2-4BE8-921B-511A5AF4EC57}"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065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27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7066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066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066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4C2E86E5-6A05-4AD7-980F-8E49D5A98953}"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pPr>
              <a:defRPr/>
            </a:pPr>
            <a:fld id="{4C2E86E5-6A05-4AD7-980F-8E49D5A98953}" type="slidenum">
              <a:rPr lang="en-US" smtClean="0"/>
              <a:pPr>
                <a:defRPr/>
              </a:pPr>
              <a:t>23</a:t>
            </a:fld>
            <a:endParaRPr lang="en-US"/>
          </a:p>
        </p:txBody>
      </p:sp>
    </p:spTree>
    <p:extLst>
      <p:ext uri="{BB962C8B-B14F-4D97-AF65-F5344CB8AC3E}">
        <p14:creationId xmlns:p14="http://schemas.microsoft.com/office/powerpoint/2010/main" val="1853715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dirty="0"/>
          </a:p>
        </p:txBody>
      </p:sp>
      <p:sp>
        <p:nvSpPr>
          <p:cNvPr id="4" name="Slide Number Placeholder 3"/>
          <p:cNvSpPr>
            <a:spLocks noGrp="1"/>
          </p:cNvSpPr>
          <p:nvPr>
            <p:ph type="sldNum" sz="quarter" idx="5"/>
          </p:nvPr>
        </p:nvSpPr>
        <p:spPr/>
        <p:txBody>
          <a:bodyPr/>
          <a:lstStyle/>
          <a:p>
            <a:pPr>
              <a:defRPr/>
            </a:pPr>
            <a:fld id="{4C2E86E5-6A05-4AD7-980F-8E49D5A98953}" type="slidenum">
              <a:rPr lang="en-US" smtClean="0"/>
              <a:pPr>
                <a:defRPr/>
              </a:pPr>
              <a:t>24</a:t>
            </a:fld>
            <a:endParaRPr lang="en-US"/>
          </a:p>
        </p:txBody>
      </p:sp>
    </p:spTree>
    <p:extLst>
      <p:ext uri="{BB962C8B-B14F-4D97-AF65-F5344CB8AC3E}">
        <p14:creationId xmlns:p14="http://schemas.microsoft.com/office/powerpoint/2010/main" val="27804188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07E79B95-ACF8-4288-B325-57BB7DA24977}"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21C81BE-0583-403C-A0C5-A62C1235EA97}" type="slidenum">
              <a:rPr lang="en-US" smtClean="0"/>
              <a:pPr>
                <a:defRPr/>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DA0886A-02A7-45DB-A069-6BF81976D88C}" type="slidenum">
              <a:rPr lang="en-US" smtClean="0"/>
              <a:pPr>
                <a:defRPr/>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99AA6E76-E375-4A4D-9277-A070CE5FD552}" type="slidenum">
              <a:rPr lang="en-US" smtClean="0"/>
              <a:pPr>
                <a:defRPr/>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B00B9866-DB37-42EA-8C62-808B38348A3C}"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1EE8A5CB-7A84-40D8-99D5-E584A8134882}" type="slidenum">
              <a:rPr lang="en-US" smtClean="0"/>
              <a:pPr>
                <a:defRPr/>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6BFD28AF-0066-41C6-8143-7318A494A259}"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2670F90-4CF0-4CCE-B714-1DD7B72AD1FF}"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ECF54C99-2478-4AB4-94D8-8038D59F8599}" type="slidenum">
              <a:rPr lang="en-US" smtClean="0"/>
              <a:pPr>
                <a:defRPr/>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49861F0-B92D-4BF1-B15A-A6550930A6AB}"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01FA471-598C-41F9-9C3D-0E780C1E3819}"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19DF6871-2F51-489E-B0B3-1C08ED80FA5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143000" y="2286000"/>
            <a:ext cx="7315200" cy="1447800"/>
          </a:xfrm>
        </p:spPr>
        <p:txBody>
          <a:bodyPr>
            <a:normAutofit/>
          </a:bodyPr>
          <a:lstStyle/>
          <a:p>
            <a:pPr>
              <a:defRPr/>
            </a:pPr>
            <a:r>
              <a:rPr lang="fi-FI" sz="4400" dirty="0">
                <a:solidFill>
                  <a:schemeClr val="tx1"/>
                </a:solidFill>
                <a:effectLst/>
              </a:rPr>
              <a:t>Model SDLC</a:t>
            </a:r>
            <a:br>
              <a:rPr lang="fi-FI" sz="4400" dirty="0">
                <a:solidFill>
                  <a:schemeClr val="tx1"/>
                </a:solidFill>
                <a:effectLst/>
              </a:rPr>
            </a:br>
            <a:r>
              <a:rPr lang="fi-FI" sz="4400" dirty="0">
                <a:solidFill>
                  <a:schemeClr val="tx1"/>
                </a:solidFill>
                <a:effectLst/>
              </a:rPr>
              <a:t>Spiral, RAD, dan Iterative</a:t>
            </a:r>
            <a:endParaRPr lang="en-US" sz="4400" dirty="0">
              <a:solidFill>
                <a:schemeClr val="tx1"/>
              </a:solidFill>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B9764F-A55C-BCF1-B780-6EEE3B1FC150}"/>
              </a:ext>
            </a:extLst>
          </p:cNvPr>
          <p:cNvSpPr>
            <a:spLocks noGrp="1"/>
          </p:cNvSpPr>
          <p:nvPr>
            <p:ph idx="1"/>
          </p:nvPr>
        </p:nvSpPr>
        <p:spPr/>
        <p:txBody>
          <a:bodyPr>
            <a:normAutofit/>
          </a:bodyPr>
          <a:lstStyle/>
          <a:p>
            <a:r>
              <a:rPr lang="en-ID" sz="2400" dirty="0"/>
              <a:t>Model spiral </a:t>
            </a:r>
            <a:r>
              <a:rPr lang="en-ID" sz="2400" dirty="0" err="1"/>
              <a:t>adalah</a:t>
            </a:r>
            <a:r>
              <a:rPr lang="en-ID" sz="2400" dirty="0"/>
              <a:t> </a:t>
            </a:r>
            <a:r>
              <a:rPr lang="en-ID" sz="2400" dirty="0" err="1"/>
              <a:t>metode</a:t>
            </a:r>
            <a:r>
              <a:rPr lang="en-ID" sz="2400" dirty="0"/>
              <a:t> </a:t>
            </a:r>
            <a:r>
              <a:rPr lang="en-ID" sz="2400" dirty="0" err="1"/>
              <a:t>pengembangan</a:t>
            </a:r>
            <a:r>
              <a:rPr lang="en-ID" sz="2400" dirty="0"/>
              <a:t> </a:t>
            </a:r>
            <a:r>
              <a:rPr lang="en-ID" sz="2400" dirty="0" err="1"/>
              <a:t>perangkat</a:t>
            </a:r>
            <a:r>
              <a:rPr lang="en-ID" sz="2400" dirty="0"/>
              <a:t> </a:t>
            </a:r>
            <a:r>
              <a:rPr lang="en-ID" sz="2400" dirty="0" err="1"/>
              <a:t>lunak</a:t>
            </a:r>
            <a:r>
              <a:rPr lang="en-ID" sz="2400" dirty="0"/>
              <a:t> yang </a:t>
            </a:r>
            <a:r>
              <a:rPr lang="en-ID" sz="2400" dirty="0" err="1"/>
              <a:t>menggabungkan</a:t>
            </a:r>
            <a:r>
              <a:rPr lang="en-ID" sz="2400" dirty="0"/>
              <a:t> </a:t>
            </a:r>
            <a:r>
              <a:rPr lang="en-ID" sz="2400" dirty="0" err="1"/>
              <a:t>pendekatan</a:t>
            </a:r>
            <a:r>
              <a:rPr lang="en-ID" sz="2400" dirty="0"/>
              <a:t> </a:t>
            </a:r>
            <a:r>
              <a:rPr lang="en-ID" sz="2400" dirty="0" err="1"/>
              <a:t>iteratif</a:t>
            </a:r>
            <a:r>
              <a:rPr lang="en-ID" sz="2400" dirty="0"/>
              <a:t> </a:t>
            </a:r>
            <a:r>
              <a:rPr lang="en-ID" sz="2400" dirty="0" err="1"/>
              <a:t>dengan</a:t>
            </a:r>
            <a:r>
              <a:rPr lang="en-ID" sz="2400" dirty="0"/>
              <a:t> </a:t>
            </a:r>
            <a:r>
              <a:rPr lang="en-ID" sz="2400" dirty="0" err="1"/>
              <a:t>kontrol</a:t>
            </a:r>
            <a:r>
              <a:rPr lang="en-ID" sz="2400" dirty="0"/>
              <a:t> </a:t>
            </a:r>
            <a:r>
              <a:rPr lang="en-ID" sz="2400" dirty="0" err="1"/>
              <a:t>sistematis</a:t>
            </a:r>
            <a:r>
              <a:rPr lang="en-ID" sz="2400" dirty="0"/>
              <a:t> yang </a:t>
            </a:r>
            <a:r>
              <a:rPr lang="en-ID" sz="2400" dirty="0" err="1"/>
              <a:t>berfokus</a:t>
            </a:r>
            <a:r>
              <a:rPr lang="en-ID" sz="2400" dirty="0"/>
              <a:t> pada </a:t>
            </a:r>
            <a:r>
              <a:rPr lang="en-ID" sz="2400" dirty="0" err="1"/>
              <a:t>analisis</a:t>
            </a:r>
            <a:r>
              <a:rPr lang="en-ID" sz="2400" dirty="0"/>
              <a:t> dan </a:t>
            </a:r>
            <a:r>
              <a:rPr lang="en-ID" sz="2400" dirty="0" err="1"/>
              <a:t>manajemen</a:t>
            </a:r>
            <a:r>
              <a:rPr lang="en-ID" sz="2400" dirty="0"/>
              <a:t> </a:t>
            </a:r>
            <a:r>
              <a:rPr lang="en-ID" sz="2400" dirty="0" err="1"/>
              <a:t>risiko</a:t>
            </a:r>
            <a:endParaRPr lang="en-ID" sz="2400" dirty="0"/>
          </a:p>
          <a:p>
            <a:r>
              <a:rPr lang="en-ID" sz="2400" dirty="0"/>
              <a:t>Model Spiral </a:t>
            </a:r>
            <a:r>
              <a:rPr lang="en-ID" sz="2400" dirty="0" err="1"/>
              <a:t>adalah</a:t>
            </a:r>
            <a:r>
              <a:rPr lang="en-ID" sz="2400" dirty="0"/>
              <a:t> </a:t>
            </a:r>
            <a:r>
              <a:rPr lang="en-ID" sz="2400" dirty="0" err="1"/>
              <a:t>gabungan</a:t>
            </a:r>
            <a:r>
              <a:rPr lang="en-ID" sz="2400" dirty="0"/>
              <a:t> </a:t>
            </a:r>
            <a:r>
              <a:rPr lang="en-ID" sz="2400" dirty="0" err="1"/>
              <a:t>dari</a:t>
            </a:r>
            <a:r>
              <a:rPr lang="en-ID" sz="2400" dirty="0"/>
              <a:t> Iterative dan Waterfall Model, di mana </a:t>
            </a:r>
            <a:r>
              <a:rPr lang="en-ID" sz="2400" dirty="0" err="1"/>
              <a:t>setiap</a:t>
            </a:r>
            <a:r>
              <a:rPr lang="en-ID" sz="2400" dirty="0"/>
              <a:t> </a:t>
            </a:r>
            <a:r>
              <a:rPr lang="en-ID" sz="2400" dirty="0" err="1"/>
              <a:t>iterasi</a:t>
            </a:r>
            <a:r>
              <a:rPr lang="en-ID" sz="2400" dirty="0"/>
              <a:t> </a:t>
            </a:r>
            <a:r>
              <a:rPr lang="en-ID" sz="2400" dirty="0" err="1"/>
              <a:t>disebut</a:t>
            </a:r>
            <a:r>
              <a:rPr lang="en-ID" sz="2400" dirty="0"/>
              <a:t> </a:t>
            </a:r>
            <a:r>
              <a:rPr lang="en-ID" sz="2400" dirty="0" err="1"/>
              <a:t>sebagai</a:t>
            </a:r>
            <a:r>
              <a:rPr lang="en-ID" sz="2400" dirty="0"/>
              <a:t> “spiral”. </a:t>
            </a:r>
            <a:r>
              <a:rPr lang="en-ID" sz="2400" dirty="0" err="1"/>
              <a:t>Dalam</a:t>
            </a:r>
            <a:r>
              <a:rPr lang="en-ID" sz="2400" dirty="0"/>
              <a:t> </a:t>
            </a:r>
            <a:r>
              <a:rPr lang="en-ID" sz="2400" dirty="0" err="1"/>
              <a:t>setiap</a:t>
            </a:r>
            <a:r>
              <a:rPr lang="en-ID" sz="2400" dirty="0"/>
              <a:t> </a:t>
            </a:r>
            <a:r>
              <a:rPr lang="en-ID" sz="2400" dirty="0" err="1"/>
              <a:t>putaran</a:t>
            </a:r>
            <a:r>
              <a:rPr lang="en-ID" sz="2400" dirty="0"/>
              <a:t> spiral, </a:t>
            </a:r>
            <a:r>
              <a:rPr lang="en-ID" sz="2400" dirty="0" err="1"/>
              <a:t>dilakukan</a:t>
            </a:r>
            <a:r>
              <a:rPr lang="en-ID" sz="2400" dirty="0"/>
              <a:t> </a:t>
            </a:r>
            <a:r>
              <a:rPr lang="en-ID" sz="2400" dirty="0" err="1"/>
              <a:t>analisis</a:t>
            </a:r>
            <a:r>
              <a:rPr lang="en-ID" sz="2400" dirty="0"/>
              <a:t> </a:t>
            </a:r>
            <a:r>
              <a:rPr lang="en-ID" sz="2400" dirty="0" err="1"/>
              <a:t>risiko</a:t>
            </a:r>
            <a:r>
              <a:rPr lang="en-ID" sz="2400" dirty="0"/>
              <a:t> dan </a:t>
            </a:r>
            <a:r>
              <a:rPr lang="en-ID" sz="2400" dirty="0" err="1"/>
              <a:t>perencanaan</a:t>
            </a:r>
            <a:r>
              <a:rPr lang="en-ID" sz="2400" dirty="0"/>
              <a:t> yang </a:t>
            </a:r>
            <a:r>
              <a:rPr lang="en-ID" sz="2400" dirty="0" err="1"/>
              <a:t>matang</a:t>
            </a:r>
            <a:r>
              <a:rPr lang="en-ID" sz="2400" dirty="0"/>
              <a:t>. </a:t>
            </a:r>
          </a:p>
          <a:p>
            <a:pPr marL="109728" indent="0">
              <a:buNone/>
            </a:pPr>
            <a:endParaRPr lang="en-ID" dirty="0"/>
          </a:p>
        </p:txBody>
      </p:sp>
      <p:sp>
        <p:nvSpPr>
          <p:cNvPr id="4" name="Title 3">
            <a:extLst>
              <a:ext uri="{FF2B5EF4-FFF2-40B4-BE49-F238E27FC236}">
                <a16:creationId xmlns:a16="http://schemas.microsoft.com/office/drawing/2014/main" id="{E9A312D5-20A1-EFE3-FCCB-9FA5A61F066D}"/>
              </a:ext>
            </a:extLst>
          </p:cNvPr>
          <p:cNvSpPr>
            <a:spLocks noGrp="1"/>
          </p:cNvSpPr>
          <p:nvPr>
            <p:ph type="title"/>
          </p:nvPr>
        </p:nvSpPr>
        <p:spPr/>
        <p:txBody>
          <a:bodyPr/>
          <a:lstStyle/>
          <a:p>
            <a:r>
              <a:rPr lang="en-US" dirty="0"/>
              <a:t>Model Spiral</a:t>
            </a:r>
            <a:endParaRPr lang="en-ID" dirty="0"/>
          </a:p>
        </p:txBody>
      </p:sp>
    </p:spTree>
    <p:extLst>
      <p:ext uri="{BB962C8B-B14F-4D97-AF65-F5344CB8AC3E}">
        <p14:creationId xmlns:p14="http://schemas.microsoft.com/office/powerpoint/2010/main" val="3560866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319E8C-48C6-75E2-F99F-E3DF99BD372F}"/>
              </a:ext>
            </a:extLst>
          </p:cNvPr>
          <p:cNvSpPr>
            <a:spLocks noGrp="1"/>
          </p:cNvSpPr>
          <p:nvPr>
            <p:ph idx="1"/>
          </p:nvPr>
        </p:nvSpPr>
        <p:spPr/>
        <p:txBody>
          <a:bodyPr>
            <a:normAutofit fontScale="92500" lnSpcReduction="20000"/>
          </a:bodyPr>
          <a:lstStyle/>
          <a:p>
            <a:pPr lvl="0"/>
            <a:r>
              <a:rPr lang="en-ID" b="1" dirty="0" err="1"/>
              <a:t>Perencanaan</a:t>
            </a:r>
            <a:r>
              <a:rPr lang="en-ID" b="1" dirty="0"/>
              <a:t> (</a:t>
            </a:r>
            <a:r>
              <a:rPr lang="en-ID" b="1" dirty="0" err="1"/>
              <a:t>Penetapan</a:t>
            </a:r>
            <a:r>
              <a:rPr lang="en-ID" b="1" dirty="0"/>
              <a:t> Tujuan):</a:t>
            </a:r>
            <a:r>
              <a:rPr lang="en-ID" dirty="0"/>
              <a:t> </a:t>
            </a:r>
            <a:r>
              <a:rPr lang="en-ID" dirty="0" err="1"/>
              <a:t>Mengidentifikasi</a:t>
            </a:r>
            <a:r>
              <a:rPr lang="en-ID" dirty="0"/>
              <a:t> </a:t>
            </a:r>
            <a:r>
              <a:rPr lang="en-ID" dirty="0" err="1"/>
              <a:t>tujuan</a:t>
            </a:r>
            <a:r>
              <a:rPr lang="en-ID" dirty="0"/>
              <a:t>, </a:t>
            </a:r>
            <a:r>
              <a:rPr lang="en-ID" dirty="0" err="1"/>
              <a:t>persyaratan</a:t>
            </a:r>
            <a:r>
              <a:rPr lang="en-ID" dirty="0"/>
              <a:t> </a:t>
            </a:r>
            <a:r>
              <a:rPr lang="en-ID" dirty="0" err="1"/>
              <a:t>fungsional</a:t>
            </a:r>
            <a:r>
              <a:rPr lang="en-ID" dirty="0"/>
              <a:t>/non-</a:t>
            </a:r>
            <a:r>
              <a:rPr lang="en-ID" dirty="0" err="1"/>
              <a:t>fungsional</a:t>
            </a:r>
            <a:r>
              <a:rPr lang="en-ID" dirty="0"/>
              <a:t>, dan </a:t>
            </a:r>
            <a:r>
              <a:rPr lang="en-ID" dirty="0" err="1"/>
              <a:t>alternatif</a:t>
            </a:r>
            <a:r>
              <a:rPr lang="en-ID" dirty="0"/>
              <a:t> </a:t>
            </a:r>
            <a:r>
              <a:rPr lang="en-ID" dirty="0" err="1"/>
              <a:t>solusi</a:t>
            </a:r>
            <a:r>
              <a:rPr lang="en-ID" dirty="0"/>
              <a:t>.</a:t>
            </a:r>
          </a:p>
          <a:p>
            <a:pPr lvl="0"/>
            <a:r>
              <a:rPr lang="en-ID" b="1" dirty="0" err="1"/>
              <a:t>Analisis</a:t>
            </a:r>
            <a:r>
              <a:rPr lang="en-ID" b="1" dirty="0"/>
              <a:t> Risiko:</a:t>
            </a:r>
            <a:r>
              <a:rPr lang="en-ID" dirty="0"/>
              <a:t> </a:t>
            </a:r>
            <a:r>
              <a:rPr lang="en-ID" dirty="0" err="1"/>
              <a:t>Mengidentifikasi</a:t>
            </a:r>
            <a:r>
              <a:rPr lang="en-ID" dirty="0"/>
              <a:t>, </a:t>
            </a:r>
            <a:r>
              <a:rPr lang="en-ID" dirty="0" err="1"/>
              <a:t>menganalisis</a:t>
            </a:r>
            <a:r>
              <a:rPr lang="en-ID" dirty="0"/>
              <a:t>, dan </a:t>
            </a:r>
            <a:r>
              <a:rPr lang="en-ID" dirty="0" err="1"/>
              <a:t>mengurangi</a:t>
            </a:r>
            <a:r>
              <a:rPr lang="en-ID" dirty="0"/>
              <a:t> </a:t>
            </a:r>
            <a:r>
              <a:rPr lang="en-ID" dirty="0" err="1"/>
              <a:t>potensi</a:t>
            </a:r>
            <a:r>
              <a:rPr lang="en-ID" dirty="0"/>
              <a:t> </a:t>
            </a:r>
            <a:r>
              <a:rPr lang="en-ID" dirty="0" err="1"/>
              <a:t>risiko</a:t>
            </a:r>
            <a:r>
              <a:rPr lang="en-ID" dirty="0"/>
              <a:t> (</a:t>
            </a:r>
            <a:r>
              <a:rPr lang="en-ID" dirty="0" err="1"/>
              <a:t>biaya</a:t>
            </a:r>
            <a:r>
              <a:rPr lang="en-ID" dirty="0"/>
              <a:t>, </a:t>
            </a:r>
            <a:r>
              <a:rPr lang="en-ID" dirty="0" err="1"/>
              <a:t>teknologi</a:t>
            </a:r>
            <a:r>
              <a:rPr lang="en-ID" dirty="0"/>
              <a:t>, </a:t>
            </a:r>
            <a:r>
              <a:rPr lang="en-ID" dirty="0" err="1"/>
              <a:t>atau</a:t>
            </a:r>
            <a:r>
              <a:rPr lang="en-ID" dirty="0"/>
              <a:t> </a:t>
            </a:r>
            <a:r>
              <a:rPr lang="en-ID" dirty="0" err="1"/>
              <a:t>jadwal</a:t>
            </a:r>
            <a:r>
              <a:rPr lang="en-ID" dirty="0"/>
              <a:t>) </a:t>
            </a:r>
            <a:r>
              <a:rPr lang="en-ID" dirty="0" err="1"/>
              <a:t>melalui</a:t>
            </a:r>
            <a:r>
              <a:rPr lang="en-ID" dirty="0"/>
              <a:t> </a:t>
            </a:r>
            <a:r>
              <a:rPr lang="en-ID" dirty="0" err="1"/>
              <a:t>pembuatan</a:t>
            </a:r>
            <a:r>
              <a:rPr lang="en-ID" dirty="0"/>
              <a:t> </a:t>
            </a:r>
            <a:r>
              <a:rPr lang="en-ID" dirty="0" err="1"/>
              <a:t>prototipe</a:t>
            </a:r>
            <a:r>
              <a:rPr lang="en-ID" dirty="0"/>
              <a:t>.</a:t>
            </a:r>
          </a:p>
          <a:p>
            <a:pPr lvl="0"/>
            <a:r>
              <a:rPr lang="en-ID" b="1" dirty="0" err="1"/>
              <a:t>Rekayasa</a:t>
            </a:r>
            <a:r>
              <a:rPr lang="en-ID" b="1" dirty="0"/>
              <a:t> (</a:t>
            </a:r>
            <a:r>
              <a:rPr lang="en-ID" b="1" dirty="0" err="1"/>
              <a:t>Pengembangan</a:t>
            </a:r>
            <a:r>
              <a:rPr lang="en-ID" b="1" dirty="0"/>
              <a:t> &amp; </a:t>
            </a:r>
            <a:r>
              <a:rPr lang="en-ID" b="1" dirty="0" err="1"/>
              <a:t>Pengujian</a:t>
            </a:r>
            <a:r>
              <a:rPr lang="en-ID" b="1" dirty="0"/>
              <a:t>):</a:t>
            </a:r>
            <a:r>
              <a:rPr lang="en-ID" dirty="0"/>
              <a:t> </a:t>
            </a:r>
            <a:r>
              <a:rPr lang="en-ID" dirty="0" err="1"/>
              <a:t>Melakukan</a:t>
            </a:r>
            <a:r>
              <a:rPr lang="en-ID" dirty="0"/>
              <a:t> </a:t>
            </a:r>
            <a:r>
              <a:rPr lang="en-ID" dirty="0" err="1"/>
              <a:t>perancangan</a:t>
            </a:r>
            <a:r>
              <a:rPr lang="en-ID" dirty="0"/>
              <a:t>, </a:t>
            </a:r>
            <a:r>
              <a:rPr lang="en-ID" dirty="0" err="1"/>
              <a:t>pembuatan</a:t>
            </a:r>
            <a:r>
              <a:rPr lang="en-ID" dirty="0"/>
              <a:t> </a:t>
            </a:r>
            <a:r>
              <a:rPr lang="en-ID" dirty="0" err="1"/>
              <a:t>kode</a:t>
            </a:r>
            <a:r>
              <a:rPr lang="en-ID" dirty="0"/>
              <a:t>, </a:t>
            </a:r>
            <a:r>
              <a:rPr lang="en-ID" dirty="0" err="1"/>
              <a:t>pengujian</a:t>
            </a:r>
            <a:r>
              <a:rPr lang="en-ID" dirty="0"/>
              <a:t>, dan </a:t>
            </a:r>
            <a:r>
              <a:rPr lang="en-ID" dirty="0" err="1"/>
              <a:t>pengembangan</a:t>
            </a:r>
            <a:r>
              <a:rPr lang="en-ID" dirty="0"/>
              <a:t> </a:t>
            </a:r>
            <a:r>
              <a:rPr lang="en-ID" dirty="0" err="1"/>
              <a:t>versi</a:t>
            </a:r>
            <a:r>
              <a:rPr lang="en-ID" dirty="0"/>
              <a:t> </a:t>
            </a:r>
            <a:r>
              <a:rPr lang="en-ID" dirty="0" err="1"/>
              <a:t>produk</a:t>
            </a:r>
            <a:r>
              <a:rPr lang="en-ID" dirty="0"/>
              <a:t> yang </a:t>
            </a:r>
            <a:r>
              <a:rPr lang="en-ID" dirty="0" err="1"/>
              <a:t>berjalan</a:t>
            </a:r>
            <a:r>
              <a:rPr lang="en-ID" dirty="0"/>
              <a:t>.</a:t>
            </a:r>
          </a:p>
          <a:p>
            <a:pPr lvl="0"/>
            <a:r>
              <a:rPr lang="en-ID" b="1" dirty="0" err="1"/>
              <a:t>Evaluasi</a:t>
            </a:r>
            <a:r>
              <a:rPr lang="en-ID" b="1" dirty="0"/>
              <a:t> (</a:t>
            </a:r>
            <a:r>
              <a:rPr lang="en-ID" b="1" dirty="0" err="1"/>
              <a:t>Peninjauan</a:t>
            </a:r>
            <a:r>
              <a:rPr lang="en-ID" b="1" dirty="0"/>
              <a:t>):</a:t>
            </a:r>
            <a:r>
              <a:rPr lang="en-ID" dirty="0"/>
              <a:t> </a:t>
            </a:r>
            <a:r>
              <a:rPr lang="en-ID" dirty="0" err="1"/>
              <a:t>Mengumpulkan</a:t>
            </a:r>
            <a:r>
              <a:rPr lang="en-ID" dirty="0"/>
              <a:t> </a:t>
            </a:r>
            <a:r>
              <a:rPr lang="en-ID" dirty="0" err="1"/>
              <a:t>umpan</a:t>
            </a:r>
            <a:r>
              <a:rPr lang="en-ID" dirty="0"/>
              <a:t> </a:t>
            </a:r>
            <a:r>
              <a:rPr lang="en-ID" dirty="0" err="1"/>
              <a:t>balik</a:t>
            </a:r>
            <a:r>
              <a:rPr lang="en-ID" dirty="0"/>
              <a:t> </a:t>
            </a:r>
            <a:r>
              <a:rPr lang="en-ID" dirty="0" err="1"/>
              <a:t>dari</a:t>
            </a:r>
            <a:r>
              <a:rPr lang="en-ID" dirty="0"/>
              <a:t> </a:t>
            </a:r>
            <a:r>
              <a:rPr lang="en-ID" dirty="0" err="1"/>
              <a:t>pengguna</a:t>
            </a:r>
            <a:r>
              <a:rPr lang="en-ID" dirty="0"/>
              <a:t> </a:t>
            </a:r>
            <a:r>
              <a:rPr lang="en-ID" dirty="0" err="1"/>
              <a:t>atau</a:t>
            </a:r>
            <a:r>
              <a:rPr lang="en-ID" dirty="0"/>
              <a:t> </a:t>
            </a:r>
            <a:r>
              <a:rPr lang="en-ID" dirty="0" err="1"/>
              <a:t>pemangku</a:t>
            </a:r>
            <a:r>
              <a:rPr lang="en-ID" dirty="0"/>
              <a:t> </a:t>
            </a:r>
            <a:r>
              <a:rPr lang="en-ID" dirty="0" err="1"/>
              <a:t>kepentingan</a:t>
            </a:r>
            <a:r>
              <a:rPr lang="en-ID" dirty="0"/>
              <a:t> </a:t>
            </a:r>
            <a:r>
              <a:rPr lang="en-ID" dirty="0" err="1"/>
              <a:t>untuk</a:t>
            </a:r>
            <a:r>
              <a:rPr lang="en-ID" dirty="0"/>
              <a:t> </a:t>
            </a:r>
            <a:r>
              <a:rPr lang="en-ID" dirty="0" err="1"/>
              <a:t>merencanakan</a:t>
            </a:r>
            <a:r>
              <a:rPr lang="en-ID" dirty="0"/>
              <a:t> </a:t>
            </a:r>
            <a:r>
              <a:rPr lang="en-ID" dirty="0" err="1"/>
              <a:t>iterasi</a:t>
            </a:r>
            <a:r>
              <a:rPr lang="en-ID" dirty="0"/>
              <a:t> </a:t>
            </a:r>
            <a:r>
              <a:rPr lang="en-ID" dirty="0" err="1"/>
              <a:t>berikutnya</a:t>
            </a:r>
            <a:endParaRPr lang="en-ID" dirty="0"/>
          </a:p>
        </p:txBody>
      </p:sp>
      <p:sp>
        <p:nvSpPr>
          <p:cNvPr id="4" name="Title 3">
            <a:extLst>
              <a:ext uri="{FF2B5EF4-FFF2-40B4-BE49-F238E27FC236}">
                <a16:creationId xmlns:a16="http://schemas.microsoft.com/office/drawing/2014/main" id="{5D7DF549-050D-20B5-DEE2-55026866C7F1}"/>
              </a:ext>
            </a:extLst>
          </p:cNvPr>
          <p:cNvSpPr>
            <a:spLocks noGrp="1"/>
          </p:cNvSpPr>
          <p:nvPr>
            <p:ph type="title"/>
          </p:nvPr>
        </p:nvSpPr>
        <p:spPr/>
        <p:txBody>
          <a:bodyPr/>
          <a:lstStyle/>
          <a:p>
            <a:r>
              <a:rPr lang="en-ID" dirty="0" err="1"/>
              <a:t>Tahapan</a:t>
            </a:r>
            <a:r>
              <a:rPr lang="en-ID" dirty="0"/>
              <a:t> Utama Model Spiral</a:t>
            </a:r>
          </a:p>
        </p:txBody>
      </p:sp>
    </p:spTree>
    <p:extLst>
      <p:ext uri="{BB962C8B-B14F-4D97-AF65-F5344CB8AC3E}">
        <p14:creationId xmlns:p14="http://schemas.microsoft.com/office/powerpoint/2010/main" val="4243778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EB27C2-2601-73A3-A345-7CA7956B69C2}"/>
              </a:ext>
            </a:extLst>
          </p:cNvPr>
          <p:cNvSpPr>
            <a:spLocks noGrp="1"/>
          </p:cNvSpPr>
          <p:nvPr>
            <p:ph idx="1"/>
          </p:nvPr>
        </p:nvSpPr>
        <p:spPr/>
        <p:txBody>
          <a:bodyPr/>
          <a:lstStyle/>
          <a:p>
            <a:pPr lvl="0"/>
            <a:r>
              <a:rPr lang="en-ID" b="1" dirty="0" err="1"/>
              <a:t>Pengendalian</a:t>
            </a:r>
            <a:r>
              <a:rPr lang="en-ID" b="1" dirty="0"/>
              <a:t> Risiko yang Baik:</a:t>
            </a:r>
            <a:r>
              <a:rPr lang="en-ID" dirty="0"/>
              <a:t> Risiko </a:t>
            </a:r>
            <a:r>
              <a:rPr lang="en-ID" dirty="0" err="1"/>
              <a:t>besar</a:t>
            </a:r>
            <a:r>
              <a:rPr lang="en-ID" dirty="0"/>
              <a:t> </a:t>
            </a:r>
            <a:r>
              <a:rPr lang="en-ID" dirty="0" err="1"/>
              <a:t>diidentifikasi</a:t>
            </a:r>
            <a:r>
              <a:rPr lang="en-ID" dirty="0"/>
              <a:t> dan </a:t>
            </a:r>
            <a:r>
              <a:rPr lang="en-ID" dirty="0" err="1"/>
              <a:t>dimitigasi</a:t>
            </a:r>
            <a:r>
              <a:rPr lang="en-ID" dirty="0"/>
              <a:t> </a:t>
            </a:r>
            <a:r>
              <a:rPr lang="en-ID" dirty="0" err="1"/>
              <a:t>sejak</a:t>
            </a:r>
            <a:r>
              <a:rPr lang="en-ID" dirty="0"/>
              <a:t> </a:t>
            </a:r>
            <a:r>
              <a:rPr lang="en-ID" dirty="0" err="1"/>
              <a:t>dini</a:t>
            </a:r>
            <a:r>
              <a:rPr lang="en-ID" dirty="0"/>
              <a:t> di </a:t>
            </a:r>
            <a:r>
              <a:rPr lang="en-ID" dirty="0" err="1"/>
              <a:t>setiap</a:t>
            </a:r>
            <a:r>
              <a:rPr lang="en-ID" dirty="0"/>
              <a:t> </a:t>
            </a:r>
            <a:r>
              <a:rPr lang="en-ID" dirty="0" err="1"/>
              <a:t>siklus</a:t>
            </a:r>
            <a:r>
              <a:rPr lang="en-ID" dirty="0"/>
              <a:t>.</a:t>
            </a:r>
          </a:p>
          <a:p>
            <a:pPr lvl="0"/>
            <a:r>
              <a:rPr lang="en-ID" b="1" dirty="0" err="1"/>
              <a:t>Fleksibel</a:t>
            </a:r>
            <a:r>
              <a:rPr lang="en-ID" b="1" dirty="0"/>
              <a:t>:</a:t>
            </a:r>
            <a:r>
              <a:rPr lang="en-ID" dirty="0"/>
              <a:t> </a:t>
            </a:r>
            <a:r>
              <a:rPr lang="en-ID" dirty="0" err="1"/>
              <a:t>Perubahan</a:t>
            </a:r>
            <a:r>
              <a:rPr lang="en-ID" dirty="0"/>
              <a:t> </a:t>
            </a:r>
            <a:r>
              <a:rPr lang="en-ID" dirty="0" err="1"/>
              <a:t>persyaratan</a:t>
            </a:r>
            <a:r>
              <a:rPr lang="en-ID" dirty="0"/>
              <a:t> </a:t>
            </a:r>
            <a:r>
              <a:rPr lang="en-ID" dirty="0" err="1"/>
              <a:t>dapat</a:t>
            </a:r>
            <a:r>
              <a:rPr lang="en-ID" dirty="0"/>
              <a:t> </a:t>
            </a:r>
            <a:r>
              <a:rPr lang="en-ID" dirty="0" err="1"/>
              <a:t>diakomodasi</a:t>
            </a:r>
            <a:r>
              <a:rPr lang="en-ID" dirty="0"/>
              <a:t> pada </a:t>
            </a:r>
            <a:r>
              <a:rPr lang="en-ID" dirty="0" err="1"/>
              <a:t>tahap</a:t>
            </a:r>
            <a:r>
              <a:rPr lang="en-ID" dirty="0"/>
              <a:t> </a:t>
            </a:r>
            <a:r>
              <a:rPr lang="en-ID" dirty="0" err="1"/>
              <a:t>pengembangan</a:t>
            </a:r>
            <a:r>
              <a:rPr lang="en-ID" dirty="0"/>
              <a:t> </a:t>
            </a:r>
            <a:r>
              <a:rPr lang="en-ID" dirty="0" err="1"/>
              <a:t>selanjutnya</a:t>
            </a:r>
            <a:r>
              <a:rPr lang="en-ID" dirty="0"/>
              <a:t>.</a:t>
            </a:r>
          </a:p>
          <a:p>
            <a:pPr lvl="0"/>
            <a:r>
              <a:rPr lang="en-ID" b="1" dirty="0" err="1"/>
              <a:t>Cocok</a:t>
            </a:r>
            <a:r>
              <a:rPr lang="en-ID" b="1" dirty="0"/>
              <a:t> </a:t>
            </a:r>
            <a:r>
              <a:rPr lang="en-ID" b="1" dirty="0" err="1"/>
              <a:t>untuk</a:t>
            </a:r>
            <a:r>
              <a:rPr lang="en-ID" b="1" dirty="0"/>
              <a:t> </a:t>
            </a:r>
            <a:r>
              <a:rPr lang="en-ID" b="1" dirty="0" err="1"/>
              <a:t>Proyek</a:t>
            </a:r>
            <a:r>
              <a:rPr lang="en-ID" b="1" dirty="0"/>
              <a:t> Besar:</a:t>
            </a:r>
            <a:r>
              <a:rPr lang="en-ID" dirty="0"/>
              <a:t> Sangat ideal </a:t>
            </a:r>
            <a:r>
              <a:rPr lang="en-ID" dirty="0" err="1"/>
              <a:t>untuk</a:t>
            </a:r>
            <a:r>
              <a:rPr lang="en-ID" dirty="0"/>
              <a:t> </a:t>
            </a:r>
            <a:r>
              <a:rPr lang="en-ID" dirty="0" err="1"/>
              <a:t>sistem</a:t>
            </a:r>
            <a:r>
              <a:rPr lang="en-ID" dirty="0"/>
              <a:t> </a:t>
            </a:r>
            <a:r>
              <a:rPr lang="en-ID" dirty="0" err="1"/>
              <a:t>berskala</a:t>
            </a:r>
            <a:r>
              <a:rPr lang="en-ID" dirty="0"/>
              <a:t> </a:t>
            </a:r>
            <a:r>
              <a:rPr lang="en-ID" dirty="0" err="1"/>
              <a:t>besar</a:t>
            </a:r>
            <a:r>
              <a:rPr lang="en-ID" dirty="0"/>
              <a:t>, </a:t>
            </a:r>
            <a:r>
              <a:rPr lang="en-ID" dirty="0" err="1"/>
              <a:t>kompleks</a:t>
            </a:r>
            <a:r>
              <a:rPr lang="en-ID" dirty="0"/>
              <a:t>, dan </a:t>
            </a:r>
            <a:r>
              <a:rPr lang="en-ID" dirty="0" err="1"/>
              <a:t>berisiko</a:t>
            </a:r>
            <a:r>
              <a:rPr lang="en-ID" dirty="0"/>
              <a:t> </a:t>
            </a:r>
            <a:r>
              <a:rPr lang="en-ID" dirty="0" err="1"/>
              <a:t>tinggi</a:t>
            </a:r>
            <a:endParaRPr lang="en-ID" dirty="0"/>
          </a:p>
        </p:txBody>
      </p:sp>
      <p:sp>
        <p:nvSpPr>
          <p:cNvPr id="4" name="Title 3">
            <a:extLst>
              <a:ext uri="{FF2B5EF4-FFF2-40B4-BE49-F238E27FC236}">
                <a16:creationId xmlns:a16="http://schemas.microsoft.com/office/drawing/2014/main" id="{42954EE6-3E3E-955E-4761-1C049D3AFC32}"/>
              </a:ext>
            </a:extLst>
          </p:cNvPr>
          <p:cNvSpPr>
            <a:spLocks noGrp="1"/>
          </p:cNvSpPr>
          <p:nvPr>
            <p:ph type="title"/>
          </p:nvPr>
        </p:nvSpPr>
        <p:spPr/>
        <p:txBody>
          <a:bodyPr>
            <a:normAutofit/>
          </a:bodyPr>
          <a:lstStyle/>
          <a:p>
            <a:r>
              <a:rPr lang="en-US" dirty="0" err="1"/>
              <a:t>Kelebihan</a:t>
            </a:r>
            <a:r>
              <a:rPr lang="en-US" dirty="0"/>
              <a:t> Model Spiral</a:t>
            </a:r>
            <a:endParaRPr lang="en-ID" dirty="0"/>
          </a:p>
        </p:txBody>
      </p:sp>
    </p:spTree>
    <p:extLst>
      <p:ext uri="{BB962C8B-B14F-4D97-AF65-F5344CB8AC3E}">
        <p14:creationId xmlns:p14="http://schemas.microsoft.com/office/powerpoint/2010/main" val="1439187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6808A8-0771-1235-F8E5-A684140BCA40}"/>
              </a:ext>
            </a:extLst>
          </p:cNvPr>
          <p:cNvSpPr>
            <a:spLocks noGrp="1"/>
          </p:cNvSpPr>
          <p:nvPr>
            <p:ph idx="1"/>
          </p:nvPr>
        </p:nvSpPr>
        <p:spPr/>
        <p:txBody>
          <a:bodyPr/>
          <a:lstStyle/>
          <a:p>
            <a:pPr lvl="0"/>
            <a:r>
              <a:rPr lang="en-ID" b="1" dirty="0" err="1"/>
              <a:t>Biaya</a:t>
            </a:r>
            <a:r>
              <a:rPr lang="en-ID" b="1" dirty="0"/>
              <a:t> Tinggi:</a:t>
            </a:r>
            <a:r>
              <a:rPr lang="en-ID" dirty="0"/>
              <a:t> Proses </a:t>
            </a:r>
            <a:r>
              <a:rPr lang="en-ID" dirty="0" err="1"/>
              <a:t>analisis</a:t>
            </a:r>
            <a:r>
              <a:rPr lang="en-ID" dirty="0"/>
              <a:t> </a:t>
            </a:r>
            <a:r>
              <a:rPr lang="en-ID" dirty="0" err="1"/>
              <a:t>risiko</a:t>
            </a:r>
            <a:r>
              <a:rPr lang="en-ID" dirty="0"/>
              <a:t> dan </a:t>
            </a:r>
            <a:r>
              <a:rPr lang="en-ID" dirty="0" err="1"/>
              <a:t>dokumentasi</a:t>
            </a:r>
            <a:r>
              <a:rPr lang="en-ID" dirty="0"/>
              <a:t> yang </a:t>
            </a:r>
            <a:r>
              <a:rPr lang="en-ID" dirty="0" err="1"/>
              <a:t>intensif</a:t>
            </a:r>
            <a:r>
              <a:rPr lang="en-ID" dirty="0"/>
              <a:t> </a:t>
            </a:r>
            <a:r>
              <a:rPr lang="en-ID" dirty="0" err="1"/>
              <a:t>membuat</a:t>
            </a:r>
            <a:r>
              <a:rPr lang="en-ID" dirty="0"/>
              <a:t> model </a:t>
            </a:r>
            <a:r>
              <a:rPr lang="en-ID" dirty="0" err="1"/>
              <a:t>ini</a:t>
            </a:r>
            <a:r>
              <a:rPr lang="en-ID" dirty="0"/>
              <a:t> mahal dan </a:t>
            </a:r>
            <a:r>
              <a:rPr lang="en-ID" dirty="0" err="1"/>
              <a:t>tidak</a:t>
            </a:r>
            <a:r>
              <a:rPr lang="en-ID" dirty="0"/>
              <a:t> </a:t>
            </a:r>
            <a:r>
              <a:rPr lang="en-ID" dirty="0" err="1"/>
              <a:t>cocok</a:t>
            </a:r>
            <a:r>
              <a:rPr lang="en-ID" dirty="0"/>
              <a:t> </a:t>
            </a:r>
            <a:r>
              <a:rPr lang="en-ID" dirty="0" err="1"/>
              <a:t>untuk</a:t>
            </a:r>
            <a:r>
              <a:rPr lang="en-ID" dirty="0"/>
              <a:t> </a:t>
            </a:r>
            <a:r>
              <a:rPr lang="en-ID" dirty="0" err="1"/>
              <a:t>proyek</a:t>
            </a:r>
            <a:r>
              <a:rPr lang="en-ID" dirty="0"/>
              <a:t> </a:t>
            </a:r>
            <a:r>
              <a:rPr lang="en-ID" dirty="0" err="1"/>
              <a:t>kecil</a:t>
            </a:r>
            <a:r>
              <a:rPr lang="en-ID" dirty="0"/>
              <a:t>.</a:t>
            </a:r>
          </a:p>
          <a:p>
            <a:pPr lvl="0"/>
            <a:r>
              <a:rPr lang="en-ID" b="1" dirty="0" err="1"/>
              <a:t>Kompleksitas</a:t>
            </a:r>
            <a:r>
              <a:rPr lang="en-ID" b="1" dirty="0"/>
              <a:t> </a:t>
            </a:r>
            <a:r>
              <a:rPr lang="en-ID" b="1" dirty="0" err="1"/>
              <a:t>Manajemen</a:t>
            </a:r>
            <a:r>
              <a:rPr lang="en-ID" b="1" dirty="0"/>
              <a:t>:</a:t>
            </a:r>
            <a:r>
              <a:rPr lang="en-ID" dirty="0"/>
              <a:t> </a:t>
            </a:r>
            <a:r>
              <a:rPr lang="en-ID" dirty="0" err="1"/>
              <a:t>Bergantung</a:t>
            </a:r>
            <a:r>
              <a:rPr lang="en-ID" dirty="0"/>
              <a:t> pada </a:t>
            </a:r>
            <a:r>
              <a:rPr lang="en-ID" dirty="0" err="1"/>
              <a:t>keahlian</a:t>
            </a:r>
            <a:r>
              <a:rPr lang="en-ID" dirty="0"/>
              <a:t> </a:t>
            </a:r>
            <a:r>
              <a:rPr lang="en-ID" dirty="0" err="1"/>
              <a:t>analisis</a:t>
            </a:r>
            <a:r>
              <a:rPr lang="en-ID" dirty="0"/>
              <a:t> </a:t>
            </a:r>
            <a:r>
              <a:rPr lang="en-ID" dirty="0" err="1"/>
              <a:t>risiko</a:t>
            </a:r>
            <a:r>
              <a:rPr lang="en-ID" dirty="0"/>
              <a:t> yang </a:t>
            </a:r>
            <a:r>
              <a:rPr lang="en-ID" dirty="0" err="1"/>
              <a:t>akurat</a:t>
            </a:r>
            <a:r>
              <a:rPr lang="en-ID" dirty="0"/>
              <a:t> dan </a:t>
            </a:r>
            <a:r>
              <a:rPr lang="en-ID" dirty="0" err="1"/>
              <a:t>manajemen</a:t>
            </a:r>
            <a:r>
              <a:rPr lang="en-ID" dirty="0"/>
              <a:t> yang </a:t>
            </a:r>
            <a:r>
              <a:rPr lang="en-ID" dirty="0" err="1"/>
              <a:t>berpengalaman</a:t>
            </a:r>
            <a:endParaRPr lang="en-ID" dirty="0"/>
          </a:p>
        </p:txBody>
      </p:sp>
      <p:sp>
        <p:nvSpPr>
          <p:cNvPr id="4" name="Title 3">
            <a:extLst>
              <a:ext uri="{FF2B5EF4-FFF2-40B4-BE49-F238E27FC236}">
                <a16:creationId xmlns:a16="http://schemas.microsoft.com/office/drawing/2014/main" id="{B5257A51-4A52-A693-9331-CBD6397C4B6B}"/>
              </a:ext>
            </a:extLst>
          </p:cNvPr>
          <p:cNvSpPr>
            <a:spLocks noGrp="1"/>
          </p:cNvSpPr>
          <p:nvPr>
            <p:ph type="title"/>
          </p:nvPr>
        </p:nvSpPr>
        <p:spPr/>
        <p:txBody>
          <a:bodyPr/>
          <a:lstStyle/>
          <a:p>
            <a:r>
              <a:rPr lang="en-US" dirty="0" err="1"/>
              <a:t>Kekurangan</a:t>
            </a:r>
            <a:r>
              <a:rPr lang="en-US" dirty="0"/>
              <a:t> Model Spiral</a:t>
            </a:r>
            <a:endParaRPr lang="en-ID" dirty="0"/>
          </a:p>
        </p:txBody>
      </p:sp>
    </p:spTree>
    <p:extLst>
      <p:ext uri="{BB962C8B-B14F-4D97-AF65-F5344CB8AC3E}">
        <p14:creationId xmlns:p14="http://schemas.microsoft.com/office/powerpoint/2010/main" val="2290181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5B1C29-18FA-B33D-9A83-7F96112C2468}"/>
              </a:ext>
            </a:extLst>
          </p:cNvPr>
          <p:cNvSpPr>
            <a:spLocks noGrp="1"/>
          </p:cNvSpPr>
          <p:nvPr>
            <p:ph idx="1"/>
          </p:nvPr>
        </p:nvSpPr>
        <p:spPr>
          <a:xfrm>
            <a:off x="457200" y="1676400"/>
            <a:ext cx="8229600" cy="4330891"/>
          </a:xfrm>
        </p:spPr>
        <p:txBody>
          <a:bodyPr>
            <a:normAutofit fontScale="77500" lnSpcReduction="20000"/>
          </a:bodyPr>
          <a:lstStyle/>
          <a:p>
            <a:r>
              <a:rPr lang="en-ID" b="1" dirty="0" err="1"/>
              <a:t>Sistem</a:t>
            </a:r>
            <a:r>
              <a:rPr lang="en-ID" b="1" dirty="0"/>
              <a:t> </a:t>
            </a:r>
            <a:r>
              <a:rPr lang="en-ID" b="1" dirty="0" err="1"/>
              <a:t>Penerbangan</a:t>
            </a:r>
            <a:r>
              <a:rPr lang="en-ID" b="1" dirty="0"/>
              <a:t> dan Ruang Angkasa (NASA):</a:t>
            </a:r>
            <a:r>
              <a:rPr lang="en-ID" dirty="0"/>
              <a:t> </a:t>
            </a:r>
            <a:r>
              <a:rPr lang="en-ID" dirty="0" err="1"/>
              <a:t>Digunakan</a:t>
            </a:r>
            <a:r>
              <a:rPr lang="en-ID" dirty="0"/>
              <a:t> NASA </a:t>
            </a:r>
            <a:r>
              <a:rPr lang="en-ID" dirty="0" err="1"/>
              <a:t>untuk</a:t>
            </a:r>
            <a:r>
              <a:rPr lang="en-ID" dirty="0"/>
              <a:t> </a:t>
            </a:r>
            <a:r>
              <a:rPr lang="en-ID" dirty="0" err="1"/>
              <a:t>mengembangkan</a:t>
            </a:r>
            <a:r>
              <a:rPr lang="en-ID" dirty="0"/>
              <a:t> </a:t>
            </a:r>
            <a:r>
              <a:rPr lang="en-ID" dirty="0" err="1"/>
              <a:t>perangkat</a:t>
            </a:r>
            <a:r>
              <a:rPr lang="en-ID" dirty="0"/>
              <a:t> </a:t>
            </a:r>
            <a:r>
              <a:rPr lang="en-ID" dirty="0" err="1"/>
              <a:t>lunak</a:t>
            </a:r>
            <a:r>
              <a:rPr lang="en-ID" dirty="0"/>
              <a:t> </a:t>
            </a:r>
            <a:r>
              <a:rPr lang="en-ID" dirty="0" err="1"/>
              <a:t>misi</a:t>
            </a:r>
            <a:r>
              <a:rPr lang="en-ID" dirty="0"/>
              <a:t> </a:t>
            </a:r>
            <a:r>
              <a:rPr lang="en-ID" dirty="0" err="1"/>
              <a:t>luar</a:t>
            </a:r>
            <a:r>
              <a:rPr lang="en-ID" dirty="0"/>
              <a:t> </a:t>
            </a:r>
            <a:r>
              <a:rPr lang="en-ID" dirty="0" err="1"/>
              <a:t>angkasa</a:t>
            </a:r>
            <a:r>
              <a:rPr lang="en-ID" dirty="0"/>
              <a:t> </a:t>
            </a:r>
            <a:r>
              <a:rPr lang="en-ID" dirty="0" err="1"/>
              <a:t>karena</a:t>
            </a:r>
            <a:r>
              <a:rPr lang="en-ID" dirty="0"/>
              <a:t> </a:t>
            </a:r>
            <a:r>
              <a:rPr lang="en-ID" dirty="0" err="1"/>
              <a:t>kesalahan</a:t>
            </a:r>
            <a:r>
              <a:rPr lang="en-ID" dirty="0"/>
              <a:t> </a:t>
            </a:r>
            <a:r>
              <a:rPr lang="en-ID" dirty="0" err="1"/>
              <a:t>kecil</a:t>
            </a:r>
            <a:r>
              <a:rPr lang="en-ID" dirty="0"/>
              <a:t> </a:t>
            </a:r>
            <a:r>
              <a:rPr lang="en-ID" dirty="0" err="1"/>
              <a:t>dapat</a:t>
            </a:r>
            <a:r>
              <a:rPr lang="en-ID" dirty="0"/>
              <a:t> </a:t>
            </a:r>
            <a:r>
              <a:rPr lang="en-ID" dirty="0" err="1"/>
              <a:t>berakibat</a:t>
            </a:r>
            <a:r>
              <a:rPr lang="en-ID" dirty="0"/>
              <a:t> fatal, </a:t>
            </a:r>
            <a:r>
              <a:rPr lang="en-ID" dirty="0" err="1"/>
              <a:t>sehingga</a:t>
            </a:r>
            <a:r>
              <a:rPr lang="en-ID" dirty="0"/>
              <a:t> </a:t>
            </a:r>
            <a:r>
              <a:rPr lang="en-ID" dirty="0" err="1"/>
              <a:t>analisis</a:t>
            </a:r>
            <a:r>
              <a:rPr lang="en-ID" dirty="0"/>
              <a:t> </a:t>
            </a:r>
            <a:r>
              <a:rPr lang="en-ID" dirty="0" err="1"/>
              <a:t>risiko</a:t>
            </a:r>
            <a:r>
              <a:rPr lang="en-ID" dirty="0"/>
              <a:t> di </a:t>
            </a:r>
            <a:r>
              <a:rPr lang="en-ID" dirty="0" err="1"/>
              <a:t>tiap</a:t>
            </a:r>
            <a:r>
              <a:rPr lang="en-ID" dirty="0"/>
              <a:t> </a:t>
            </a:r>
            <a:r>
              <a:rPr lang="en-ID" dirty="0" err="1"/>
              <a:t>putaran</a:t>
            </a:r>
            <a:r>
              <a:rPr lang="en-ID" dirty="0"/>
              <a:t> sangat </a:t>
            </a:r>
            <a:r>
              <a:rPr lang="en-ID" dirty="0" err="1"/>
              <a:t>krusial</a:t>
            </a:r>
            <a:endParaRPr lang="en-ID" dirty="0"/>
          </a:p>
          <a:p>
            <a:r>
              <a:rPr lang="en-ID" b="1" dirty="0" err="1"/>
              <a:t>Pengembangan</a:t>
            </a:r>
            <a:r>
              <a:rPr lang="en-ID" b="1" dirty="0"/>
              <a:t> </a:t>
            </a:r>
            <a:r>
              <a:rPr lang="en-ID" b="1" dirty="0" err="1"/>
              <a:t>Sistem</a:t>
            </a:r>
            <a:r>
              <a:rPr lang="en-ID" b="1" dirty="0"/>
              <a:t> </a:t>
            </a:r>
            <a:r>
              <a:rPr lang="en-ID" b="1" dirty="0" err="1"/>
              <a:t>Operasi</a:t>
            </a:r>
            <a:r>
              <a:rPr lang="en-ID" b="1" dirty="0"/>
              <a:t>:</a:t>
            </a:r>
            <a:r>
              <a:rPr lang="en-ID" dirty="0"/>
              <a:t> </a:t>
            </a:r>
            <a:r>
              <a:rPr lang="en-ID" dirty="0" err="1"/>
              <a:t>Seperti</a:t>
            </a:r>
            <a:r>
              <a:rPr lang="en-ID" dirty="0"/>
              <a:t> pada masa </a:t>
            </a:r>
            <a:r>
              <a:rPr lang="en-ID" dirty="0" err="1"/>
              <a:t>awal</a:t>
            </a:r>
            <a:r>
              <a:rPr lang="en-ID" dirty="0"/>
              <a:t> Microsoft Windows yang </a:t>
            </a:r>
            <a:r>
              <a:rPr lang="en-ID" dirty="0" err="1"/>
              <a:t>membutuhkan</a:t>
            </a:r>
            <a:r>
              <a:rPr lang="en-ID" dirty="0"/>
              <a:t> </a:t>
            </a:r>
            <a:r>
              <a:rPr lang="en-ID" dirty="0" err="1"/>
              <a:t>evaluasi</a:t>
            </a:r>
            <a:r>
              <a:rPr lang="en-ID" dirty="0"/>
              <a:t> dan </a:t>
            </a:r>
            <a:r>
              <a:rPr lang="en-ID" dirty="0" err="1"/>
              <a:t>penambahan</a:t>
            </a:r>
            <a:r>
              <a:rPr lang="en-ID" dirty="0"/>
              <a:t> </a:t>
            </a:r>
            <a:r>
              <a:rPr lang="en-ID" dirty="0" err="1"/>
              <a:t>fitur</a:t>
            </a:r>
            <a:r>
              <a:rPr lang="en-ID" dirty="0"/>
              <a:t> </a:t>
            </a:r>
            <a:r>
              <a:rPr lang="en-ID" dirty="0" err="1"/>
              <a:t>secara</a:t>
            </a:r>
            <a:r>
              <a:rPr lang="en-ID" dirty="0"/>
              <a:t> </a:t>
            </a:r>
            <a:r>
              <a:rPr lang="en-ID" dirty="0" err="1"/>
              <a:t>bertahap</a:t>
            </a:r>
            <a:r>
              <a:rPr lang="en-ID" dirty="0"/>
              <a:t>.</a:t>
            </a:r>
          </a:p>
          <a:p>
            <a:r>
              <a:rPr lang="en-ID" b="1" dirty="0" err="1"/>
              <a:t>Aplikasi</a:t>
            </a:r>
            <a:r>
              <a:rPr lang="en-ID" b="1" dirty="0"/>
              <a:t> </a:t>
            </a:r>
            <a:r>
              <a:rPr lang="en-ID" b="1" dirty="0" err="1"/>
              <a:t>Layanan</a:t>
            </a:r>
            <a:r>
              <a:rPr lang="en-ID" b="1" dirty="0"/>
              <a:t> Kesehatan (Klinik/Rumah Sakit):</a:t>
            </a:r>
            <a:r>
              <a:rPr lang="en-ID" dirty="0"/>
              <a:t> </a:t>
            </a:r>
            <a:r>
              <a:rPr lang="en-ID" dirty="0" err="1"/>
              <a:t>Dibangun</a:t>
            </a:r>
            <a:r>
              <a:rPr lang="en-ID" dirty="0"/>
              <a:t> </a:t>
            </a:r>
            <a:r>
              <a:rPr lang="en-ID" dirty="0" err="1"/>
              <a:t>secara</a:t>
            </a:r>
            <a:r>
              <a:rPr lang="en-ID" dirty="0"/>
              <a:t> </a:t>
            </a:r>
            <a:r>
              <a:rPr lang="en-ID" dirty="0" err="1"/>
              <a:t>bertahap</a:t>
            </a:r>
            <a:r>
              <a:rPr lang="en-ID" dirty="0"/>
              <a:t> </a:t>
            </a:r>
            <a:r>
              <a:rPr lang="en-ID" dirty="0" err="1"/>
              <a:t>mulai</a:t>
            </a:r>
            <a:r>
              <a:rPr lang="en-ID" dirty="0"/>
              <a:t> </a:t>
            </a:r>
            <a:r>
              <a:rPr lang="en-ID" dirty="0" err="1"/>
              <a:t>dari</a:t>
            </a:r>
            <a:r>
              <a:rPr lang="en-ID" dirty="0"/>
              <a:t> </a:t>
            </a:r>
            <a:r>
              <a:rPr lang="en-ID" dirty="0" err="1"/>
              <a:t>modul</a:t>
            </a:r>
            <a:r>
              <a:rPr lang="en-ID" dirty="0"/>
              <a:t> </a:t>
            </a:r>
            <a:r>
              <a:rPr lang="en-ID" dirty="0" err="1"/>
              <a:t>profil</a:t>
            </a:r>
            <a:r>
              <a:rPr lang="en-ID" dirty="0"/>
              <a:t> </a:t>
            </a:r>
            <a:r>
              <a:rPr lang="en-ID" dirty="0" err="1"/>
              <a:t>pasien</a:t>
            </a:r>
            <a:r>
              <a:rPr lang="en-ID" dirty="0"/>
              <a:t> pada </a:t>
            </a:r>
            <a:r>
              <a:rPr lang="en-ID" dirty="0" err="1"/>
              <a:t>siklus</a:t>
            </a:r>
            <a:r>
              <a:rPr lang="en-ID" dirty="0"/>
              <a:t> </a:t>
            </a:r>
            <a:r>
              <a:rPr lang="en-ID" dirty="0" err="1"/>
              <a:t>pertama</a:t>
            </a:r>
            <a:r>
              <a:rPr lang="en-ID" dirty="0"/>
              <a:t>, </a:t>
            </a:r>
            <a:r>
              <a:rPr lang="en-ID" dirty="0" err="1"/>
              <a:t>dilanjutkan</a:t>
            </a:r>
            <a:r>
              <a:rPr lang="en-ID" dirty="0"/>
              <a:t> </a:t>
            </a:r>
            <a:r>
              <a:rPr lang="en-ID" dirty="0" err="1"/>
              <a:t>dengan</a:t>
            </a:r>
            <a:r>
              <a:rPr lang="en-ID" dirty="0"/>
              <a:t> </a:t>
            </a:r>
            <a:r>
              <a:rPr lang="en-ID" dirty="0" err="1"/>
              <a:t>sistem</a:t>
            </a:r>
            <a:r>
              <a:rPr lang="en-ID" dirty="0"/>
              <a:t> </a:t>
            </a:r>
            <a:r>
              <a:rPr lang="en-ID" dirty="0" err="1"/>
              <a:t>privasi</a:t>
            </a:r>
            <a:r>
              <a:rPr lang="en-ID" dirty="0"/>
              <a:t> data yang </a:t>
            </a:r>
            <a:r>
              <a:rPr lang="en-ID" dirty="0" err="1"/>
              <a:t>ketat</a:t>
            </a:r>
            <a:r>
              <a:rPr lang="en-ID" dirty="0"/>
              <a:t> pada </a:t>
            </a:r>
            <a:r>
              <a:rPr lang="en-ID" dirty="0" err="1"/>
              <a:t>siklus</a:t>
            </a:r>
            <a:r>
              <a:rPr lang="en-ID" dirty="0"/>
              <a:t> </a:t>
            </a:r>
            <a:r>
              <a:rPr lang="en-ID" dirty="0" err="1"/>
              <a:t>berikutnya</a:t>
            </a:r>
            <a:endParaRPr lang="en-ID" dirty="0"/>
          </a:p>
          <a:p>
            <a:r>
              <a:rPr lang="en-ID" b="1" dirty="0" err="1"/>
              <a:t>Sistem</a:t>
            </a:r>
            <a:r>
              <a:rPr lang="en-ID" b="1" dirty="0"/>
              <a:t> </a:t>
            </a:r>
            <a:r>
              <a:rPr lang="en-ID" b="1" dirty="0" err="1"/>
              <a:t>Keamanan</a:t>
            </a:r>
            <a:r>
              <a:rPr lang="en-ID" b="1" dirty="0"/>
              <a:t> </a:t>
            </a:r>
            <a:r>
              <a:rPr lang="en-ID" b="1" dirty="0" err="1"/>
              <a:t>Militer</a:t>
            </a:r>
            <a:r>
              <a:rPr lang="en-ID" b="1" dirty="0"/>
              <a:t> </a:t>
            </a:r>
            <a:r>
              <a:rPr lang="en-ID" b="1" dirty="0" err="1"/>
              <a:t>atau</a:t>
            </a:r>
            <a:r>
              <a:rPr lang="en-ID" b="1" dirty="0"/>
              <a:t> </a:t>
            </a:r>
            <a:r>
              <a:rPr lang="en-ID" b="1" dirty="0" err="1"/>
              <a:t>Perbankan</a:t>
            </a:r>
            <a:r>
              <a:rPr lang="en-ID" b="1" dirty="0"/>
              <a:t>:</a:t>
            </a:r>
            <a:r>
              <a:rPr lang="en-ID" dirty="0"/>
              <a:t> </a:t>
            </a:r>
            <a:r>
              <a:rPr lang="en-ID" dirty="0" err="1"/>
              <a:t>Proyek</a:t>
            </a:r>
            <a:r>
              <a:rPr lang="en-ID" dirty="0"/>
              <a:t> yang </a:t>
            </a:r>
            <a:r>
              <a:rPr lang="en-ID" dirty="0" err="1"/>
              <a:t>menuntut</a:t>
            </a:r>
            <a:r>
              <a:rPr lang="en-ID" dirty="0"/>
              <a:t> </a:t>
            </a:r>
            <a:r>
              <a:rPr lang="en-ID" dirty="0" err="1"/>
              <a:t>keamanan</a:t>
            </a:r>
            <a:r>
              <a:rPr lang="en-ID" dirty="0"/>
              <a:t> data </a:t>
            </a:r>
            <a:r>
              <a:rPr lang="en-ID" dirty="0" err="1"/>
              <a:t>tingkat</a:t>
            </a:r>
            <a:r>
              <a:rPr lang="en-ID" dirty="0"/>
              <a:t> </a:t>
            </a:r>
            <a:r>
              <a:rPr lang="en-ID" dirty="0" err="1"/>
              <a:t>tinggi</a:t>
            </a:r>
            <a:r>
              <a:rPr lang="en-ID" dirty="0"/>
              <a:t> dan </a:t>
            </a:r>
            <a:r>
              <a:rPr lang="en-ID" dirty="0" err="1"/>
              <a:t>evaluasi</a:t>
            </a:r>
            <a:r>
              <a:rPr lang="en-ID" dirty="0"/>
              <a:t> </a:t>
            </a:r>
            <a:r>
              <a:rPr lang="en-ID" dirty="0" err="1"/>
              <a:t>risiko</a:t>
            </a:r>
            <a:r>
              <a:rPr lang="en-ID" dirty="0"/>
              <a:t> yang </a:t>
            </a:r>
            <a:r>
              <a:rPr lang="en-ID" dirty="0" err="1"/>
              <a:t>matang</a:t>
            </a:r>
            <a:r>
              <a:rPr lang="en-ID" dirty="0"/>
              <a:t> di </a:t>
            </a:r>
            <a:r>
              <a:rPr lang="en-ID" dirty="0" err="1"/>
              <a:t>setiap</a:t>
            </a:r>
            <a:r>
              <a:rPr lang="en-ID" dirty="0"/>
              <a:t> </a:t>
            </a:r>
            <a:r>
              <a:rPr lang="en-ID" dirty="0" err="1"/>
              <a:t>fase</a:t>
            </a:r>
            <a:r>
              <a:rPr lang="en-ID" dirty="0"/>
              <a:t> </a:t>
            </a:r>
            <a:r>
              <a:rPr lang="en-ID" dirty="0" err="1"/>
              <a:t>pengembangan</a:t>
            </a:r>
            <a:r>
              <a:rPr lang="en-ID" dirty="0"/>
              <a:t>.</a:t>
            </a:r>
          </a:p>
        </p:txBody>
      </p:sp>
      <p:sp>
        <p:nvSpPr>
          <p:cNvPr id="4" name="Title 3">
            <a:extLst>
              <a:ext uri="{FF2B5EF4-FFF2-40B4-BE49-F238E27FC236}">
                <a16:creationId xmlns:a16="http://schemas.microsoft.com/office/drawing/2014/main" id="{8869FE5D-B2BA-52A3-DA19-A795A098BA6D}"/>
              </a:ext>
            </a:extLst>
          </p:cNvPr>
          <p:cNvSpPr>
            <a:spLocks noGrp="1"/>
          </p:cNvSpPr>
          <p:nvPr>
            <p:ph type="title"/>
          </p:nvPr>
        </p:nvSpPr>
        <p:spPr/>
        <p:txBody>
          <a:bodyPr>
            <a:noAutofit/>
          </a:bodyPr>
          <a:lstStyle/>
          <a:p>
            <a:r>
              <a:rPr lang="en-ID" sz="3200" dirty="0" err="1">
                <a:solidFill>
                  <a:schemeClr val="tx1"/>
                </a:solidFill>
              </a:rPr>
              <a:t>Contoh</a:t>
            </a:r>
            <a:r>
              <a:rPr lang="en-ID" sz="3200" dirty="0">
                <a:solidFill>
                  <a:schemeClr val="tx1"/>
                </a:solidFill>
              </a:rPr>
              <a:t> </a:t>
            </a:r>
            <a:r>
              <a:rPr lang="en-ID" sz="3200" dirty="0" err="1">
                <a:solidFill>
                  <a:schemeClr val="tx1"/>
                </a:solidFill>
              </a:rPr>
              <a:t>Proyek</a:t>
            </a:r>
            <a:r>
              <a:rPr lang="en-ID" sz="3200" dirty="0">
                <a:solidFill>
                  <a:schemeClr val="tx1"/>
                </a:solidFill>
              </a:rPr>
              <a:t> </a:t>
            </a:r>
            <a:r>
              <a:rPr lang="en-ID" sz="3200" dirty="0" err="1">
                <a:solidFill>
                  <a:schemeClr val="tx1"/>
                </a:solidFill>
              </a:rPr>
              <a:t>Penggunaan</a:t>
            </a:r>
            <a:r>
              <a:rPr lang="en-ID" sz="3200" dirty="0">
                <a:solidFill>
                  <a:schemeClr val="tx1"/>
                </a:solidFill>
              </a:rPr>
              <a:t> Model Spiral</a:t>
            </a:r>
          </a:p>
        </p:txBody>
      </p:sp>
    </p:spTree>
    <p:extLst>
      <p:ext uri="{BB962C8B-B14F-4D97-AF65-F5344CB8AC3E}">
        <p14:creationId xmlns:p14="http://schemas.microsoft.com/office/powerpoint/2010/main" val="406942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idx="1"/>
          </p:nvPr>
        </p:nvSpPr>
        <p:spPr>
          <a:xfrm>
            <a:off x="457200" y="2133600"/>
            <a:ext cx="8229600" cy="3922713"/>
          </a:xfrm>
        </p:spPr>
        <p:txBody>
          <a:bodyPr/>
          <a:lstStyle/>
          <a:p>
            <a:pPr marL="92075" indent="17463" eaLnBrk="1" hangingPunct="1">
              <a:buFontTx/>
              <a:buNone/>
            </a:pPr>
            <a:r>
              <a:rPr lang="en-US" sz="2400" dirty="0"/>
              <a:t>Rapid Application Development (RAD) model </a:t>
            </a:r>
            <a:r>
              <a:rPr lang="en-US" sz="2400" dirty="0" err="1"/>
              <a:t>adalah</a:t>
            </a:r>
            <a:r>
              <a:rPr lang="en-US" sz="2400" dirty="0"/>
              <a:t> </a:t>
            </a:r>
            <a:r>
              <a:rPr lang="en-US" sz="2400" dirty="0" err="1"/>
              <a:t>termasuk</a:t>
            </a:r>
            <a:r>
              <a:rPr lang="en-US" sz="2400" dirty="0"/>
              <a:t> model proses </a:t>
            </a:r>
            <a:r>
              <a:rPr lang="en-US" sz="2400" dirty="0" err="1"/>
              <a:t>pengembangan</a:t>
            </a:r>
            <a:r>
              <a:rPr lang="en-US" sz="2400" dirty="0"/>
              <a:t> </a:t>
            </a:r>
            <a:r>
              <a:rPr lang="en-US" sz="2400" dirty="0" err="1"/>
              <a:t>perangkat</a:t>
            </a:r>
            <a:r>
              <a:rPr lang="en-US" sz="2400" dirty="0"/>
              <a:t> </a:t>
            </a:r>
            <a:r>
              <a:rPr lang="en-US" sz="2400" dirty="0" err="1"/>
              <a:t>lunak</a:t>
            </a:r>
            <a:r>
              <a:rPr lang="en-US" sz="2400" dirty="0"/>
              <a:t> incremental, </a:t>
            </a:r>
            <a:r>
              <a:rPr lang="en-US" sz="2400" dirty="0" err="1"/>
              <a:t>hanya</a:t>
            </a:r>
            <a:r>
              <a:rPr lang="en-US" sz="2400" dirty="0"/>
              <a:t> </a:t>
            </a:r>
            <a:r>
              <a:rPr lang="en-US" sz="2400" dirty="0" err="1"/>
              <a:t>saja</a:t>
            </a:r>
            <a:r>
              <a:rPr lang="en-US" sz="2400" dirty="0"/>
              <a:t> </a:t>
            </a:r>
            <a:r>
              <a:rPr lang="en-US" sz="2400" dirty="0" err="1"/>
              <a:t>menekankan</a:t>
            </a:r>
            <a:r>
              <a:rPr lang="en-US" sz="2400" dirty="0"/>
              <a:t> pada </a:t>
            </a:r>
            <a:r>
              <a:rPr lang="en-US" sz="2400" dirty="0" err="1"/>
              <a:t>siklus</a:t>
            </a:r>
            <a:r>
              <a:rPr lang="en-US" sz="2400" dirty="0"/>
              <a:t> </a:t>
            </a:r>
            <a:r>
              <a:rPr lang="en-US" sz="2400" dirty="0" err="1"/>
              <a:t>pengembangan</a:t>
            </a:r>
            <a:r>
              <a:rPr lang="en-US" sz="2400" dirty="0"/>
              <a:t> yang </a:t>
            </a:r>
            <a:r>
              <a:rPr lang="en-US" sz="2400" dirty="0" err="1"/>
              <a:t>singkat</a:t>
            </a:r>
            <a:r>
              <a:rPr lang="en-US" sz="2400" dirty="0"/>
              <a:t>. </a:t>
            </a:r>
          </a:p>
          <a:p>
            <a:pPr marL="92075" indent="17463" eaLnBrk="1" hangingPunct="1">
              <a:buFontTx/>
              <a:buNone/>
            </a:pPr>
            <a:endParaRPr lang="en-US" sz="2400" dirty="0"/>
          </a:p>
          <a:p>
            <a:pPr marL="92075" indent="17463" eaLnBrk="1" hangingPunct="1">
              <a:buFontTx/>
              <a:buNone/>
            </a:pPr>
            <a:r>
              <a:rPr lang="en-US" sz="2400" dirty="0"/>
              <a:t>Jika </a:t>
            </a:r>
            <a:r>
              <a:rPr lang="en-US" sz="2400" dirty="0" err="1"/>
              <a:t>kebutuhan</a:t>
            </a:r>
            <a:r>
              <a:rPr lang="en-US" sz="2400" dirty="0"/>
              <a:t> </a:t>
            </a:r>
            <a:r>
              <a:rPr lang="en-US" sz="2400" dirty="0" err="1"/>
              <a:t>sistem</a:t>
            </a:r>
            <a:r>
              <a:rPr lang="en-US" sz="2400" dirty="0"/>
              <a:t> </a:t>
            </a:r>
            <a:r>
              <a:rPr lang="en-US" sz="2400" dirty="0" err="1"/>
              <a:t>dimengerti</a:t>
            </a:r>
            <a:r>
              <a:rPr lang="en-US" sz="2400" dirty="0"/>
              <a:t> </a:t>
            </a:r>
            <a:r>
              <a:rPr lang="en-US" sz="2400" dirty="0" err="1"/>
              <a:t>dengan</a:t>
            </a:r>
            <a:r>
              <a:rPr lang="en-US" sz="2400" dirty="0"/>
              <a:t> </a:t>
            </a:r>
            <a:r>
              <a:rPr lang="en-US" sz="2400" dirty="0" err="1"/>
              <a:t>baik</a:t>
            </a:r>
            <a:r>
              <a:rPr lang="en-US" sz="2400" dirty="0"/>
              <a:t> dan </a:t>
            </a:r>
            <a:r>
              <a:rPr lang="en-US" sz="2400" dirty="0" err="1"/>
              <a:t>cakupan</a:t>
            </a:r>
            <a:r>
              <a:rPr lang="en-US" sz="2400" dirty="0"/>
              <a:t> </a:t>
            </a:r>
            <a:r>
              <a:rPr lang="en-US" sz="2400" dirty="0" err="1"/>
              <a:t>proyek</a:t>
            </a:r>
            <a:r>
              <a:rPr lang="en-US" sz="2400" dirty="0"/>
              <a:t> </a:t>
            </a:r>
            <a:r>
              <a:rPr lang="en-US" sz="2400" dirty="0" err="1"/>
              <a:t>dibatasi</a:t>
            </a:r>
            <a:r>
              <a:rPr lang="en-US" sz="2400" dirty="0"/>
              <a:t>, </a:t>
            </a:r>
            <a:r>
              <a:rPr lang="en-US" sz="2400" dirty="0" err="1"/>
              <a:t>maka</a:t>
            </a:r>
            <a:r>
              <a:rPr lang="en-US" sz="2400" dirty="0"/>
              <a:t> proses RAD </a:t>
            </a:r>
            <a:r>
              <a:rPr lang="en-US" sz="2400" dirty="0" err="1"/>
              <a:t>memungkinkan</a:t>
            </a:r>
            <a:r>
              <a:rPr lang="en-US" sz="2400" dirty="0"/>
              <a:t> team </a:t>
            </a:r>
            <a:r>
              <a:rPr lang="en-US" sz="2400" dirty="0" err="1"/>
              <a:t>pengembang</a:t>
            </a:r>
            <a:r>
              <a:rPr lang="en-US" sz="2400" dirty="0"/>
              <a:t> </a:t>
            </a:r>
            <a:r>
              <a:rPr lang="en-US" sz="2400" dirty="0" err="1"/>
              <a:t>menciptakan</a:t>
            </a:r>
            <a:r>
              <a:rPr lang="en-US" sz="2400" dirty="0"/>
              <a:t> “fully functional system” </a:t>
            </a:r>
            <a:r>
              <a:rPr lang="en-US" sz="2400" dirty="0" err="1"/>
              <a:t>dalam</a:t>
            </a:r>
            <a:r>
              <a:rPr lang="en-US" sz="2400" dirty="0"/>
              <a:t> </a:t>
            </a:r>
            <a:r>
              <a:rPr lang="en-US" sz="2400" dirty="0" err="1"/>
              <a:t>periode</a:t>
            </a:r>
            <a:r>
              <a:rPr lang="en-US" sz="2400" dirty="0"/>
              <a:t> </a:t>
            </a:r>
            <a:r>
              <a:rPr lang="en-US" sz="2400" dirty="0" err="1"/>
              <a:t>waktu</a:t>
            </a:r>
            <a:r>
              <a:rPr lang="en-US" sz="2400" dirty="0"/>
              <a:t> yang sangat </a:t>
            </a:r>
            <a:r>
              <a:rPr lang="en-US" sz="2400" dirty="0" err="1"/>
              <a:t>singkat</a:t>
            </a:r>
            <a:r>
              <a:rPr lang="en-US" sz="2400" dirty="0"/>
              <a:t>.</a:t>
            </a:r>
            <a:r>
              <a:rPr lang="en-US" dirty="0"/>
              <a:t> </a:t>
            </a:r>
          </a:p>
        </p:txBody>
      </p:sp>
      <p:sp>
        <p:nvSpPr>
          <p:cNvPr id="2" name="Rectangle 2"/>
          <p:cNvSpPr>
            <a:spLocks noGrp="1" noChangeArrowheads="1"/>
          </p:cNvSpPr>
          <p:nvPr>
            <p:ph type="title"/>
          </p:nvPr>
        </p:nvSpPr>
        <p:spPr>
          <a:xfrm>
            <a:off x="457200" y="457200"/>
            <a:ext cx="8243888" cy="1314450"/>
          </a:xfrm>
        </p:spPr>
        <p:txBody>
          <a:bodyPr/>
          <a:lstStyle/>
          <a:p>
            <a:pPr eaLnBrk="1" hangingPunct="1">
              <a:defRPr/>
            </a:pPr>
            <a:r>
              <a:rPr lang="en-US" sz="4000" b="1" dirty="0"/>
              <a:t>Model RAD (Rapid Application Development)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3"/>
          <p:cNvSpPr>
            <a:spLocks noGrp="1" noChangeArrowheads="1"/>
          </p:cNvSpPr>
          <p:nvPr>
            <p:ph idx="1"/>
          </p:nvPr>
        </p:nvSpPr>
        <p:spPr/>
        <p:txBody>
          <a:bodyPr/>
          <a:lstStyle/>
          <a:p>
            <a:pPr eaLnBrk="1" hangingPunct="1">
              <a:lnSpc>
                <a:spcPct val="90000"/>
              </a:lnSpc>
              <a:buFontTx/>
              <a:buNone/>
            </a:pPr>
            <a:r>
              <a:rPr lang="en-US" sz="2400"/>
              <a:t>RAD memetakan ke dalam aktivitas -aktivitas kerangka kerja umum sebagaimana ditunjukkan sebelumnya. Komunikasi bekerja untuk memahami permasalahan bisnis dan karakteristik informasi yang harus diakomodasi perangkat lunak. Perencanaan adalah esensiil karena ada banyak team pengembang yang bekerja bersama-sama untuk fungsi-fungsi sistem yang berbeda-beda. </a:t>
            </a:r>
          </a:p>
          <a:p>
            <a:pPr eaLnBrk="1" hangingPunct="1">
              <a:lnSpc>
                <a:spcPct val="90000"/>
              </a:lnSpc>
              <a:buFontTx/>
              <a:buNone/>
            </a:pPr>
            <a:endParaRPr lang="en-US" sz="2000"/>
          </a:p>
          <a:p>
            <a:pPr eaLnBrk="1" hangingPunct="1">
              <a:lnSpc>
                <a:spcPct val="90000"/>
              </a:lnSpc>
              <a:buFontTx/>
              <a:buNone/>
            </a:pPr>
            <a:r>
              <a:rPr lang="en-US" sz="2400"/>
              <a:t>Pemodelan mencakup tiga tahap utama yakni pemodelan bisnis, pemodelan data, dan pemodelan proses.</a:t>
            </a:r>
          </a:p>
        </p:txBody>
      </p:sp>
      <p:sp>
        <p:nvSpPr>
          <p:cNvPr id="61442" name="Rectangle 2"/>
          <p:cNvSpPr>
            <a:spLocks noGrp="1" noChangeArrowheads="1"/>
          </p:cNvSpPr>
          <p:nvPr>
            <p:ph type="title"/>
          </p:nvPr>
        </p:nvSpPr>
        <p:spPr>
          <a:xfrm>
            <a:off x="442913" y="533400"/>
            <a:ext cx="8243887" cy="884238"/>
          </a:xfrm>
        </p:spPr>
        <p:txBody>
          <a:bodyPr/>
          <a:lstStyle/>
          <a:p>
            <a:pPr eaLnBrk="1" hangingPunct="1">
              <a:defRPr/>
            </a:pPr>
            <a:r>
              <a:rPr lang="en-US" b="1" dirty="0"/>
              <a:t>Model RAD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0A442A-A7AC-0C1C-EA97-8122786B0162}"/>
              </a:ext>
            </a:extLst>
          </p:cNvPr>
          <p:cNvSpPr>
            <a:spLocks noGrp="1"/>
          </p:cNvSpPr>
          <p:nvPr>
            <p:ph idx="1"/>
          </p:nvPr>
        </p:nvSpPr>
        <p:spPr/>
        <p:txBody>
          <a:bodyPr/>
          <a:lstStyle/>
          <a:p>
            <a:pPr lvl="0"/>
            <a:r>
              <a:rPr lang="en-ID" i="1" dirty="0"/>
              <a:t>Business </a:t>
            </a:r>
            <a:r>
              <a:rPr lang="en-ID" i="1" dirty="0" err="1"/>
              <a:t>modeling</a:t>
            </a:r>
            <a:r>
              <a:rPr lang="en-ID" dirty="0"/>
              <a:t> (</a:t>
            </a:r>
            <a:r>
              <a:rPr lang="en-ID" dirty="0" err="1"/>
              <a:t>pemodelan</a:t>
            </a:r>
            <a:r>
              <a:rPr lang="en-ID" dirty="0"/>
              <a:t> </a:t>
            </a:r>
            <a:r>
              <a:rPr lang="en-ID" dirty="0" err="1"/>
              <a:t>alur</a:t>
            </a:r>
            <a:r>
              <a:rPr lang="en-ID" dirty="0"/>
              <a:t> </a:t>
            </a:r>
            <a:r>
              <a:rPr lang="en-ID" dirty="0" err="1"/>
              <a:t>bisnis</a:t>
            </a:r>
            <a:r>
              <a:rPr lang="en-ID" dirty="0"/>
              <a:t>).</a:t>
            </a:r>
          </a:p>
          <a:p>
            <a:pPr lvl="0"/>
            <a:r>
              <a:rPr lang="en-ID" i="1" dirty="0"/>
              <a:t>Data </a:t>
            </a:r>
            <a:r>
              <a:rPr lang="en-ID" i="1" dirty="0" err="1"/>
              <a:t>modeling</a:t>
            </a:r>
            <a:r>
              <a:rPr lang="en-ID" dirty="0"/>
              <a:t> (</a:t>
            </a:r>
            <a:r>
              <a:rPr lang="en-ID" dirty="0" err="1"/>
              <a:t>pemodelan</a:t>
            </a:r>
            <a:r>
              <a:rPr lang="en-ID" dirty="0"/>
              <a:t> data).</a:t>
            </a:r>
          </a:p>
          <a:p>
            <a:pPr lvl="0"/>
            <a:r>
              <a:rPr lang="en-ID" i="1" dirty="0"/>
              <a:t>Process </a:t>
            </a:r>
            <a:r>
              <a:rPr lang="en-ID" i="1" dirty="0" err="1"/>
              <a:t>modeling</a:t>
            </a:r>
            <a:r>
              <a:rPr lang="en-ID" dirty="0"/>
              <a:t> (</a:t>
            </a:r>
            <a:r>
              <a:rPr lang="en-ID" dirty="0" err="1"/>
              <a:t>pemodelan</a:t>
            </a:r>
            <a:r>
              <a:rPr lang="en-ID" dirty="0"/>
              <a:t> proses).</a:t>
            </a:r>
          </a:p>
          <a:p>
            <a:pPr lvl="0"/>
            <a:r>
              <a:rPr lang="en-ID" i="1" dirty="0"/>
              <a:t>Application generation</a:t>
            </a:r>
            <a:r>
              <a:rPr lang="en-ID" dirty="0"/>
              <a:t> (</a:t>
            </a:r>
            <a:r>
              <a:rPr lang="en-ID" dirty="0" err="1"/>
              <a:t>pembuatan</a:t>
            </a:r>
            <a:r>
              <a:rPr lang="en-ID" dirty="0"/>
              <a:t> </a:t>
            </a:r>
            <a:r>
              <a:rPr lang="en-ID" dirty="0" err="1"/>
              <a:t>aplikasi</a:t>
            </a:r>
            <a:r>
              <a:rPr lang="en-ID" dirty="0"/>
              <a:t>/coding </a:t>
            </a:r>
            <a:r>
              <a:rPr lang="en-ID" dirty="0" err="1"/>
              <a:t>cepat</a:t>
            </a:r>
            <a:r>
              <a:rPr lang="en-ID" dirty="0"/>
              <a:t>).</a:t>
            </a:r>
          </a:p>
          <a:p>
            <a:pPr lvl="0"/>
            <a:r>
              <a:rPr lang="en-ID" i="1" dirty="0"/>
              <a:t>Testing and turnover</a:t>
            </a:r>
            <a:r>
              <a:rPr lang="en-ID" dirty="0"/>
              <a:t> (</a:t>
            </a:r>
            <a:r>
              <a:rPr lang="en-ID" dirty="0" err="1"/>
              <a:t>pengujian</a:t>
            </a:r>
            <a:r>
              <a:rPr lang="en-ID" dirty="0"/>
              <a:t> dan </a:t>
            </a:r>
            <a:r>
              <a:rPr lang="en-ID" dirty="0" err="1"/>
              <a:t>penyerahan</a:t>
            </a:r>
            <a:r>
              <a:rPr lang="en-ID" dirty="0"/>
              <a:t>)</a:t>
            </a:r>
          </a:p>
          <a:p>
            <a:pPr marL="109728" indent="0">
              <a:buNone/>
            </a:pPr>
            <a:endParaRPr lang="en-ID" dirty="0"/>
          </a:p>
        </p:txBody>
      </p:sp>
      <p:sp>
        <p:nvSpPr>
          <p:cNvPr id="4" name="Title 3">
            <a:extLst>
              <a:ext uri="{FF2B5EF4-FFF2-40B4-BE49-F238E27FC236}">
                <a16:creationId xmlns:a16="http://schemas.microsoft.com/office/drawing/2014/main" id="{832DB9C3-00A7-483C-28BD-FA7A82B8257C}"/>
              </a:ext>
            </a:extLst>
          </p:cNvPr>
          <p:cNvSpPr>
            <a:spLocks noGrp="1"/>
          </p:cNvSpPr>
          <p:nvPr>
            <p:ph type="title"/>
          </p:nvPr>
        </p:nvSpPr>
        <p:spPr/>
        <p:txBody>
          <a:bodyPr/>
          <a:lstStyle/>
          <a:p>
            <a:r>
              <a:rPr lang="en-ID" dirty="0" err="1"/>
              <a:t>Tahapan</a:t>
            </a:r>
            <a:r>
              <a:rPr lang="en-ID" dirty="0"/>
              <a:t> </a:t>
            </a:r>
            <a:r>
              <a:rPr lang="en-ID" dirty="0" err="1"/>
              <a:t>utama</a:t>
            </a:r>
            <a:r>
              <a:rPr lang="en-ID" dirty="0"/>
              <a:t> RAD</a:t>
            </a:r>
          </a:p>
        </p:txBody>
      </p:sp>
    </p:spTree>
    <p:extLst>
      <p:ext uri="{BB962C8B-B14F-4D97-AF65-F5344CB8AC3E}">
        <p14:creationId xmlns:p14="http://schemas.microsoft.com/office/powerpoint/2010/main" val="254149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066800" y="609600"/>
            <a:ext cx="7620000" cy="808038"/>
          </a:xfrm>
        </p:spPr>
        <p:txBody>
          <a:bodyPr/>
          <a:lstStyle/>
          <a:p>
            <a:pPr>
              <a:defRPr/>
            </a:pPr>
            <a:r>
              <a:rPr lang="en-ID" dirty="0" err="1"/>
              <a:t>Tahapan</a:t>
            </a:r>
            <a:r>
              <a:rPr lang="en-ID" dirty="0"/>
              <a:t> </a:t>
            </a:r>
            <a:r>
              <a:rPr lang="en-ID" dirty="0" err="1"/>
              <a:t>utama</a:t>
            </a:r>
            <a:r>
              <a:rPr lang="en-ID" dirty="0"/>
              <a:t> </a:t>
            </a:r>
            <a:r>
              <a:rPr lang="en-US" b="1" dirty="0"/>
              <a:t>RAD</a:t>
            </a:r>
          </a:p>
        </p:txBody>
      </p:sp>
      <p:pic>
        <p:nvPicPr>
          <p:cNvPr id="6148" name="Picture 3"/>
          <p:cNvPicPr>
            <a:picLocks noChangeAspect="1" noChangeArrowheads="1"/>
          </p:cNvPicPr>
          <p:nvPr/>
        </p:nvPicPr>
        <p:blipFill>
          <a:blip r:embed="rId2"/>
          <a:srcRect/>
          <a:stretch>
            <a:fillRect/>
          </a:stretch>
        </p:blipFill>
        <p:spPr bwMode="auto">
          <a:xfrm>
            <a:off x="1371600" y="1676400"/>
            <a:ext cx="6705600" cy="43434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277C7F-3D8C-BFEA-027D-17370FACFC1D}"/>
              </a:ext>
            </a:extLst>
          </p:cNvPr>
          <p:cNvSpPr>
            <a:spLocks noGrp="1"/>
          </p:cNvSpPr>
          <p:nvPr>
            <p:ph idx="1"/>
          </p:nvPr>
        </p:nvSpPr>
        <p:spPr/>
        <p:txBody>
          <a:bodyPr/>
          <a:lstStyle/>
          <a:p>
            <a:r>
              <a:rPr lang="en-ID" b="1" dirty="0" err="1"/>
              <a:t>Kelebihan</a:t>
            </a:r>
            <a:r>
              <a:rPr lang="en-ID" b="1" dirty="0"/>
              <a:t>:</a:t>
            </a:r>
            <a:r>
              <a:rPr lang="en-ID" dirty="0"/>
              <a:t> Waktu </a:t>
            </a:r>
            <a:r>
              <a:rPr lang="en-ID" dirty="0" err="1"/>
              <a:t>pengerjaan</a:t>
            </a:r>
            <a:r>
              <a:rPr lang="en-ID" dirty="0"/>
              <a:t> sangat </a:t>
            </a:r>
            <a:r>
              <a:rPr lang="en-ID" dirty="0" err="1"/>
              <a:t>cepat</a:t>
            </a:r>
            <a:r>
              <a:rPr lang="en-ID" dirty="0"/>
              <a:t> dan </a:t>
            </a:r>
            <a:r>
              <a:rPr lang="en-ID" dirty="0" err="1"/>
              <a:t>melibatkan</a:t>
            </a:r>
            <a:r>
              <a:rPr lang="en-ID" dirty="0"/>
              <a:t> </a:t>
            </a:r>
            <a:r>
              <a:rPr lang="en-ID" dirty="0" err="1"/>
              <a:t>pengguna</a:t>
            </a:r>
            <a:r>
              <a:rPr lang="en-ID" dirty="0"/>
              <a:t> </a:t>
            </a:r>
            <a:r>
              <a:rPr lang="en-ID" dirty="0" err="1"/>
              <a:t>secara</a:t>
            </a:r>
            <a:r>
              <a:rPr lang="en-ID" dirty="0"/>
              <a:t> </a:t>
            </a:r>
            <a:r>
              <a:rPr lang="en-ID" dirty="0" err="1"/>
              <a:t>aktif</a:t>
            </a:r>
            <a:r>
              <a:rPr lang="en-ID" dirty="0"/>
              <a:t> </a:t>
            </a:r>
            <a:r>
              <a:rPr lang="en-ID" dirty="0" err="1"/>
              <a:t>sejak</a:t>
            </a:r>
            <a:r>
              <a:rPr lang="en-ID" dirty="0"/>
              <a:t> </a:t>
            </a:r>
            <a:r>
              <a:rPr lang="en-ID" dirty="0" err="1"/>
              <a:t>awal</a:t>
            </a:r>
            <a:r>
              <a:rPr lang="en-ID" dirty="0"/>
              <a:t>.</a:t>
            </a:r>
          </a:p>
          <a:p>
            <a:r>
              <a:rPr lang="en-ID" b="1" dirty="0" err="1"/>
              <a:t>Kekurangan</a:t>
            </a:r>
            <a:r>
              <a:rPr lang="en-ID" b="1" dirty="0"/>
              <a:t>:</a:t>
            </a:r>
            <a:r>
              <a:rPr lang="en-ID" dirty="0"/>
              <a:t> </a:t>
            </a:r>
            <a:r>
              <a:rPr lang="en-ID" dirty="0" err="1"/>
              <a:t>Butuh</a:t>
            </a:r>
            <a:r>
              <a:rPr lang="en-ID" dirty="0"/>
              <a:t> </a:t>
            </a:r>
            <a:r>
              <a:rPr lang="en-ID" dirty="0" err="1"/>
              <a:t>komitmen</a:t>
            </a:r>
            <a:r>
              <a:rPr lang="en-ID" dirty="0"/>
              <a:t> </a:t>
            </a:r>
            <a:r>
              <a:rPr lang="en-ID" dirty="0" err="1"/>
              <a:t>tinggi</a:t>
            </a:r>
            <a:r>
              <a:rPr lang="en-ID" dirty="0"/>
              <a:t> </a:t>
            </a:r>
            <a:r>
              <a:rPr lang="en-ID" dirty="0" err="1"/>
              <a:t>dari</a:t>
            </a:r>
            <a:r>
              <a:rPr lang="en-ID" dirty="0"/>
              <a:t> </a:t>
            </a:r>
            <a:r>
              <a:rPr lang="en-ID" dirty="0" err="1"/>
              <a:t>pengguna</a:t>
            </a:r>
            <a:r>
              <a:rPr lang="en-ID" dirty="0"/>
              <a:t> dan </a:t>
            </a:r>
            <a:r>
              <a:rPr lang="en-ID" dirty="0" err="1"/>
              <a:t>tidak</a:t>
            </a:r>
            <a:r>
              <a:rPr lang="en-ID" dirty="0"/>
              <a:t> </a:t>
            </a:r>
            <a:r>
              <a:rPr lang="en-ID" dirty="0" err="1"/>
              <a:t>cocok</a:t>
            </a:r>
            <a:r>
              <a:rPr lang="en-ID" dirty="0"/>
              <a:t> </a:t>
            </a:r>
            <a:r>
              <a:rPr lang="en-ID" dirty="0" err="1"/>
              <a:t>untuk</a:t>
            </a:r>
            <a:r>
              <a:rPr lang="en-ID" dirty="0"/>
              <a:t> </a:t>
            </a:r>
            <a:r>
              <a:rPr lang="en-ID" dirty="0" err="1"/>
              <a:t>sistem</a:t>
            </a:r>
            <a:r>
              <a:rPr lang="en-ID" dirty="0"/>
              <a:t> yang </a:t>
            </a:r>
            <a:r>
              <a:rPr lang="en-ID" dirty="0" err="1"/>
              <a:t>tidak</a:t>
            </a:r>
            <a:r>
              <a:rPr lang="en-ID" dirty="0"/>
              <a:t> </a:t>
            </a:r>
            <a:r>
              <a:rPr lang="en-ID" dirty="0" err="1"/>
              <a:t>bisa</a:t>
            </a:r>
            <a:r>
              <a:rPr lang="en-ID" dirty="0"/>
              <a:t> </a:t>
            </a:r>
            <a:r>
              <a:rPr lang="en-ID" dirty="0" err="1"/>
              <a:t>dibagi</a:t>
            </a:r>
            <a:r>
              <a:rPr lang="en-ID" dirty="0"/>
              <a:t> </a:t>
            </a:r>
            <a:r>
              <a:rPr lang="en-ID" dirty="0" err="1"/>
              <a:t>menjadi</a:t>
            </a:r>
            <a:r>
              <a:rPr lang="en-ID" dirty="0"/>
              <a:t> </a:t>
            </a:r>
            <a:r>
              <a:rPr lang="en-ID" dirty="0" err="1"/>
              <a:t>modul-modul</a:t>
            </a:r>
            <a:r>
              <a:rPr lang="en-ID" dirty="0"/>
              <a:t> </a:t>
            </a:r>
            <a:r>
              <a:rPr lang="en-ID" dirty="0" err="1"/>
              <a:t>kecil</a:t>
            </a:r>
            <a:r>
              <a:rPr lang="en-ID" dirty="0"/>
              <a:t>. </a:t>
            </a:r>
          </a:p>
        </p:txBody>
      </p:sp>
      <p:sp>
        <p:nvSpPr>
          <p:cNvPr id="4" name="Title 3">
            <a:extLst>
              <a:ext uri="{FF2B5EF4-FFF2-40B4-BE49-F238E27FC236}">
                <a16:creationId xmlns:a16="http://schemas.microsoft.com/office/drawing/2014/main" id="{A0A86987-D587-DD3D-7A92-22EBE4A3A215}"/>
              </a:ext>
            </a:extLst>
          </p:cNvPr>
          <p:cNvSpPr>
            <a:spLocks noGrp="1"/>
          </p:cNvSpPr>
          <p:nvPr>
            <p:ph type="title"/>
          </p:nvPr>
        </p:nvSpPr>
        <p:spPr/>
        <p:txBody>
          <a:bodyPr/>
          <a:lstStyle/>
          <a:p>
            <a:r>
              <a:rPr lang="en-US" dirty="0" err="1"/>
              <a:t>Kelebihan</a:t>
            </a:r>
            <a:r>
              <a:rPr lang="en-US" dirty="0"/>
              <a:t> dan </a:t>
            </a:r>
            <a:r>
              <a:rPr lang="en-US" dirty="0" err="1"/>
              <a:t>Kekurangan</a:t>
            </a:r>
            <a:r>
              <a:rPr lang="en-US" dirty="0"/>
              <a:t> RAD</a:t>
            </a:r>
            <a:endParaRPr lang="en-ID" dirty="0"/>
          </a:p>
        </p:txBody>
      </p:sp>
    </p:spTree>
    <p:extLst>
      <p:ext uri="{BB962C8B-B14F-4D97-AF65-F5344CB8AC3E}">
        <p14:creationId xmlns:p14="http://schemas.microsoft.com/office/powerpoint/2010/main" val="4019672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6F1C33-65A2-DC6A-8BD7-94B200885D72}"/>
              </a:ext>
            </a:extLst>
          </p:cNvPr>
          <p:cNvSpPr>
            <a:spLocks noGrp="1"/>
          </p:cNvSpPr>
          <p:nvPr>
            <p:ph idx="1"/>
          </p:nvPr>
        </p:nvSpPr>
        <p:spPr/>
        <p:txBody>
          <a:bodyPr>
            <a:normAutofit fontScale="85000" lnSpcReduction="20000"/>
          </a:bodyPr>
          <a:lstStyle/>
          <a:p>
            <a:r>
              <a:rPr lang="en-ID" b="1" dirty="0" err="1"/>
              <a:t>Sistem</a:t>
            </a:r>
            <a:r>
              <a:rPr lang="en-ID" b="1" dirty="0"/>
              <a:t> Alur </a:t>
            </a:r>
            <a:r>
              <a:rPr lang="en-ID" b="1" dirty="0" err="1"/>
              <a:t>Kerja</a:t>
            </a:r>
            <a:r>
              <a:rPr lang="en-ID" b="1" dirty="0"/>
              <a:t> SDM (</a:t>
            </a:r>
            <a:r>
              <a:rPr lang="en-ID" b="1" i="1" dirty="0"/>
              <a:t>Human Resources</a:t>
            </a:r>
            <a:r>
              <a:rPr lang="en-ID" b="1" dirty="0"/>
              <a:t>):</a:t>
            </a:r>
            <a:r>
              <a:rPr lang="en-ID" dirty="0"/>
              <a:t> </a:t>
            </a:r>
            <a:r>
              <a:rPr lang="en-ID" dirty="0" err="1"/>
              <a:t>Pembuatan</a:t>
            </a:r>
            <a:r>
              <a:rPr lang="en-ID" dirty="0"/>
              <a:t> </a:t>
            </a:r>
            <a:r>
              <a:rPr lang="en-ID" dirty="0" err="1"/>
              <a:t>aplikasi</a:t>
            </a:r>
            <a:r>
              <a:rPr lang="en-ID" dirty="0"/>
              <a:t> </a:t>
            </a:r>
            <a:r>
              <a:rPr lang="en-ID" dirty="0" err="1"/>
              <a:t>pengajuan</a:t>
            </a:r>
            <a:r>
              <a:rPr lang="en-ID" dirty="0"/>
              <a:t> </a:t>
            </a:r>
            <a:r>
              <a:rPr lang="en-ID" dirty="0" err="1"/>
              <a:t>cuti</a:t>
            </a:r>
            <a:r>
              <a:rPr lang="en-ID" dirty="0"/>
              <a:t> online, daftar </a:t>
            </a:r>
            <a:r>
              <a:rPr lang="en-ID" dirty="0" err="1"/>
              <a:t>periksa</a:t>
            </a:r>
            <a:r>
              <a:rPr lang="en-ID" dirty="0"/>
              <a:t> </a:t>
            </a:r>
            <a:r>
              <a:rPr lang="en-ID" i="1" dirty="0"/>
              <a:t>onboarding</a:t>
            </a:r>
            <a:r>
              <a:rPr lang="en-ID" dirty="0"/>
              <a:t> (</a:t>
            </a:r>
            <a:r>
              <a:rPr lang="en-ID" dirty="0" err="1"/>
              <a:t>orientasi</a:t>
            </a:r>
            <a:r>
              <a:rPr lang="en-ID" dirty="0"/>
              <a:t>) </a:t>
            </a:r>
            <a:r>
              <a:rPr lang="en-ID" dirty="0" err="1"/>
              <a:t>karyawan</a:t>
            </a:r>
            <a:r>
              <a:rPr lang="en-ID" dirty="0"/>
              <a:t> </a:t>
            </a:r>
            <a:r>
              <a:rPr lang="en-ID" dirty="0" err="1"/>
              <a:t>baru</a:t>
            </a:r>
            <a:r>
              <a:rPr lang="en-ID" dirty="0"/>
              <a:t>, </a:t>
            </a:r>
            <a:r>
              <a:rPr lang="en-ID" dirty="0" err="1"/>
              <a:t>atau</a:t>
            </a:r>
            <a:r>
              <a:rPr lang="en-ID" dirty="0"/>
              <a:t> </a:t>
            </a:r>
            <a:r>
              <a:rPr lang="en-ID" dirty="0" err="1"/>
              <a:t>manajemen</a:t>
            </a:r>
            <a:r>
              <a:rPr lang="en-ID" dirty="0"/>
              <a:t> </a:t>
            </a:r>
            <a:r>
              <a:rPr lang="en-ID" dirty="0" err="1"/>
              <a:t>klaim</a:t>
            </a:r>
            <a:r>
              <a:rPr lang="en-ID" dirty="0"/>
              <a:t> </a:t>
            </a:r>
            <a:r>
              <a:rPr lang="en-ID" dirty="0" err="1"/>
              <a:t>pengeluaran</a:t>
            </a:r>
            <a:r>
              <a:rPr lang="en-ID" dirty="0"/>
              <a:t>. Proses </a:t>
            </a:r>
            <a:r>
              <a:rPr lang="en-ID" dirty="0" err="1"/>
              <a:t>ini</a:t>
            </a:r>
            <a:r>
              <a:rPr lang="en-ID" dirty="0"/>
              <a:t> </a:t>
            </a:r>
            <a:r>
              <a:rPr lang="en-ID" dirty="0" err="1"/>
              <a:t>dipilih</a:t>
            </a:r>
            <a:r>
              <a:rPr lang="en-ID" dirty="0"/>
              <a:t> </a:t>
            </a:r>
            <a:r>
              <a:rPr lang="en-ID" dirty="0" err="1"/>
              <a:t>karena</a:t>
            </a:r>
            <a:r>
              <a:rPr lang="en-ID" dirty="0"/>
              <a:t> </a:t>
            </a:r>
            <a:r>
              <a:rPr lang="en-ID" dirty="0" err="1"/>
              <a:t>aturan</a:t>
            </a:r>
            <a:r>
              <a:rPr lang="en-ID" dirty="0"/>
              <a:t> </a:t>
            </a:r>
            <a:r>
              <a:rPr lang="en-ID" dirty="0" err="1"/>
              <a:t>bisnisnya</a:t>
            </a:r>
            <a:r>
              <a:rPr lang="en-ID" dirty="0"/>
              <a:t> </a:t>
            </a:r>
            <a:r>
              <a:rPr lang="en-ID" dirty="0" err="1"/>
              <a:t>mudah</a:t>
            </a:r>
            <a:r>
              <a:rPr lang="en-ID" dirty="0"/>
              <a:t> </a:t>
            </a:r>
            <a:r>
              <a:rPr lang="en-ID" dirty="0" err="1"/>
              <a:t>dipahami</a:t>
            </a:r>
            <a:r>
              <a:rPr lang="en-ID" dirty="0"/>
              <a:t> dan </a:t>
            </a:r>
            <a:r>
              <a:rPr lang="en-ID" dirty="0" err="1"/>
              <a:t>sering</a:t>
            </a:r>
            <a:r>
              <a:rPr lang="en-ID" dirty="0"/>
              <a:t> </a:t>
            </a:r>
            <a:r>
              <a:rPr lang="en-ID" dirty="0" err="1"/>
              <a:t>diperbarui</a:t>
            </a:r>
            <a:endParaRPr lang="en-ID" dirty="0"/>
          </a:p>
          <a:p>
            <a:r>
              <a:rPr lang="en-ID" b="1" dirty="0" err="1"/>
              <a:t>Aplikasi</a:t>
            </a:r>
            <a:r>
              <a:rPr lang="en-ID" b="1" dirty="0"/>
              <a:t> </a:t>
            </a:r>
            <a:r>
              <a:rPr lang="en-ID" b="1" dirty="0" err="1"/>
              <a:t>Manajemen</a:t>
            </a:r>
            <a:r>
              <a:rPr lang="en-ID" b="1" dirty="0"/>
              <a:t> </a:t>
            </a:r>
            <a:r>
              <a:rPr lang="en-ID" b="1" dirty="0" err="1"/>
              <a:t>Operasional</a:t>
            </a:r>
            <a:r>
              <a:rPr lang="en-ID" b="1" dirty="0"/>
              <a:t>:</a:t>
            </a:r>
            <a:r>
              <a:rPr lang="en-ID" dirty="0"/>
              <a:t> </a:t>
            </a:r>
            <a:r>
              <a:rPr lang="en-ID" dirty="0" err="1"/>
              <a:t>Sistem</a:t>
            </a:r>
            <a:r>
              <a:rPr lang="en-ID" dirty="0"/>
              <a:t> </a:t>
            </a:r>
            <a:r>
              <a:rPr lang="en-ID" dirty="0" err="1"/>
              <a:t>penjadwalan</a:t>
            </a:r>
            <a:r>
              <a:rPr lang="en-ID" dirty="0"/>
              <a:t> </a:t>
            </a:r>
            <a:r>
              <a:rPr lang="en-ID" i="1" dirty="0"/>
              <a:t>shift</a:t>
            </a:r>
            <a:r>
              <a:rPr lang="en-ID" dirty="0"/>
              <a:t> </a:t>
            </a:r>
            <a:r>
              <a:rPr lang="en-ID" dirty="0" err="1"/>
              <a:t>kerja</a:t>
            </a:r>
            <a:r>
              <a:rPr lang="en-ID" dirty="0"/>
              <a:t>, </a:t>
            </a:r>
            <a:r>
              <a:rPr lang="en-ID" dirty="0" err="1"/>
              <a:t>pelacakan</a:t>
            </a:r>
            <a:r>
              <a:rPr lang="en-ID" dirty="0"/>
              <a:t> </a:t>
            </a:r>
            <a:r>
              <a:rPr lang="en-ID" dirty="0" err="1"/>
              <a:t>pemeliharaan</a:t>
            </a:r>
            <a:r>
              <a:rPr lang="en-ID" dirty="0"/>
              <a:t> </a:t>
            </a:r>
            <a:r>
              <a:rPr lang="en-ID" dirty="0" err="1"/>
              <a:t>aset</a:t>
            </a:r>
            <a:r>
              <a:rPr lang="en-ID" dirty="0"/>
              <a:t> </a:t>
            </a:r>
            <a:r>
              <a:rPr lang="en-ID" dirty="0" err="1"/>
              <a:t>inventaris</a:t>
            </a:r>
            <a:r>
              <a:rPr lang="en-ID" dirty="0"/>
              <a:t> </a:t>
            </a:r>
            <a:r>
              <a:rPr lang="en-ID" dirty="0" err="1"/>
              <a:t>kantor</a:t>
            </a:r>
            <a:r>
              <a:rPr lang="en-ID" dirty="0"/>
              <a:t>, </a:t>
            </a:r>
            <a:r>
              <a:rPr lang="en-ID" dirty="0" err="1"/>
              <a:t>atau</a:t>
            </a:r>
            <a:r>
              <a:rPr lang="en-ID" dirty="0"/>
              <a:t> </a:t>
            </a:r>
            <a:r>
              <a:rPr lang="en-ID" dirty="0" err="1"/>
              <a:t>penanganan</a:t>
            </a:r>
            <a:r>
              <a:rPr lang="en-ID" dirty="0"/>
              <a:t> </a:t>
            </a:r>
            <a:r>
              <a:rPr lang="en-ID" dirty="0" err="1"/>
              <a:t>tiket</a:t>
            </a:r>
            <a:r>
              <a:rPr lang="en-ID" dirty="0"/>
              <a:t> </a:t>
            </a:r>
            <a:r>
              <a:rPr lang="en-ID" dirty="0" err="1"/>
              <a:t>komplain</a:t>
            </a:r>
            <a:r>
              <a:rPr lang="en-ID" dirty="0"/>
              <a:t> (</a:t>
            </a:r>
            <a:r>
              <a:rPr lang="en-ID" i="1" dirty="0"/>
              <a:t>helpdesk</a:t>
            </a:r>
            <a:r>
              <a:rPr lang="en-ID" dirty="0"/>
              <a:t>)</a:t>
            </a:r>
          </a:p>
          <a:p>
            <a:r>
              <a:rPr lang="en-ID" b="1" dirty="0"/>
              <a:t>Portal </a:t>
            </a:r>
            <a:r>
              <a:rPr lang="en-ID" b="1" dirty="0" err="1"/>
              <a:t>Pendaftaran</a:t>
            </a:r>
            <a:r>
              <a:rPr lang="en-ID" b="1" dirty="0"/>
              <a:t> Vendor </a:t>
            </a:r>
            <a:r>
              <a:rPr lang="en-ID" b="1" dirty="0" err="1"/>
              <a:t>atau</a:t>
            </a:r>
            <a:r>
              <a:rPr lang="en-ID" b="1" dirty="0"/>
              <a:t> </a:t>
            </a:r>
            <a:r>
              <a:rPr lang="en-ID" b="1" dirty="0" err="1"/>
              <a:t>Pelanggan</a:t>
            </a:r>
            <a:r>
              <a:rPr lang="en-ID" b="1" dirty="0"/>
              <a:t>:</a:t>
            </a:r>
            <a:r>
              <a:rPr lang="en-ID" dirty="0"/>
              <a:t> </a:t>
            </a:r>
            <a:r>
              <a:rPr lang="en-ID" dirty="0" err="1"/>
              <a:t>Sistem</a:t>
            </a:r>
            <a:r>
              <a:rPr lang="en-ID" dirty="0"/>
              <a:t> </a:t>
            </a:r>
            <a:r>
              <a:rPr lang="en-ID" dirty="0" err="1"/>
              <a:t>formulir</a:t>
            </a:r>
            <a:r>
              <a:rPr lang="en-ID" dirty="0"/>
              <a:t> </a:t>
            </a:r>
            <a:r>
              <a:rPr lang="en-ID" dirty="0" err="1"/>
              <a:t>pendaftaran</a:t>
            </a:r>
            <a:r>
              <a:rPr lang="en-ID" dirty="0"/>
              <a:t> digital yang </a:t>
            </a:r>
            <a:r>
              <a:rPr lang="en-ID" dirty="0" err="1"/>
              <a:t>membutuhkan</a:t>
            </a:r>
            <a:r>
              <a:rPr lang="en-ID" dirty="0"/>
              <a:t> </a:t>
            </a:r>
            <a:r>
              <a:rPr lang="en-ID" dirty="0" err="1"/>
              <a:t>antarmuka</a:t>
            </a:r>
            <a:r>
              <a:rPr lang="en-ID" dirty="0"/>
              <a:t> </a:t>
            </a:r>
            <a:r>
              <a:rPr lang="en-ID" dirty="0" err="1"/>
              <a:t>sederhana</a:t>
            </a:r>
            <a:r>
              <a:rPr lang="en-ID" dirty="0"/>
              <a:t> agar </a:t>
            </a:r>
            <a:r>
              <a:rPr lang="en-ID" dirty="0" err="1"/>
              <a:t>pengguna</a:t>
            </a:r>
            <a:r>
              <a:rPr lang="en-ID" dirty="0"/>
              <a:t> </a:t>
            </a:r>
            <a:r>
              <a:rPr lang="en-ID" dirty="0" err="1"/>
              <a:t>atau</a:t>
            </a:r>
            <a:r>
              <a:rPr lang="en-ID" dirty="0"/>
              <a:t> </a:t>
            </a:r>
            <a:r>
              <a:rPr lang="en-ID" dirty="0" err="1"/>
              <a:t>pemangku</a:t>
            </a:r>
            <a:r>
              <a:rPr lang="en-ID" dirty="0"/>
              <a:t> </a:t>
            </a:r>
            <a:r>
              <a:rPr lang="en-ID" dirty="0" err="1"/>
              <a:t>kepentingan</a:t>
            </a:r>
            <a:r>
              <a:rPr lang="en-ID" dirty="0"/>
              <a:t> </a:t>
            </a:r>
            <a:r>
              <a:rPr lang="en-ID" dirty="0" err="1"/>
              <a:t>bisa</a:t>
            </a:r>
            <a:r>
              <a:rPr lang="en-ID" dirty="0"/>
              <a:t> </a:t>
            </a:r>
            <a:r>
              <a:rPr lang="en-ID" dirty="0" err="1"/>
              <a:t>langsung</a:t>
            </a:r>
            <a:r>
              <a:rPr lang="en-ID" dirty="0"/>
              <a:t> </a:t>
            </a:r>
            <a:r>
              <a:rPr lang="en-ID" dirty="0" err="1"/>
              <a:t>mencoba</a:t>
            </a:r>
            <a:r>
              <a:rPr lang="en-ID" dirty="0"/>
              <a:t> </a:t>
            </a:r>
            <a:r>
              <a:rPr lang="en-ID" dirty="0" err="1"/>
              <a:t>prototipe</a:t>
            </a:r>
            <a:r>
              <a:rPr lang="en-ID" dirty="0"/>
              <a:t> </a:t>
            </a:r>
            <a:r>
              <a:rPr lang="en-ID" dirty="0" err="1"/>
              <a:t>awal</a:t>
            </a:r>
            <a:r>
              <a:rPr lang="en-ID" dirty="0"/>
              <a:t> dan </a:t>
            </a:r>
            <a:r>
              <a:rPr lang="en-ID" dirty="0" err="1"/>
              <a:t>memberi</a:t>
            </a:r>
            <a:r>
              <a:rPr lang="en-ID" dirty="0"/>
              <a:t> </a:t>
            </a:r>
            <a:r>
              <a:rPr lang="en-ID" dirty="0" err="1"/>
              <a:t>masukan</a:t>
            </a:r>
            <a:endParaRPr lang="en-ID" dirty="0"/>
          </a:p>
        </p:txBody>
      </p:sp>
      <p:sp>
        <p:nvSpPr>
          <p:cNvPr id="4" name="Title 3">
            <a:extLst>
              <a:ext uri="{FF2B5EF4-FFF2-40B4-BE49-F238E27FC236}">
                <a16:creationId xmlns:a16="http://schemas.microsoft.com/office/drawing/2014/main" id="{AA609D79-1616-9C5E-67D3-00583EE25860}"/>
              </a:ext>
            </a:extLst>
          </p:cNvPr>
          <p:cNvSpPr>
            <a:spLocks noGrp="1"/>
          </p:cNvSpPr>
          <p:nvPr>
            <p:ph type="title"/>
          </p:nvPr>
        </p:nvSpPr>
        <p:spPr/>
        <p:txBody>
          <a:bodyPr>
            <a:noAutofit/>
          </a:bodyPr>
          <a:lstStyle/>
          <a:p>
            <a:r>
              <a:rPr lang="en-ID" sz="3200" dirty="0" err="1"/>
              <a:t>Contoh</a:t>
            </a:r>
            <a:r>
              <a:rPr lang="en-ID" sz="3200" dirty="0"/>
              <a:t> </a:t>
            </a:r>
            <a:r>
              <a:rPr lang="en-ID" sz="3200" dirty="0" err="1"/>
              <a:t>Kasus</a:t>
            </a:r>
            <a:r>
              <a:rPr lang="en-ID" sz="3200" dirty="0"/>
              <a:t> </a:t>
            </a:r>
            <a:r>
              <a:rPr lang="en-ID" sz="3200" dirty="0" err="1"/>
              <a:t>Nyata</a:t>
            </a:r>
            <a:r>
              <a:rPr lang="en-ID" sz="3200" dirty="0"/>
              <a:t> </a:t>
            </a:r>
            <a:r>
              <a:rPr lang="en-ID" sz="3200" dirty="0" err="1"/>
              <a:t>Penggunaan</a:t>
            </a:r>
            <a:r>
              <a:rPr lang="en-ID" sz="3200" dirty="0"/>
              <a:t> RAD</a:t>
            </a:r>
          </a:p>
        </p:txBody>
      </p:sp>
    </p:spTree>
    <p:extLst>
      <p:ext uri="{BB962C8B-B14F-4D97-AF65-F5344CB8AC3E}">
        <p14:creationId xmlns:p14="http://schemas.microsoft.com/office/powerpoint/2010/main" val="2456811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180108-2331-E134-06BA-2508F193E1E6}"/>
              </a:ext>
            </a:extLst>
          </p:cNvPr>
          <p:cNvSpPr>
            <a:spLocks noGrp="1"/>
          </p:cNvSpPr>
          <p:nvPr>
            <p:ph idx="1"/>
          </p:nvPr>
        </p:nvSpPr>
        <p:spPr/>
        <p:txBody>
          <a:bodyPr/>
          <a:lstStyle/>
          <a:p>
            <a:pPr lvl="0"/>
            <a:r>
              <a:rPr lang="en-ID" b="1" dirty="0" err="1"/>
              <a:t>Kebutuhan</a:t>
            </a:r>
            <a:r>
              <a:rPr lang="en-ID" b="1" dirty="0"/>
              <a:t> Jelas:</a:t>
            </a:r>
            <a:r>
              <a:rPr lang="en-ID" dirty="0"/>
              <a:t> Alur </a:t>
            </a:r>
            <a:r>
              <a:rPr lang="en-ID" dirty="0" err="1"/>
              <a:t>kerja</a:t>
            </a:r>
            <a:r>
              <a:rPr lang="en-ID" dirty="0"/>
              <a:t> dan </a:t>
            </a:r>
            <a:r>
              <a:rPr lang="en-ID" dirty="0" err="1"/>
              <a:t>fungsi</a:t>
            </a:r>
            <a:r>
              <a:rPr lang="en-ID" dirty="0"/>
              <a:t> </a:t>
            </a:r>
            <a:r>
              <a:rPr lang="en-ID" dirty="0" err="1"/>
              <a:t>dasar</a:t>
            </a:r>
            <a:r>
              <a:rPr lang="en-ID" dirty="0"/>
              <a:t> </a:t>
            </a:r>
            <a:r>
              <a:rPr lang="en-ID" dirty="0" err="1"/>
              <a:t>sistem</a:t>
            </a:r>
            <a:r>
              <a:rPr lang="en-ID" dirty="0"/>
              <a:t> </a:t>
            </a:r>
            <a:r>
              <a:rPr lang="en-ID" dirty="0" err="1"/>
              <a:t>sudah</a:t>
            </a:r>
            <a:r>
              <a:rPr lang="en-ID" dirty="0"/>
              <a:t> </a:t>
            </a:r>
            <a:r>
              <a:rPr lang="en-ID" dirty="0" err="1"/>
              <a:t>dipahami</a:t>
            </a:r>
            <a:r>
              <a:rPr lang="en-ID" dirty="0"/>
              <a:t> </a:t>
            </a:r>
            <a:r>
              <a:rPr lang="en-ID" dirty="0" err="1"/>
              <a:t>dengan</a:t>
            </a:r>
            <a:r>
              <a:rPr lang="en-ID" dirty="0"/>
              <a:t> </a:t>
            </a:r>
            <a:r>
              <a:rPr lang="en-ID" dirty="0" err="1"/>
              <a:t>baik</a:t>
            </a:r>
            <a:r>
              <a:rPr lang="en-ID" dirty="0"/>
              <a:t> oleh </a:t>
            </a:r>
            <a:r>
              <a:rPr lang="en-ID" dirty="0" err="1"/>
              <a:t>pengguna</a:t>
            </a:r>
            <a:r>
              <a:rPr lang="en-ID" dirty="0"/>
              <a:t> </a:t>
            </a:r>
            <a:r>
              <a:rPr lang="en-ID" dirty="0" err="1"/>
              <a:t>maupun</a:t>
            </a:r>
            <a:r>
              <a:rPr lang="en-ID" dirty="0"/>
              <a:t> </a:t>
            </a:r>
            <a:r>
              <a:rPr lang="en-ID" dirty="0" err="1"/>
              <a:t>pengembang</a:t>
            </a:r>
            <a:r>
              <a:rPr lang="en-ID" dirty="0"/>
              <a:t>.</a:t>
            </a:r>
          </a:p>
          <a:p>
            <a:pPr lvl="0"/>
            <a:r>
              <a:rPr lang="en-ID" b="1" dirty="0"/>
              <a:t>Waktu </a:t>
            </a:r>
            <a:r>
              <a:rPr lang="en-ID" b="1" dirty="0" err="1"/>
              <a:t>Singkat</a:t>
            </a:r>
            <a:r>
              <a:rPr lang="en-ID" b="1" dirty="0"/>
              <a:t>:</a:t>
            </a:r>
            <a:r>
              <a:rPr lang="en-ID" dirty="0"/>
              <a:t> Target </a:t>
            </a:r>
            <a:r>
              <a:rPr lang="en-ID" dirty="0" err="1"/>
              <a:t>penyelesaian</a:t>
            </a:r>
            <a:r>
              <a:rPr lang="en-ID" dirty="0"/>
              <a:t> </a:t>
            </a:r>
            <a:r>
              <a:rPr lang="en-ID" dirty="0" err="1"/>
              <a:t>proyek</a:t>
            </a:r>
            <a:r>
              <a:rPr lang="en-ID" dirty="0"/>
              <a:t> sangat </a:t>
            </a:r>
            <a:r>
              <a:rPr lang="en-ID" dirty="0" err="1"/>
              <a:t>cepat</a:t>
            </a:r>
            <a:r>
              <a:rPr lang="en-ID" dirty="0"/>
              <a:t>, </a:t>
            </a:r>
            <a:r>
              <a:rPr lang="en-ID" dirty="0" err="1"/>
              <a:t>berkisar</a:t>
            </a:r>
            <a:r>
              <a:rPr lang="en-ID" dirty="0"/>
              <a:t> </a:t>
            </a:r>
            <a:r>
              <a:rPr lang="en-ID" dirty="0" err="1"/>
              <a:t>antara</a:t>
            </a:r>
            <a:r>
              <a:rPr lang="en-ID" dirty="0"/>
              <a:t> 60 </a:t>
            </a:r>
            <a:r>
              <a:rPr lang="en-ID" dirty="0" err="1"/>
              <a:t>hingga</a:t>
            </a:r>
            <a:r>
              <a:rPr lang="en-ID" dirty="0"/>
              <a:t> 90 </a:t>
            </a:r>
            <a:r>
              <a:rPr lang="en-ID" dirty="0" err="1"/>
              <a:t>hari</a:t>
            </a:r>
            <a:r>
              <a:rPr lang="en-ID" dirty="0"/>
              <a:t>.</a:t>
            </a:r>
          </a:p>
          <a:p>
            <a:pPr lvl="0"/>
            <a:r>
              <a:rPr lang="en-ID" b="1" dirty="0" err="1"/>
              <a:t>Umpan</a:t>
            </a:r>
            <a:r>
              <a:rPr lang="en-ID" b="1" dirty="0"/>
              <a:t> Balik </a:t>
            </a:r>
            <a:r>
              <a:rPr lang="en-ID" b="1" dirty="0" err="1"/>
              <a:t>Cepat</a:t>
            </a:r>
            <a:r>
              <a:rPr lang="en-ID" b="1" dirty="0"/>
              <a:t>:</a:t>
            </a:r>
            <a:r>
              <a:rPr lang="en-ID" dirty="0"/>
              <a:t> </a:t>
            </a:r>
            <a:r>
              <a:rPr lang="en-ID" dirty="0" err="1"/>
              <a:t>Pengguna</a:t>
            </a:r>
            <a:r>
              <a:rPr lang="en-ID" dirty="0"/>
              <a:t> </a:t>
            </a:r>
            <a:r>
              <a:rPr lang="en-ID" dirty="0" err="1"/>
              <a:t>dapat</a:t>
            </a:r>
            <a:r>
              <a:rPr lang="en-ID" dirty="0"/>
              <a:t> </a:t>
            </a:r>
            <a:r>
              <a:rPr lang="en-ID" dirty="0" err="1"/>
              <a:t>langsung</a:t>
            </a:r>
            <a:r>
              <a:rPr lang="en-ID" dirty="0"/>
              <a:t> </a:t>
            </a:r>
            <a:r>
              <a:rPr lang="en-ID" dirty="0" err="1"/>
              <a:t>menguji</a:t>
            </a:r>
            <a:r>
              <a:rPr lang="en-ID" dirty="0"/>
              <a:t> </a:t>
            </a:r>
            <a:r>
              <a:rPr lang="en-ID" dirty="0" err="1"/>
              <a:t>tampilan</a:t>
            </a:r>
            <a:r>
              <a:rPr lang="en-ID" dirty="0"/>
              <a:t> </a:t>
            </a:r>
            <a:r>
              <a:rPr lang="en-ID" dirty="0" err="1"/>
              <a:t>awal</a:t>
            </a:r>
            <a:r>
              <a:rPr lang="en-ID" dirty="0"/>
              <a:t> (</a:t>
            </a:r>
            <a:r>
              <a:rPr lang="en-ID" i="1" dirty="0" err="1"/>
              <a:t>mockup</a:t>
            </a:r>
            <a:r>
              <a:rPr lang="en-ID" dirty="0"/>
              <a:t> </a:t>
            </a:r>
            <a:r>
              <a:rPr lang="en-ID" dirty="0" err="1"/>
              <a:t>atau</a:t>
            </a:r>
            <a:r>
              <a:rPr lang="en-ID" dirty="0"/>
              <a:t> </a:t>
            </a:r>
            <a:r>
              <a:rPr lang="en-ID" dirty="0" err="1"/>
              <a:t>prototipe</a:t>
            </a:r>
            <a:r>
              <a:rPr lang="en-ID" dirty="0"/>
              <a:t>) dan </a:t>
            </a:r>
            <a:r>
              <a:rPr lang="en-ID" dirty="0" err="1"/>
              <a:t>merevisinya</a:t>
            </a:r>
            <a:r>
              <a:rPr lang="en-ID" dirty="0"/>
              <a:t> </a:t>
            </a:r>
            <a:r>
              <a:rPr lang="en-ID" dirty="0" err="1"/>
              <a:t>dalam</a:t>
            </a:r>
            <a:r>
              <a:rPr lang="en-ID" dirty="0"/>
              <a:t> </a:t>
            </a:r>
            <a:r>
              <a:rPr lang="en-ID" dirty="0" err="1"/>
              <a:t>siklus</a:t>
            </a:r>
            <a:r>
              <a:rPr lang="en-ID" dirty="0"/>
              <a:t> </a:t>
            </a:r>
            <a:r>
              <a:rPr lang="en-ID" dirty="0" err="1"/>
              <a:t>pendek</a:t>
            </a:r>
            <a:endParaRPr lang="en-ID" dirty="0"/>
          </a:p>
        </p:txBody>
      </p:sp>
      <p:sp>
        <p:nvSpPr>
          <p:cNvPr id="4" name="Title 3">
            <a:extLst>
              <a:ext uri="{FF2B5EF4-FFF2-40B4-BE49-F238E27FC236}">
                <a16:creationId xmlns:a16="http://schemas.microsoft.com/office/drawing/2014/main" id="{EFBA010D-B9DE-6B26-4F2D-97CC34E6187B}"/>
              </a:ext>
            </a:extLst>
          </p:cNvPr>
          <p:cNvSpPr>
            <a:spLocks noGrp="1"/>
          </p:cNvSpPr>
          <p:nvPr>
            <p:ph type="title"/>
          </p:nvPr>
        </p:nvSpPr>
        <p:spPr/>
        <p:txBody>
          <a:bodyPr>
            <a:normAutofit fontScale="90000"/>
          </a:bodyPr>
          <a:lstStyle/>
          <a:p>
            <a:r>
              <a:rPr lang="en-ID" dirty="0"/>
              <a:t>Alasan </a:t>
            </a:r>
            <a:r>
              <a:rPr lang="en-ID" dirty="0" err="1"/>
              <a:t>Kasus</a:t>
            </a:r>
            <a:r>
              <a:rPr lang="en-ID" dirty="0"/>
              <a:t> di Atas </a:t>
            </a:r>
            <a:r>
              <a:rPr lang="en-ID" dirty="0" err="1"/>
              <a:t>Cocok</a:t>
            </a:r>
            <a:r>
              <a:rPr lang="en-ID" dirty="0"/>
              <a:t> </a:t>
            </a:r>
            <a:r>
              <a:rPr lang="en-ID" dirty="0" err="1"/>
              <a:t>Menggunakan</a:t>
            </a:r>
            <a:r>
              <a:rPr lang="en-ID" dirty="0"/>
              <a:t> RAD</a:t>
            </a:r>
          </a:p>
        </p:txBody>
      </p:sp>
    </p:spTree>
    <p:extLst>
      <p:ext uri="{BB962C8B-B14F-4D97-AF65-F5344CB8AC3E}">
        <p14:creationId xmlns:p14="http://schemas.microsoft.com/office/powerpoint/2010/main" val="176017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F3BC36-F1EF-E5B4-F54B-3989B2C405F4}"/>
              </a:ext>
            </a:extLst>
          </p:cNvPr>
          <p:cNvSpPr>
            <a:spLocks noGrp="1"/>
          </p:cNvSpPr>
          <p:nvPr>
            <p:ph idx="1"/>
          </p:nvPr>
        </p:nvSpPr>
        <p:spPr/>
        <p:txBody>
          <a:bodyPr>
            <a:normAutofit fontScale="85000" lnSpcReduction="20000"/>
          </a:bodyPr>
          <a:lstStyle/>
          <a:p>
            <a:r>
              <a:rPr lang="en-ID" dirty="0"/>
              <a:t>Model Iterative </a:t>
            </a:r>
            <a:r>
              <a:rPr lang="en-ID" dirty="0" err="1"/>
              <a:t>adalah</a:t>
            </a:r>
            <a:r>
              <a:rPr lang="en-ID" dirty="0"/>
              <a:t> model SDLC di mana </a:t>
            </a:r>
            <a:r>
              <a:rPr lang="en-ID" dirty="0" err="1"/>
              <a:t>perangkat</a:t>
            </a:r>
            <a:r>
              <a:rPr lang="en-ID" dirty="0"/>
              <a:t> </a:t>
            </a:r>
            <a:r>
              <a:rPr lang="en-ID" dirty="0" err="1"/>
              <a:t>lunak</a:t>
            </a:r>
            <a:r>
              <a:rPr lang="en-ID" dirty="0"/>
              <a:t> </a:t>
            </a:r>
            <a:r>
              <a:rPr lang="en-ID" dirty="0" err="1"/>
              <a:t>dikembangkan</a:t>
            </a:r>
            <a:r>
              <a:rPr lang="en-ID" dirty="0"/>
              <a:t> </a:t>
            </a:r>
            <a:r>
              <a:rPr lang="en-ID" dirty="0" err="1"/>
              <a:t>melalui</a:t>
            </a:r>
            <a:r>
              <a:rPr lang="en-ID" dirty="0"/>
              <a:t> </a:t>
            </a:r>
            <a:r>
              <a:rPr lang="en-ID" dirty="0" err="1"/>
              <a:t>siklus</a:t>
            </a:r>
            <a:r>
              <a:rPr lang="en-ID" dirty="0"/>
              <a:t> </a:t>
            </a:r>
            <a:r>
              <a:rPr lang="en-ID" dirty="0" err="1"/>
              <a:t>berulang</a:t>
            </a:r>
            <a:r>
              <a:rPr lang="en-ID" dirty="0"/>
              <a:t> (</a:t>
            </a:r>
            <a:r>
              <a:rPr lang="en-ID" dirty="0" err="1"/>
              <a:t>iterasi</a:t>
            </a:r>
            <a:r>
              <a:rPr lang="en-ID" dirty="0"/>
              <a:t>) </a:t>
            </a:r>
            <a:r>
              <a:rPr lang="en-ID" dirty="0" err="1"/>
              <a:t>secara</a:t>
            </a:r>
            <a:r>
              <a:rPr lang="en-ID" dirty="0"/>
              <a:t> </a:t>
            </a:r>
            <a:r>
              <a:rPr lang="en-ID" dirty="0" err="1"/>
              <a:t>bertahap</a:t>
            </a:r>
            <a:endParaRPr lang="en-ID" dirty="0"/>
          </a:p>
          <a:p>
            <a:r>
              <a:rPr lang="en-ID" dirty="0"/>
              <a:t>Model </a:t>
            </a:r>
            <a:r>
              <a:rPr lang="en-ID" dirty="0" err="1"/>
              <a:t>pengembangan</a:t>
            </a:r>
            <a:r>
              <a:rPr lang="en-ID" dirty="0"/>
              <a:t> </a:t>
            </a:r>
            <a:r>
              <a:rPr lang="en-ID" b="1" dirty="0" err="1"/>
              <a:t>Iteratif</a:t>
            </a:r>
            <a:r>
              <a:rPr lang="en-ID" dirty="0"/>
              <a:t> </a:t>
            </a:r>
            <a:r>
              <a:rPr lang="en-ID" dirty="0" err="1"/>
              <a:t>adalah</a:t>
            </a:r>
            <a:r>
              <a:rPr lang="en-ID" dirty="0"/>
              <a:t> </a:t>
            </a:r>
            <a:r>
              <a:rPr lang="en-ID" dirty="0" err="1"/>
              <a:t>pendekatan</a:t>
            </a:r>
            <a:r>
              <a:rPr lang="en-ID" dirty="0"/>
              <a:t> di mana </a:t>
            </a:r>
            <a:r>
              <a:rPr lang="en-ID" dirty="0" err="1"/>
              <a:t>sistem</a:t>
            </a:r>
            <a:r>
              <a:rPr lang="en-ID" dirty="0"/>
              <a:t> </a:t>
            </a:r>
            <a:r>
              <a:rPr lang="en-ID" dirty="0" err="1"/>
              <a:t>dibangun</a:t>
            </a:r>
            <a:r>
              <a:rPr lang="en-ID" dirty="0"/>
              <a:t> </a:t>
            </a:r>
            <a:r>
              <a:rPr lang="en-ID" dirty="0" err="1"/>
              <a:t>secara</a:t>
            </a:r>
            <a:r>
              <a:rPr lang="en-ID" dirty="0"/>
              <a:t> </a:t>
            </a:r>
            <a:r>
              <a:rPr lang="en-ID" dirty="0" err="1"/>
              <a:t>bertahap</a:t>
            </a:r>
            <a:r>
              <a:rPr lang="en-ID" dirty="0"/>
              <a:t> </a:t>
            </a:r>
            <a:r>
              <a:rPr lang="en-ID" dirty="0" err="1"/>
              <a:t>melalui</a:t>
            </a:r>
            <a:r>
              <a:rPr lang="en-ID" dirty="0"/>
              <a:t> </a:t>
            </a:r>
            <a:r>
              <a:rPr lang="en-ID" dirty="0" err="1"/>
              <a:t>siklus</a:t>
            </a:r>
            <a:r>
              <a:rPr lang="en-ID" dirty="0"/>
              <a:t> </a:t>
            </a:r>
            <a:r>
              <a:rPr lang="en-ID" dirty="0" err="1"/>
              <a:t>berulang</a:t>
            </a:r>
            <a:r>
              <a:rPr lang="en-ID" dirty="0"/>
              <a:t> (</a:t>
            </a:r>
            <a:r>
              <a:rPr lang="en-ID" dirty="0" err="1"/>
              <a:t>iterasi</a:t>
            </a:r>
            <a:r>
              <a:rPr lang="en-ID" dirty="0"/>
              <a:t>). </a:t>
            </a:r>
          </a:p>
          <a:p>
            <a:r>
              <a:rPr lang="en-ID" dirty="0" err="1"/>
              <a:t>Dibandingkan</a:t>
            </a:r>
            <a:r>
              <a:rPr lang="en-ID" dirty="0"/>
              <a:t> </a:t>
            </a:r>
            <a:r>
              <a:rPr lang="en-ID" dirty="0" err="1"/>
              <a:t>mencoba</a:t>
            </a:r>
            <a:r>
              <a:rPr lang="en-ID" dirty="0"/>
              <a:t> </a:t>
            </a:r>
            <a:r>
              <a:rPr lang="en-ID" dirty="0" err="1"/>
              <a:t>membuat</a:t>
            </a:r>
            <a:r>
              <a:rPr lang="en-ID" dirty="0"/>
              <a:t> </a:t>
            </a:r>
            <a:r>
              <a:rPr lang="en-ID" dirty="0" err="1"/>
              <a:t>produk</a:t>
            </a:r>
            <a:r>
              <a:rPr lang="en-ID" dirty="0"/>
              <a:t> yang </a:t>
            </a:r>
            <a:r>
              <a:rPr lang="en-ID" dirty="0" err="1"/>
              <a:t>langsung</a:t>
            </a:r>
            <a:r>
              <a:rPr lang="en-ID" dirty="0"/>
              <a:t> </a:t>
            </a:r>
            <a:r>
              <a:rPr lang="en-ID" dirty="0" err="1"/>
              <a:t>sempurna</a:t>
            </a:r>
            <a:r>
              <a:rPr lang="en-ID" dirty="0"/>
              <a:t> </a:t>
            </a:r>
            <a:r>
              <a:rPr lang="en-ID" dirty="0" err="1"/>
              <a:t>sejak</a:t>
            </a:r>
            <a:r>
              <a:rPr lang="en-ID" dirty="0"/>
              <a:t> </a:t>
            </a:r>
            <a:r>
              <a:rPr lang="en-ID" dirty="0" err="1"/>
              <a:t>awal</a:t>
            </a:r>
            <a:r>
              <a:rPr lang="en-ID" dirty="0"/>
              <a:t>, model </a:t>
            </a:r>
            <a:r>
              <a:rPr lang="en-ID" dirty="0" err="1"/>
              <a:t>ini</a:t>
            </a:r>
            <a:r>
              <a:rPr lang="en-ID" dirty="0"/>
              <a:t> </a:t>
            </a:r>
            <a:r>
              <a:rPr lang="en-ID" dirty="0" err="1"/>
              <a:t>berfokus</a:t>
            </a:r>
            <a:r>
              <a:rPr lang="en-ID" dirty="0"/>
              <a:t> pada </a:t>
            </a:r>
            <a:r>
              <a:rPr lang="en-ID" dirty="0" err="1"/>
              <a:t>pembuatan</a:t>
            </a:r>
            <a:r>
              <a:rPr lang="en-ID" dirty="0"/>
              <a:t> </a:t>
            </a:r>
            <a:r>
              <a:rPr lang="en-ID" dirty="0" err="1"/>
              <a:t>versi</a:t>
            </a:r>
            <a:r>
              <a:rPr lang="en-ID" dirty="0"/>
              <a:t> </a:t>
            </a:r>
            <a:r>
              <a:rPr lang="en-ID" dirty="0" err="1"/>
              <a:t>dasar</a:t>
            </a:r>
            <a:r>
              <a:rPr lang="en-ID" dirty="0"/>
              <a:t> </a:t>
            </a:r>
            <a:r>
              <a:rPr lang="en-ID" dirty="0" err="1"/>
              <a:t>terlebih</a:t>
            </a:r>
            <a:r>
              <a:rPr lang="en-ID" dirty="0"/>
              <a:t> </a:t>
            </a:r>
            <a:r>
              <a:rPr lang="en-ID" dirty="0" err="1"/>
              <a:t>dahulu</a:t>
            </a:r>
            <a:r>
              <a:rPr lang="en-ID" dirty="0"/>
              <a:t>, </a:t>
            </a:r>
            <a:r>
              <a:rPr lang="en-ID" dirty="0" err="1"/>
              <a:t>kemudian</a:t>
            </a:r>
            <a:r>
              <a:rPr lang="en-ID" dirty="0"/>
              <a:t> </a:t>
            </a:r>
            <a:r>
              <a:rPr lang="en-ID" dirty="0" err="1"/>
              <a:t>terus</a:t>
            </a:r>
            <a:r>
              <a:rPr lang="en-ID" dirty="0"/>
              <a:t> </a:t>
            </a:r>
            <a:r>
              <a:rPr lang="en-ID" dirty="0" err="1"/>
              <a:t>memperbaiki</a:t>
            </a:r>
            <a:r>
              <a:rPr lang="en-ID" dirty="0"/>
              <a:t> dan </a:t>
            </a:r>
            <a:r>
              <a:rPr lang="en-ID" dirty="0" err="1"/>
              <a:t>menambah</a:t>
            </a:r>
            <a:r>
              <a:rPr lang="en-ID" dirty="0"/>
              <a:t> </a:t>
            </a:r>
            <a:r>
              <a:rPr lang="en-ID" dirty="0" err="1"/>
              <a:t>fiturnya</a:t>
            </a:r>
            <a:r>
              <a:rPr lang="en-ID" dirty="0"/>
              <a:t> di </a:t>
            </a:r>
            <a:r>
              <a:rPr lang="en-ID" dirty="0" err="1"/>
              <a:t>setiap</a:t>
            </a:r>
            <a:r>
              <a:rPr lang="en-ID" dirty="0"/>
              <a:t> </a:t>
            </a:r>
            <a:r>
              <a:rPr lang="en-ID" dirty="0" err="1"/>
              <a:t>siklus</a:t>
            </a:r>
            <a:r>
              <a:rPr lang="en-ID" dirty="0"/>
              <a:t>.</a:t>
            </a:r>
            <a:endParaRPr lang="en-ID" b="1" dirty="0"/>
          </a:p>
          <a:p>
            <a:pPr lvl="0"/>
            <a:r>
              <a:rPr lang="en-ID" dirty="0" err="1"/>
              <a:t>Tahapan</a:t>
            </a:r>
            <a:r>
              <a:rPr lang="en-ID" dirty="0"/>
              <a:t> </a:t>
            </a:r>
            <a:r>
              <a:rPr lang="en-ID" dirty="0" err="1"/>
              <a:t>utama</a:t>
            </a:r>
            <a:r>
              <a:rPr lang="en-ID" b="1" dirty="0"/>
              <a:t>:</a:t>
            </a:r>
            <a:r>
              <a:rPr lang="en-ID" dirty="0"/>
              <a:t> </a:t>
            </a:r>
            <a:r>
              <a:rPr lang="en-ID" dirty="0" err="1"/>
              <a:t>Setiap</a:t>
            </a:r>
            <a:r>
              <a:rPr lang="en-ID" dirty="0"/>
              <a:t> </a:t>
            </a:r>
            <a:r>
              <a:rPr lang="en-ID" dirty="0" err="1"/>
              <a:t>iterasi</a:t>
            </a:r>
            <a:r>
              <a:rPr lang="en-ID" dirty="0"/>
              <a:t> </a:t>
            </a:r>
            <a:r>
              <a:rPr lang="en-ID" dirty="0" err="1"/>
              <a:t>melewati</a:t>
            </a:r>
            <a:r>
              <a:rPr lang="en-ID" dirty="0"/>
              <a:t> proses </a:t>
            </a:r>
            <a:r>
              <a:rPr lang="en-ID" dirty="0" err="1"/>
              <a:t>lengkap</a:t>
            </a:r>
            <a:r>
              <a:rPr lang="en-ID" dirty="0"/>
              <a:t> </a:t>
            </a:r>
            <a:r>
              <a:rPr lang="en-ID" dirty="0" err="1"/>
              <a:t>mulai</a:t>
            </a:r>
            <a:r>
              <a:rPr lang="en-ID" dirty="0"/>
              <a:t> </a:t>
            </a:r>
            <a:r>
              <a:rPr lang="en-ID" dirty="0" err="1"/>
              <a:t>dari</a:t>
            </a:r>
            <a:r>
              <a:rPr lang="en-ID" dirty="0"/>
              <a:t> </a:t>
            </a:r>
            <a:r>
              <a:rPr lang="en-ID" dirty="0" err="1"/>
              <a:t>analisis</a:t>
            </a:r>
            <a:r>
              <a:rPr lang="en-ID" dirty="0"/>
              <a:t>, </a:t>
            </a:r>
            <a:r>
              <a:rPr lang="en-ID" dirty="0" err="1"/>
              <a:t>desain</a:t>
            </a:r>
            <a:r>
              <a:rPr lang="en-ID" dirty="0"/>
              <a:t>, </a:t>
            </a:r>
            <a:r>
              <a:rPr lang="en-ID" dirty="0" err="1"/>
              <a:t>implementasi</a:t>
            </a:r>
            <a:r>
              <a:rPr lang="en-ID" dirty="0"/>
              <a:t>, </a:t>
            </a:r>
            <a:r>
              <a:rPr lang="en-ID" dirty="0" err="1"/>
              <a:t>hingga</a:t>
            </a:r>
            <a:r>
              <a:rPr lang="en-ID" dirty="0"/>
              <a:t> </a:t>
            </a:r>
            <a:r>
              <a:rPr lang="en-ID" dirty="0" err="1"/>
              <a:t>pengujian</a:t>
            </a:r>
            <a:r>
              <a:rPr lang="en-ID" dirty="0"/>
              <a:t> </a:t>
            </a:r>
            <a:r>
              <a:rPr lang="en-ID" dirty="0" err="1"/>
              <a:t>secara</a:t>
            </a:r>
            <a:r>
              <a:rPr lang="en-ID" dirty="0"/>
              <a:t> </a:t>
            </a:r>
            <a:r>
              <a:rPr lang="en-ID" dirty="0" err="1"/>
              <a:t>berulang</a:t>
            </a:r>
            <a:r>
              <a:rPr lang="en-ID" dirty="0"/>
              <a:t>.</a:t>
            </a:r>
          </a:p>
        </p:txBody>
      </p:sp>
      <p:sp>
        <p:nvSpPr>
          <p:cNvPr id="4" name="Title 3">
            <a:extLst>
              <a:ext uri="{FF2B5EF4-FFF2-40B4-BE49-F238E27FC236}">
                <a16:creationId xmlns:a16="http://schemas.microsoft.com/office/drawing/2014/main" id="{E8D88F7C-B3C2-9D7E-52BB-5FF8580ADD6B}"/>
              </a:ext>
            </a:extLst>
          </p:cNvPr>
          <p:cNvSpPr>
            <a:spLocks noGrp="1"/>
          </p:cNvSpPr>
          <p:nvPr>
            <p:ph type="title"/>
          </p:nvPr>
        </p:nvSpPr>
        <p:spPr/>
        <p:txBody>
          <a:bodyPr/>
          <a:lstStyle/>
          <a:p>
            <a:r>
              <a:rPr lang="en-US" dirty="0"/>
              <a:t>Model Iterative</a:t>
            </a:r>
            <a:endParaRPr lang="en-ID" dirty="0"/>
          </a:p>
        </p:txBody>
      </p:sp>
    </p:spTree>
    <p:extLst>
      <p:ext uri="{BB962C8B-B14F-4D97-AF65-F5344CB8AC3E}">
        <p14:creationId xmlns:p14="http://schemas.microsoft.com/office/powerpoint/2010/main" val="73037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14329A-0993-2FD3-E0A6-AF82B0E0C3DE}"/>
              </a:ext>
            </a:extLst>
          </p:cNvPr>
          <p:cNvSpPr>
            <a:spLocks noGrp="1"/>
          </p:cNvSpPr>
          <p:nvPr>
            <p:ph idx="1"/>
          </p:nvPr>
        </p:nvSpPr>
        <p:spPr/>
        <p:txBody>
          <a:bodyPr>
            <a:normAutofit fontScale="70000" lnSpcReduction="20000"/>
          </a:bodyPr>
          <a:lstStyle/>
          <a:p>
            <a:r>
              <a:rPr lang="en-ID" dirty="0"/>
              <a:t>Cara </a:t>
            </a:r>
            <a:r>
              <a:rPr lang="en-ID" dirty="0" err="1"/>
              <a:t>kerja</a:t>
            </a:r>
            <a:r>
              <a:rPr lang="en-ID" dirty="0"/>
              <a:t> model </a:t>
            </a:r>
            <a:r>
              <a:rPr lang="en-ID" dirty="0" err="1"/>
              <a:t>ini</a:t>
            </a:r>
            <a:r>
              <a:rPr lang="en-ID" dirty="0"/>
              <a:t> </a:t>
            </a:r>
            <a:r>
              <a:rPr lang="en-ID" dirty="0" err="1"/>
              <a:t>mirip</a:t>
            </a:r>
            <a:r>
              <a:rPr lang="en-ID" dirty="0"/>
              <a:t> </a:t>
            </a:r>
            <a:r>
              <a:rPr lang="en-ID" dirty="0" err="1"/>
              <a:t>seperti</a:t>
            </a:r>
            <a:r>
              <a:rPr lang="en-ID" dirty="0"/>
              <a:t> </a:t>
            </a:r>
            <a:r>
              <a:rPr lang="en-ID" dirty="0" err="1"/>
              <a:t>memahat</a:t>
            </a:r>
            <a:r>
              <a:rPr lang="en-ID" dirty="0"/>
              <a:t> </a:t>
            </a:r>
            <a:r>
              <a:rPr lang="en-ID" dirty="0" err="1"/>
              <a:t>patung</a:t>
            </a:r>
            <a:r>
              <a:rPr lang="en-ID" dirty="0"/>
              <a:t> </a:t>
            </a:r>
            <a:r>
              <a:rPr lang="en-ID" dirty="0" err="1"/>
              <a:t>atau</a:t>
            </a:r>
            <a:r>
              <a:rPr lang="en-ID" dirty="0"/>
              <a:t> </a:t>
            </a:r>
            <a:r>
              <a:rPr lang="en-ID" dirty="0" err="1"/>
              <a:t>menggambar</a:t>
            </a:r>
            <a:r>
              <a:rPr lang="en-ID" dirty="0"/>
              <a:t> </a:t>
            </a:r>
            <a:r>
              <a:rPr lang="en-ID" dirty="0" err="1"/>
              <a:t>sketsa</a:t>
            </a:r>
            <a:r>
              <a:rPr lang="en-ID" dirty="0"/>
              <a:t>. </a:t>
            </a:r>
          </a:p>
          <a:p>
            <a:r>
              <a:rPr lang="en-ID" dirty="0"/>
              <a:t>Tidak </a:t>
            </a:r>
            <a:r>
              <a:rPr lang="en-ID" dirty="0" err="1"/>
              <a:t>langsung</a:t>
            </a:r>
            <a:r>
              <a:rPr lang="en-ID" dirty="0"/>
              <a:t> </a:t>
            </a:r>
            <a:r>
              <a:rPr lang="en-ID" dirty="0" err="1"/>
              <a:t>membuat</a:t>
            </a:r>
            <a:r>
              <a:rPr lang="en-ID" dirty="0"/>
              <a:t> </a:t>
            </a:r>
            <a:r>
              <a:rPr lang="en-ID" dirty="0" err="1"/>
              <a:t>detailnya</a:t>
            </a:r>
            <a:r>
              <a:rPr lang="en-ID" dirty="0"/>
              <a:t>, </a:t>
            </a:r>
            <a:r>
              <a:rPr lang="en-ID" dirty="0" err="1"/>
              <a:t>melainkan</a:t>
            </a:r>
            <a:r>
              <a:rPr lang="en-ID" dirty="0"/>
              <a:t> </a:t>
            </a:r>
            <a:r>
              <a:rPr lang="en-ID" dirty="0" err="1"/>
              <a:t>membuat</a:t>
            </a:r>
            <a:r>
              <a:rPr lang="en-ID" dirty="0"/>
              <a:t> </a:t>
            </a:r>
            <a:r>
              <a:rPr lang="en-ID" dirty="0" err="1"/>
              <a:t>bentuk</a:t>
            </a:r>
            <a:r>
              <a:rPr lang="en-ID" dirty="0"/>
              <a:t> </a:t>
            </a:r>
            <a:r>
              <a:rPr lang="en-ID" dirty="0" err="1"/>
              <a:t>kasarnya</a:t>
            </a:r>
            <a:r>
              <a:rPr lang="en-ID" dirty="0"/>
              <a:t> </a:t>
            </a:r>
            <a:r>
              <a:rPr lang="en-ID" dirty="0" err="1"/>
              <a:t>dulu</a:t>
            </a:r>
            <a:r>
              <a:rPr lang="en-ID" dirty="0"/>
              <a:t>, </a:t>
            </a:r>
            <a:r>
              <a:rPr lang="en-ID" dirty="0" err="1"/>
              <a:t>lalu</a:t>
            </a:r>
            <a:r>
              <a:rPr lang="en-ID" dirty="0"/>
              <a:t> </a:t>
            </a:r>
            <a:r>
              <a:rPr lang="en-ID" dirty="0" err="1"/>
              <a:t>menghaluskannya</a:t>
            </a:r>
            <a:r>
              <a:rPr lang="en-ID" dirty="0"/>
              <a:t> </a:t>
            </a:r>
            <a:r>
              <a:rPr lang="en-ID" dirty="0" err="1"/>
              <a:t>perlahan</a:t>
            </a:r>
            <a:r>
              <a:rPr lang="en-ID" dirty="0"/>
              <a:t>.</a:t>
            </a:r>
          </a:p>
          <a:p>
            <a:pPr lvl="0"/>
            <a:r>
              <a:rPr lang="en-ID" b="1" dirty="0" err="1"/>
              <a:t>Membuat</a:t>
            </a:r>
            <a:r>
              <a:rPr lang="en-ID" b="1" dirty="0"/>
              <a:t> </a:t>
            </a:r>
            <a:r>
              <a:rPr lang="en-ID" b="1" dirty="0" err="1"/>
              <a:t>Versi</a:t>
            </a:r>
            <a:r>
              <a:rPr lang="en-ID" b="1" dirty="0"/>
              <a:t> Awal (MVP):</a:t>
            </a:r>
            <a:r>
              <a:rPr lang="en-ID" dirty="0"/>
              <a:t> </a:t>
            </a:r>
            <a:r>
              <a:rPr lang="en-ID" dirty="0" err="1"/>
              <a:t>Pengembang</a:t>
            </a:r>
            <a:r>
              <a:rPr lang="en-ID" dirty="0"/>
              <a:t> </a:t>
            </a:r>
            <a:r>
              <a:rPr lang="en-ID" dirty="0" err="1"/>
              <a:t>membangun</a:t>
            </a:r>
            <a:r>
              <a:rPr lang="en-ID" dirty="0"/>
              <a:t> </a:t>
            </a:r>
            <a:r>
              <a:rPr lang="en-ID" dirty="0" err="1"/>
              <a:t>versi</a:t>
            </a:r>
            <a:r>
              <a:rPr lang="en-ID" dirty="0"/>
              <a:t> </a:t>
            </a:r>
            <a:r>
              <a:rPr lang="en-ID" dirty="0" err="1"/>
              <a:t>pertama</a:t>
            </a:r>
            <a:r>
              <a:rPr lang="en-ID" dirty="0"/>
              <a:t> </a:t>
            </a:r>
            <a:r>
              <a:rPr lang="en-ID" dirty="0" err="1"/>
              <a:t>perangkat</a:t>
            </a:r>
            <a:r>
              <a:rPr lang="en-ID" dirty="0"/>
              <a:t> </a:t>
            </a:r>
            <a:r>
              <a:rPr lang="en-ID" dirty="0" err="1"/>
              <a:t>lunak</a:t>
            </a:r>
            <a:r>
              <a:rPr lang="en-ID" dirty="0"/>
              <a:t> yang </a:t>
            </a:r>
            <a:r>
              <a:rPr lang="en-ID" dirty="0" err="1"/>
              <a:t>hanya</a:t>
            </a:r>
            <a:r>
              <a:rPr lang="en-ID" dirty="0"/>
              <a:t> </a:t>
            </a:r>
            <a:r>
              <a:rPr lang="en-ID" dirty="0" err="1"/>
              <a:t>memiliki</a:t>
            </a:r>
            <a:r>
              <a:rPr lang="en-ID" dirty="0"/>
              <a:t> </a:t>
            </a:r>
            <a:r>
              <a:rPr lang="en-ID" dirty="0" err="1"/>
              <a:t>fitur-fitur</a:t>
            </a:r>
            <a:r>
              <a:rPr lang="en-ID" dirty="0"/>
              <a:t> paling inti. </a:t>
            </a:r>
            <a:r>
              <a:rPr lang="en-ID" dirty="0" err="1"/>
              <a:t>Versi</a:t>
            </a:r>
            <a:r>
              <a:rPr lang="en-ID" dirty="0"/>
              <a:t> </a:t>
            </a:r>
            <a:r>
              <a:rPr lang="en-ID" dirty="0" err="1"/>
              <a:t>awal</a:t>
            </a:r>
            <a:r>
              <a:rPr lang="en-ID" dirty="0"/>
              <a:t> </a:t>
            </a:r>
            <a:r>
              <a:rPr lang="en-ID" dirty="0" err="1"/>
              <a:t>ini</a:t>
            </a:r>
            <a:r>
              <a:rPr lang="en-ID" dirty="0"/>
              <a:t> </a:t>
            </a:r>
            <a:r>
              <a:rPr lang="en-ID" dirty="0" err="1"/>
              <a:t>sering</a:t>
            </a:r>
            <a:r>
              <a:rPr lang="en-ID" dirty="0"/>
              <a:t> </a:t>
            </a:r>
            <a:r>
              <a:rPr lang="en-ID" dirty="0" err="1"/>
              <a:t>disebut</a:t>
            </a:r>
            <a:r>
              <a:rPr lang="en-ID" dirty="0"/>
              <a:t> </a:t>
            </a:r>
            <a:r>
              <a:rPr lang="en-ID" dirty="0" err="1"/>
              <a:t>sebagai</a:t>
            </a:r>
            <a:r>
              <a:rPr lang="en-ID" dirty="0"/>
              <a:t> </a:t>
            </a:r>
            <a:r>
              <a:rPr lang="en-ID" i="1" dirty="0"/>
              <a:t>Minimum Viable Product</a:t>
            </a:r>
            <a:r>
              <a:rPr lang="en-ID" dirty="0"/>
              <a:t> (MVP).</a:t>
            </a:r>
          </a:p>
          <a:p>
            <a:pPr lvl="0"/>
            <a:r>
              <a:rPr lang="en-ID" b="1" dirty="0" err="1"/>
              <a:t>Evaluasi</a:t>
            </a:r>
            <a:r>
              <a:rPr lang="en-ID" b="1" dirty="0"/>
              <a:t> dan </a:t>
            </a:r>
            <a:r>
              <a:rPr lang="en-ID" b="1" dirty="0" err="1"/>
              <a:t>Masukan</a:t>
            </a:r>
            <a:r>
              <a:rPr lang="en-ID" b="1" dirty="0"/>
              <a:t>:</a:t>
            </a:r>
            <a:r>
              <a:rPr lang="en-ID" dirty="0"/>
              <a:t> </a:t>
            </a:r>
            <a:r>
              <a:rPr lang="en-ID" dirty="0" err="1"/>
              <a:t>Produk</a:t>
            </a:r>
            <a:r>
              <a:rPr lang="en-ID" dirty="0"/>
              <a:t> </a:t>
            </a:r>
            <a:r>
              <a:rPr lang="en-ID" dirty="0" err="1"/>
              <a:t>awal</a:t>
            </a:r>
            <a:r>
              <a:rPr lang="en-ID" dirty="0"/>
              <a:t> </a:t>
            </a:r>
            <a:r>
              <a:rPr lang="en-ID" dirty="0" err="1"/>
              <a:t>ini</a:t>
            </a:r>
            <a:r>
              <a:rPr lang="en-ID" dirty="0"/>
              <a:t> </a:t>
            </a:r>
            <a:r>
              <a:rPr lang="en-ID" dirty="0" err="1"/>
              <a:t>dicoba</a:t>
            </a:r>
            <a:r>
              <a:rPr lang="en-ID" dirty="0"/>
              <a:t> oleh </a:t>
            </a:r>
            <a:r>
              <a:rPr lang="en-ID" dirty="0" err="1"/>
              <a:t>pengguna</a:t>
            </a:r>
            <a:r>
              <a:rPr lang="en-ID" dirty="0"/>
              <a:t> </a:t>
            </a:r>
            <a:r>
              <a:rPr lang="en-ID" dirty="0" err="1"/>
              <a:t>atau</a:t>
            </a:r>
            <a:r>
              <a:rPr lang="en-ID" dirty="0"/>
              <a:t> </a:t>
            </a:r>
            <a:r>
              <a:rPr lang="en-ID" dirty="0" err="1"/>
              <a:t>tim</a:t>
            </a:r>
            <a:r>
              <a:rPr lang="en-ID" dirty="0"/>
              <a:t> </a:t>
            </a:r>
            <a:r>
              <a:rPr lang="en-ID" dirty="0" err="1"/>
              <a:t>penguji</a:t>
            </a:r>
            <a:r>
              <a:rPr lang="en-ID" dirty="0"/>
              <a:t> </a:t>
            </a:r>
            <a:r>
              <a:rPr lang="en-ID" dirty="0" err="1"/>
              <a:t>untuk</a:t>
            </a:r>
            <a:r>
              <a:rPr lang="en-ID" dirty="0"/>
              <a:t> </a:t>
            </a:r>
            <a:r>
              <a:rPr lang="en-ID" dirty="0" err="1"/>
              <a:t>mendapatkan</a:t>
            </a:r>
            <a:r>
              <a:rPr lang="en-ID" dirty="0"/>
              <a:t> </a:t>
            </a:r>
            <a:r>
              <a:rPr lang="en-ID" dirty="0" err="1"/>
              <a:t>umpan</a:t>
            </a:r>
            <a:r>
              <a:rPr lang="en-ID" dirty="0"/>
              <a:t> </a:t>
            </a:r>
            <a:r>
              <a:rPr lang="en-ID" dirty="0" err="1"/>
              <a:t>balik</a:t>
            </a:r>
            <a:r>
              <a:rPr lang="en-ID" dirty="0"/>
              <a:t> (</a:t>
            </a:r>
            <a:r>
              <a:rPr lang="en-ID" i="1" dirty="0"/>
              <a:t>feedback</a:t>
            </a:r>
            <a:r>
              <a:rPr lang="en-ID" dirty="0"/>
              <a:t>).</a:t>
            </a:r>
          </a:p>
          <a:p>
            <a:pPr lvl="0"/>
            <a:r>
              <a:rPr lang="en-ID" b="1" dirty="0" err="1"/>
              <a:t>Mulai</a:t>
            </a:r>
            <a:r>
              <a:rPr lang="en-ID" b="1" dirty="0"/>
              <a:t> </a:t>
            </a:r>
            <a:r>
              <a:rPr lang="en-ID" b="1" dirty="0" err="1"/>
              <a:t>Iterasi</a:t>
            </a:r>
            <a:r>
              <a:rPr lang="en-ID" b="1" dirty="0"/>
              <a:t> </a:t>
            </a:r>
            <a:r>
              <a:rPr lang="en-ID" b="1" dirty="0" err="1"/>
              <a:t>Berikutnya</a:t>
            </a:r>
            <a:r>
              <a:rPr lang="en-ID" b="1" dirty="0"/>
              <a:t>:</a:t>
            </a:r>
            <a:r>
              <a:rPr lang="en-ID" dirty="0"/>
              <a:t> </a:t>
            </a:r>
            <a:r>
              <a:rPr lang="en-ID" dirty="0" err="1"/>
              <a:t>Berdasarkan</a:t>
            </a:r>
            <a:r>
              <a:rPr lang="en-ID" dirty="0"/>
              <a:t> </a:t>
            </a:r>
            <a:r>
              <a:rPr lang="en-ID" dirty="0" err="1"/>
              <a:t>masukan</a:t>
            </a:r>
            <a:r>
              <a:rPr lang="en-ID" dirty="0"/>
              <a:t> </a:t>
            </a:r>
            <a:r>
              <a:rPr lang="en-ID" dirty="0" err="1"/>
              <a:t>tersebut</a:t>
            </a:r>
            <a:r>
              <a:rPr lang="en-ID" dirty="0"/>
              <a:t>, </a:t>
            </a:r>
            <a:r>
              <a:rPr lang="en-ID" dirty="0" err="1"/>
              <a:t>tim</a:t>
            </a:r>
            <a:r>
              <a:rPr lang="en-ID" dirty="0"/>
              <a:t> </a:t>
            </a:r>
            <a:r>
              <a:rPr lang="en-ID" dirty="0" err="1"/>
              <a:t>akan</a:t>
            </a:r>
            <a:r>
              <a:rPr lang="en-ID" dirty="0"/>
              <a:t> </a:t>
            </a:r>
            <a:r>
              <a:rPr lang="en-ID" dirty="0" err="1"/>
              <a:t>masuk</a:t>
            </a:r>
            <a:r>
              <a:rPr lang="en-ID" dirty="0"/>
              <a:t> </a:t>
            </a:r>
            <a:r>
              <a:rPr lang="en-ID" dirty="0" err="1"/>
              <a:t>ke</a:t>
            </a:r>
            <a:r>
              <a:rPr lang="en-ID" dirty="0"/>
              <a:t> </a:t>
            </a:r>
            <a:r>
              <a:rPr lang="en-ID" dirty="0" err="1"/>
              <a:t>siklus</a:t>
            </a:r>
            <a:r>
              <a:rPr lang="en-ID" dirty="0"/>
              <a:t> (</a:t>
            </a:r>
            <a:r>
              <a:rPr lang="en-ID" dirty="0" err="1"/>
              <a:t>iterasi</a:t>
            </a:r>
            <a:r>
              <a:rPr lang="en-ID" dirty="0"/>
              <a:t>) </a:t>
            </a:r>
            <a:r>
              <a:rPr lang="en-ID" dirty="0" err="1"/>
              <a:t>berikutnya</a:t>
            </a:r>
            <a:r>
              <a:rPr lang="en-ID" dirty="0"/>
              <a:t> </a:t>
            </a:r>
            <a:r>
              <a:rPr lang="en-ID" dirty="0" err="1"/>
              <a:t>untuk</a:t>
            </a:r>
            <a:r>
              <a:rPr lang="en-ID" dirty="0"/>
              <a:t> </a:t>
            </a:r>
            <a:r>
              <a:rPr lang="en-ID" dirty="0" err="1"/>
              <a:t>memperbaiki</a:t>
            </a:r>
            <a:r>
              <a:rPr lang="en-ID" dirty="0"/>
              <a:t> </a:t>
            </a:r>
            <a:r>
              <a:rPr lang="en-ID" i="1" dirty="0"/>
              <a:t>bug</a:t>
            </a:r>
            <a:r>
              <a:rPr lang="en-ID" dirty="0"/>
              <a:t>, </a:t>
            </a:r>
            <a:r>
              <a:rPr lang="en-ID" dirty="0" err="1"/>
              <a:t>menambah</a:t>
            </a:r>
            <a:r>
              <a:rPr lang="en-ID" dirty="0"/>
              <a:t> </a:t>
            </a:r>
            <a:r>
              <a:rPr lang="en-ID" dirty="0" err="1"/>
              <a:t>fitur</a:t>
            </a:r>
            <a:r>
              <a:rPr lang="en-ID" dirty="0"/>
              <a:t> </a:t>
            </a:r>
            <a:r>
              <a:rPr lang="en-ID" dirty="0" err="1"/>
              <a:t>baru</a:t>
            </a:r>
            <a:r>
              <a:rPr lang="en-ID" dirty="0"/>
              <a:t>, dan </a:t>
            </a:r>
            <a:r>
              <a:rPr lang="en-ID" dirty="0" err="1"/>
              <a:t>meningkatkan</a:t>
            </a:r>
            <a:r>
              <a:rPr lang="en-ID" dirty="0"/>
              <a:t> </a:t>
            </a:r>
            <a:r>
              <a:rPr lang="en-ID" dirty="0" err="1"/>
              <a:t>kualitas</a:t>
            </a:r>
            <a:r>
              <a:rPr lang="en-ID" dirty="0"/>
              <a:t> </a:t>
            </a:r>
            <a:r>
              <a:rPr lang="en-ID" dirty="0" err="1"/>
              <a:t>produk</a:t>
            </a:r>
            <a:r>
              <a:rPr lang="en-ID" dirty="0"/>
              <a:t>.</a:t>
            </a:r>
          </a:p>
          <a:p>
            <a:pPr lvl="0"/>
            <a:r>
              <a:rPr lang="en-ID" b="1" dirty="0" err="1"/>
              <a:t>Pengulangan</a:t>
            </a:r>
            <a:r>
              <a:rPr lang="en-ID" b="1" dirty="0"/>
              <a:t>:</a:t>
            </a:r>
            <a:r>
              <a:rPr lang="en-ID" dirty="0"/>
              <a:t> Proses </a:t>
            </a:r>
            <a:r>
              <a:rPr lang="en-ID" dirty="0" err="1"/>
              <a:t>ini</a:t>
            </a:r>
            <a:r>
              <a:rPr lang="en-ID" dirty="0"/>
              <a:t> </a:t>
            </a:r>
            <a:r>
              <a:rPr lang="en-ID" dirty="0" err="1"/>
              <a:t>terus</a:t>
            </a:r>
            <a:r>
              <a:rPr lang="en-ID" dirty="0"/>
              <a:t> </a:t>
            </a:r>
            <a:r>
              <a:rPr lang="en-ID" dirty="0" err="1"/>
              <a:t>berulang</a:t>
            </a:r>
            <a:r>
              <a:rPr lang="en-ID" dirty="0"/>
              <a:t> (</a:t>
            </a:r>
            <a:r>
              <a:rPr lang="en-ID" dirty="0" err="1"/>
              <a:t>Iterasi</a:t>
            </a:r>
            <a:r>
              <a:rPr lang="en-ID" dirty="0"/>
              <a:t> 1, </a:t>
            </a:r>
            <a:r>
              <a:rPr lang="en-ID" dirty="0" err="1"/>
              <a:t>Iterasi</a:t>
            </a:r>
            <a:r>
              <a:rPr lang="en-ID" dirty="0"/>
              <a:t> 2, </a:t>
            </a:r>
            <a:r>
              <a:rPr lang="en-ID" dirty="0" err="1"/>
              <a:t>dst</a:t>
            </a:r>
            <a:r>
              <a:rPr lang="en-ID" dirty="0"/>
              <a:t>.) </a:t>
            </a:r>
            <a:r>
              <a:rPr lang="en-ID" dirty="0" err="1"/>
              <a:t>hingga</a:t>
            </a:r>
            <a:r>
              <a:rPr lang="en-ID" dirty="0"/>
              <a:t> </a:t>
            </a:r>
            <a:r>
              <a:rPr lang="en-ID" dirty="0" err="1"/>
              <a:t>produk</a:t>
            </a:r>
            <a:r>
              <a:rPr lang="en-ID" dirty="0"/>
              <a:t> </a:t>
            </a:r>
            <a:r>
              <a:rPr lang="en-ID" dirty="0" err="1"/>
              <a:t>akhir</a:t>
            </a:r>
            <a:r>
              <a:rPr lang="en-ID" dirty="0"/>
              <a:t> </a:t>
            </a:r>
            <a:r>
              <a:rPr lang="en-ID" dirty="0" err="1"/>
              <a:t>memenuhi</a:t>
            </a:r>
            <a:r>
              <a:rPr lang="en-ID" dirty="0"/>
              <a:t> </a:t>
            </a:r>
            <a:r>
              <a:rPr lang="en-ID" dirty="0" err="1"/>
              <a:t>semua</a:t>
            </a:r>
            <a:r>
              <a:rPr lang="en-ID" dirty="0"/>
              <a:t> </a:t>
            </a:r>
            <a:r>
              <a:rPr lang="en-ID" dirty="0" err="1"/>
              <a:t>kebutuhan</a:t>
            </a:r>
            <a:r>
              <a:rPr lang="en-ID" dirty="0"/>
              <a:t> </a:t>
            </a:r>
            <a:r>
              <a:rPr lang="en-ID" dirty="0" err="1"/>
              <a:t>pengguna</a:t>
            </a:r>
            <a:endParaRPr lang="en-ID" dirty="0"/>
          </a:p>
        </p:txBody>
      </p:sp>
      <p:sp>
        <p:nvSpPr>
          <p:cNvPr id="4" name="Title 3">
            <a:extLst>
              <a:ext uri="{FF2B5EF4-FFF2-40B4-BE49-F238E27FC236}">
                <a16:creationId xmlns:a16="http://schemas.microsoft.com/office/drawing/2014/main" id="{732E6FFB-A449-D9A2-9B46-0480CF829125}"/>
              </a:ext>
            </a:extLst>
          </p:cNvPr>
          <p:cNvSpPr>
            <a:spLocks noGrp="1"/>
          </p:cNvSpPr>
          <p:nvPr>
            <p:ph type="title"/>
          </p:nvPr>
        </p:nvSpPr>
        <p:spPr/>
        <p:txBody>
          <a:bodyPr/>
          <a:lstStyle/>
          <a:p>
            <a:r>
              <a:rPr lang="en-ID" dirty="0"/>
              <a:t>Cara </a:t>
            </a:r>
            <a:r>
              <a:rPr lang="en-ID" dirty="0" err="1"/>
              <a:t>Kerja</a:t>
            </a:r>
            <a:r>
              <a:rPr lang="en-ID" dirty="0"/>
              <a:t> Model </a:t>
            </a:r>
            <a:r>
              <a:rPr lang="en-ID" dirty="0" err="1"/>
              <a:t>Iteratif</a:t>
            </a:r>
            <a:endParaRPr lang="en-ID" dirty="0"/>
          </a:p>
        </p:txBody>
      </p:sp>
    </p:spTree>
    <p:extLst>
      <p:ext uri="{BB962C8B-B14F-4D97-AF65-F5344CB8AC3E}">
        <p14:creationId xmlns:p14="http://schemas.microsoft.com/office/powerpoint/2010/main" val="2605489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DAEB60-AEEC-6671-6445-F9C3B43B24F6}"/>
              </a:ext>
            </a:extLst>
          </p:cNvPr>
          <p:cNvSpPr>
            <a:spLocks noGrp="1"/>
          </p:cNvSpPr>
          <p:nvPr>
            <p:ph idx="1"/>
          </p:nvPr>
        </p:nvSpPr>
        <p:spPr/>
        <p:txBody>
          <a:bodyPr>
            <a:normAutofit fontScale="77500" lnSpcReduction="20000"/>
          </a:bodyPr>
          <a:lstStyle/>
          <a:p>
            <a:pPr marL="109728" indent="0">
              <a:buNone/>
            </a:pPr>
            <a:r>
              <a:rPr lang="en-ID" dirty="0" err="1"/>
              <a:t>Setiap</a:t>
            </a:r>
            <a:r>
              <a:rPr lang="en-ID" dirty="0"/>
              <a:t> </a:t>
            </a:r>
            <a:r>
              <a:rPr lang="en-ID" dirty="0" err="1"/>
              <a:t>satu</a:t>
            </a:r>
            <a:r>
              <a:rPr lang="en-ID" dirty="0"/>
              <a:t> </a:t>
            </a:r>
            <a:r>
              <a:rPr lang="en-ID" dirty="0" err="1"/>
              <a:t>siklus</a:t>
            </a:r>
            <a:r>
              <a:rPr lang="en-ID" dirty="0"/>
              <a:t> </a:t>
            </a:r>
            <a:r>
              <a:rPr lang="en-ID" dirty="0" err="1"/>
              <a:t>iterasi</a:t>
            </a:r>
            <a:r>
              <a:rPr lang="en-ID" dirty="0"/>
              <a:t> </a:t>
            </a:r>
            <a:r>
              <a:rPr lang="en-ID" dirty="0" err="1"/>
              <a:t>sebenarnya</a:t>
            </a:r>
            <a:r>
              <a:rPr lang="en-ID" dirty="0"/>
              <a:t> </a:t>
            </a:r>
            <a:r>
              <a:rPr lang="en-ID" dirty="0" err="1"/>
              <a:t>melewati</a:t>
            </a:r>
            <a:r>
              <a:rPr lang="en-ID" dirty="0"/>
              <a:t> </a:t>
            </a:r>
            <a:r>
              <a:rPr lang="en-ID" dirty="0" err="1"/>
              <a:t>tahapan</a:t>
            </a:r>
            <a:r>
              <a:rPr lang="en-ID" dirty="0"/>
              <a:t> </a:t>
            </a:r>
            <a:r>
              <a:rPr lang="en-ID" dirty="0" err="1"/>
              <a:t>pengembangan</a:t>
            </a:r>
            <a:r>
              <a:rPr lang="en-ID" dirty="0"/>
              <a:t> mini yang </a:t>
            </a:r>
            <a:r>
              <a:rPr lang="en-ID" dirty="0" err="1"/>
              <a:t>mirip</a:t>
            </a:r>
            <a:r>
              <a:rPr lang="en-ID" dirty="0"/>
              <a:t> </a:t>
            </a:r>
            <a:r>
              <a:rPr lang="en-ID" dirty="0" err="1"/>
              <a:t>dengan</a:t>
            </a:r>
            <a:r>
              <a:rPr lang="en-ID" dirty="0"/>
              <a:t> model </a:t>
            </a:r>
            <a:r>
              <a:rPr lang="en-ID" dirty="0" err="1"/>
              <a:t>tradisional</a:t>
            </a:r>
            <a:r>
              <a:rPr lang="en-ID" dirty="0"/>
              <a:t> (</a:t>
            </a:r>
            <a:r>
              <a:rPr lang="en-ID" i="1" dirty="0"/>
              <a:t>Waterfall</a:t>
            </a:r>
            <a:r>
              <a:rPr lang="en-ID" dirty="0"/>
              <a:t>), </a:t>
            </a:r>
            <a:r>
              <a:rPr lang="en-ID" dirty="0" err="1"/>
              <a:t>yaitu</a:t>
            </a:r>
            <a:r>
              <a:rPr lang="en-ID" dirty="0"/>
              <a:t>:</a:t>
            </a:r>
          </a:p>
          <a:p>
            <a:pPr lvl="0"/>
            <a:r>
              <a:rPr lang="en-ID" b="1" dirty="0" err="1"/>
              <a:t>Kebutuhan</a:t>
            </a:r>
            <a:r>
              <a:rPr lang="en-ID" b="1" dirty="0"/>
              <a:t> (Requirements):</a:t>
            </a:r>
            <a:r>
              <a:rPr lang="en-ID" dirty="0"/>
              <a:t> </a:t>
            </a:r>
            <a:r>
              <a:rPr lang="en-ID" dirty="0" err="1"/>
              <a:t>Menentukan</a:t>
            </a:r>
            <a:r>
              <a:rPr lang="en-ID" dirty="0"/>
              <a:t> </a:t>
            </a:r>
            <a:r>
              <a:rPr lang="en-ID" dirty="0" err="1"/>
              <a:t>apa</a:t>
            </a:r>
            <a:r>
              <a:rPr lang="en-ID" dirty="0"/>
              <a:t> </a:t>
            </a:r>
            <a:r>
              <a:rPr lang="en-ID" dirty="0" err="1"/>
              <a:t>saja</a:t>
            </a:r>
            <a:r>
              <a:rPr lang="en-ID" dirty="0"/>
              <a:t> yang </a:t>
            </a:r>
            <a:r>
              <a:rPr lang="en-ID" dirty="0" err="1"/>
              <a:t>akan</a:t>
            </a:r>
            <a:r>
              <a:rPr lang="en-ID" dirty="0"/>
              <a:t> </a:t>
            </a:r>
            <a:r>
              <a:rPr lang="en-ID" dirty="0" err="1"/>
              <a:t>dibuat</a:t>
            </a:r>
            <a:r>
              <a:rPr lang="en-ID" dirty="0"/>
              <a:t> </a:t>
            </a:r>
            <a:r>
              <a:rPr lang="en-ID" dirty="0" err="1"/>
              <a:t>atau</a:t>
            </a:r>
            <a:r>
              <a:rPr lang="en-ID" dirty="0"/>
              <a:t> </a:t>
            </a:r>
            <a:r>
              <a:rPr lang="en-ID" dirty="0" err="1"/>
              <a:t>ditambahkan</a:t>
            </a:r>
            <a:r>
              <a:rPr lang="en-ID" dirty="0"/>
              <a:t> pada </a:t>
            </a:r>
            <a:r>
              <a:rPr lang="en-ID" dirty="0" err="1"/>
              <a:t>iterasi</a:t>
            </a:r>
            <a:r>
              <a:rPr lang="en-ID" dirty="0"/>
              <a:t> kali </a:t>
            </a:r>
            <a:r>
              <a:rPr lang="en-ID" dirty="0" err="1"/>
              <a:t>ini</a:t>
            </a:r>
            <a:r>
              <a:rPr lang="en-ID" dirty="0"/>
              <a:t>.</a:t>
            </a:r>
          </a:p>
          <a:p>
            <a:pPr lvl="0"/>
            <a:r>
              <a:rPr lang="en-ID" b="1" dirty="0"/>
              <a:t>Desain (Design):</a:t>
            </a:r>
            <a:r>
              <a:rPr lang="en-ID" dirty="0"/>
              <a:t> </a:t>
            </a:r>
            <a:r>
              <a:rPr lang="en-ID" dirty="0" err="1"/>
              <a:t>Merancang</a:t>
            </a:r>
            <a:r>
              <a:rPr lang="en-ID" dirty="0"/>
              <a:t> </a:t>
            </a:r>
            <a:r>
              <a:rPr lang="en-ID" dirty="0" err="1"/>
              <a:t>arsitektur</a:t>
            </a:r>
            <a:r>
              <a:rPr lang="en-ID" dirty="0"/>
              <a:t> </a:t>
            </a:r>
            <a:r>
              <a:rPr lang="en-ID" dirty="0" err="1"/>
              <a:t>atau</a:t>
            </a:r>
            <a:r>
              <a:rPr lang="en-ID" dirty="0"/>
              <a:t> </a:t>
            </a:r>
            <a:r>
              <a:rPr lang="en-ID" dirty="0" err="1"/>
              <a:t>tampilan</a:t>
            </a:r>
            <a:r>
              <a:rPr lang="en-ID" dirty="0"/>
              <a:t> </a:t>
            </a:r>
            <a:r>
              <a:rPr lang="en-ID" dirty="0" err="1"/>
              <a:t>untuk</a:t>
            </a:r>
            <a:r>
              <a:rPr lang="en-ID" dirty="0"/>
              <a:t> </a:t>
            </a:r>
            <a:r>
              <a:rPr lang="en-ID" dirty="0" err="1"/>
              <a:t>fitur</a:t>
            </a:r>
            <a:r>
              <a:rPr lang="en-ID" dirty="0"/>
              <a:t> </a:t>
            </a:r>
            <a:r>
              <a:rPr lang="en-ID" dirty="0" err="1"/>
              <a:t>baru</a:t>
            </a:r>
            <a:r>
              <a:rPr lang="en-ID" dirty="0"/>
              <a:t> </a:t>
            </a:r>
            <a:r>
              <a:rPr lang="en-ID" dirty="0" err="1"/>
              <a:t>tersebut</a:t>
            </a:r>
            <a:r>
              <a:rPr lang="en-ID" dirty="0"/>
              <a:t>.</a:t>
            </a:r>
          </a:p>
          <a:p>
            <a:pPr lvl="0"/>
            <a:r>
              <a:rPr lang="en-ID" b="1" dirty="0" err="1"/>
              <a:t>Implementasi</a:t>
            </a:r>
            <a:r>
              <a:rPr lang="en-ID" b="1" dirty="0"/>
              <a:t> (Implementation):</a:t>
            </a:r>
            <a:r>
              <a:rPr lang="en-ID" dirty="0"/>
              <a:t> </a:t>
            </a:r>
            <a:r>
              <a:rPr lang="en-ID" dirty="0" err="1"/>
              <a:t>Menulis</a:t>
            </a:r>
            <a:r>
              <a:rPr lang="en-ID" dirty="0"/>
              <a:t> </a:t>
            </a:r>
            <a:r>
              <a:rPr lang="en-ID" dirty="0" err="1"/>
              <a:t>kode</a:t>
            </a:r>
            <a:r>
              <a:rPr lang="en-ID" dirty="0"/>
              <a:t> program </a:t>
            </a:r>
            <a:r>
              <a:rPr lang="en-ID" dirty="0" err="1"/>
              <a:t>untuk</a:t>
            </a:r>
            <a:r>
              <a:rPr lang="en-ID" dirty="0"/>
              <a:t> </a:t>
            </a:r>
            <a:r>
              <a:rPr lang="en-ID" dirty="0" err="1"/>
              <a:t>mewujudkan</a:t>
            </a:r>
            <a:r>
              <a:rPr lang="en-ID" dirty="0"/>
              <a:t> </a:t>
            </a:r>
            <a:r>
              <a:rPr lang="en-ID" dirty="0" err="1"/>
              <a:t>desain</a:t>
            </a:r>
            <a:r>
              <a:rPr lang="en-ID" dirty="0"/>
              <a:t>.</a:t>
            </a:r>
          </a:p>
          <a:p>
            <a:pPr lvl="0"/>
            <a:r>
              <a:rPr lang="en-ID" b="1" dirty="0" err="1"/>
              <a:t>Pengujian</a:t>
            </a:r>
            <a:r>
              <a:rPr lang="en-ID" b="1" dirty="0"/>
              <a:t> (Testing):</a:t>
            </a:r>
            <a:r>
              <a:rPr lang="en-ID" dirty="0"/>
              <a:t> </a:t>
            </a:r>
            <a:r>
              <a:rPr lang="en-ID" dirty="0" err="1"/>
              <a:t>Menguji</a:t>
            </a:r>
            <a:r>
              <a:rPr lang="en-ID" dirty="0"/>
              <a:t> </a:t>
            </a:r>
            <a:r>
              <a:rPr lang="en-ID" dirty="0" err="1"/>
              <a:t>apakah</a:t>
            </a:r>
            <a:r>
              <a:rPr lang="en-ID" dirty="0"/>
              <a:t> </a:t>
            </a:r>
            <a:r>
              <a:rPr lang="en-ID" dirty="0" err="1"/>
              <a:t>fitur</a:t>
            </a:r>
            <a:r>
              <a:rPr lang="en-ID" dirty="0"/>
              <a:t> </a:t>
            </a:r>
            <a:r>
              <a:rPr lang="en-ID" dirty="0" err="1"/>
              <a:t>baru</a:t>
            </a:r>
            <a:r>
              <a:rPr lang="en-ID" dirty="0"/>
              <a:t> </a:t>
            </a:r>
            <a:r>
              <a:rPr lang="en-ID" dirty="0" err="1"/>
              <a:t>berjalan</a:t>
            </a:r>
            <a:r>
              <a:rPr lang="en-ID" dirty="0"/>
              <a:t> </a:t>
            </a:r>
            <a:r>
              <a:rPr lang="en-ID" dirty="0" err="1"/>
              <a:t>dengan</a:t>
            </a:r>
            <a:r>
              <a:rPr lang="en-ID" dirty="0"/>
              <a:t> </a:t>
            </a:r>
            <a:r>
              <a:rPr lang="en-ID" dirty="0" err="1"/>
              <a:t>baik</a:t>
            </a:r>
            <a:r>
              <a:rPr lang="en-ID" dirty="0"/>
              <a:t> dan </a:t>
            </a:r>
            <a:r>
              <a:rPr lang="en-ID" dirty="0" err="1"/>
              <a:t>tidak</a:t>
            </a:r>
            <a:r>
              <a:rPr lang="en-ID" dirty="0"/>
              <a:t> </a:t>
            </a:r>
            <a:r>
              <a:rPr lang="en-ID" dirty="0" err="1"/>
              <a:t>merusak</a:t>
            </a:r>
            <a:r>
              <a:rPr lang="en-ID" dirty="0"/>
              <a:t> </a:t>
            </a:r>
            <a:r>
              <a:rPr lang="en-ID" dirty="0" err="1"/>
              <a:t>fitur</a:t>
            </a:r>
            <a:r>
              <a:rPr lang="en-ID" dirty="0"/>
              <a:t> lama.</a:t>
            </a:r>
          </a:p>
          <a:p>
            <a:pPr lvl="0"/>
            <a:r>
              <a:rPr lang="en-ID" b="1" dirty="0" err="1"/>
              <a:t>Evaluasi</a:t>
            </a:r>
            <a:r>
              <a:rPr lang="en-ID" b="1" dirty="0"/>
              <a:t> (Evaluation):</a:t>
            </a:r>
            <a:r>
              <a:rPr lang="en-ID" dirty="0"/>
              <a:t> </a:t>
            </a:r>
            <a:r>
              <a:rPr lang="en-ID" dirty="0" err="1"/>
              <a:t>Menilai</a:t>
            </a:r>
            <a:r>
              <a:rPr lang="en-ID" dirty="0"/>
              <a:t> </a:t>
            </a:r>
            <a:r>
              <a:rPr lang="en-ID" dirty="0" err="1"/>
              <a:t>hasil</a:t>
            </a:r>
            <a:r>
              <a:rPr lang="en-ID" dirty="0"/>
              <a:t> </a:t>
            </a:r>
            <a:r>
              <a:rPr lang="en-ID" dirty="0" err="1"/>
              <a:t>akhir</a:t>
            </a:r>
            <a:r>
              <a:rPr lang="en-ID" dirty="0"/>
              <a:t> </a:t>
            </a:r>
            <a:r>
              <a:rPr lang="en-ID" dirty="0" err="1"/>
              <a:t>iterasi</a:t>
            </a:r>
            <a:r>
              <a:rPr lang="en-ID" dirty="0"/>
              <a:t> </a:t>
            </a:r>
            <a:r>
              <a:rPr lang="en-ID" dirty="0" err="1"/>
              <a:t>bersama</a:t>
            </a:r>
            <a:r>
              <a:rPr lang="en-ID" dirty="0"/>
              <a:t> </a:t>
            </a:r>
            <a:r>
              <a:rPr lang="en-ID" dirty="0" err="1"/>
              <a:t>klien</a:t>
            </a:r>
            <a:r>
              <a:rPr lang="en-ID" dirty="0"/>
              <a:t> </a:t>
            </a:r>
            <a:r>
              <a:rPr lang="en-ID" dirty="0" err="1"/>
              <a:t>atau</a:t>
            </a:r>
            <a:r>
              <a:rPr lang="en-ID" dirty="0"/>
              <a:t> </a:t>
            </a:r>
            <a:r>
              <a:rPr lang="en-ID" dirty="0" err="1"/>
              <a:t>pengguna</a:t>
            </a:r>
            <a:r>
              <a:rPr lang="en-ID" dirty="0"/>
              <a:t> </a:t>
            </a:r>
            <a:r>
              <a:rPr lang="en-ID" dirty="0" err="1"/>
              <a:t>sebelum</a:t>
            </a:r>
            <a:r>
              <a:rPr lang="en-ID" dirty="0"/>
              <a:t> </a:t>
            </a:r>
            <a:r>
              <a:rPr lang="en-ID" dirty="0" err="1"/>
              <a:t>lanjut</a:t>
            </a:r>
            <a:r>
              <a:rPr lang="en-ID" dirty="0"/>
              <a:t> </a:t>
            </a:r>
            <a:r>
              <a:rPr lang="en-ID" dirty="0" err="1"/>
              <a:t>ke</a:t>
            </a:r>
            <a:r>
              <a:rPr lang="en-ID" dirty="0"/>
              <a:t> </a:t>
            </a:r>
            <a:r>
              <a:rPr lang="en-ID" dirty="0" err="1"/>
              <a:t>siklus</a:t>
            </a:r>
            <a:r>
              <a:rPr lang="en-ID" dirty="0"/>
              <a:t> </a:t>
            </a:r>
            <a:r>
              <a:rPr lang="en-ID" dirty="0" err="1"/>
              <a:t>berikutnya</a:t>
            </a:r>
            <a:r>
              <a:rPr lang="en-ID" dirty="0"/>
              <a:t>.</a:t>
            </a:r>
          </a:p>
        </p:txBody>
      </p:sp>
      <p:sp>
        <p:nvSpPr>
          <p:cNvPr id="4" name="Title 3">
            <a:extLst>
              <a:ext uri="{FF2B5EF4-FFF2-40B4-BE49-F238E27FC236}">
                <a16:creationId xmlns:a16="http://schemas.microsoft.com/office/drawing/2014/main" id="{911AE7D3-397F-120E-0CF1-0B78484F3663}"/>
              </a:ext>
            </a:extLst>
          </p:cNvPr>
          <p:cNvSpPr>
            <a:spLocks noGrp="1"/>
          </p:cNvSpPr>
          <p:nvPr>
            <p:ph type="title"/>
          </p:nvPr>
        </p:nvSpPr>
        <p:spPr/>
        <p:txBody>
          <a:bodyPr/>
          <a:lstStyle/>
          <a:p>
            <a:r>
              <a:rPr lang="en-ID" dirty="0" err="1"/>
              <a:t>Tahapan</a:t>
            </a:r>
            <a:r>
              <a:rPr lang="en-ID" dirty="0"/>
              <a:t> </a:t>
            </a:r>
            <a:r>
              <a:rPr lang="en-ID" dirty="0" err="1"/>
              <a:t>dalam</a:t>
            </a:r>
            <a:r>
              <a:rPr lang="en-ID" dirty="0"/>
              <a:t> </a:t>
            </a:r>
            <a:r>
              <a:rPr lang="en-ID" dirty="0" err="1"/>
              <a:t>Setiap</a:t>
            </a:r>
            <a:r>
              <a:rPr lang="en-ID" dirty="0"/>
              <a:t> </a:t>
            </a:r>
            <a:r>
              <a:rPr lang="en-ID" dirty="0" err="1"/>
              <a:t>Iterasi</a:t>
            </a:r>
            <a:endParaRPr lang="en-ID" dirty="0"/>
          </a:p>
        </p:txBody>
      </p:sp>
    </p:spTree>
    <p:extLst>
      <p:ext uri="{BB962C8B-B14F-4D97-AF65-F5344CB8AC3E}">
        <p14:creationId xmlns:p14="http://schemas.microsoft.com/office/powerpoint/2010/main" val="2927152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5110DC-463F-978A-2BA0-40246709B66D}"/>
              </a:ext>
            </a:extLst>
          </p:cNvPr>
          <p:cNvSpPr>
            <a:spLocks noGrp="1"/>
          </p:cNvSpPr>
          <p:nvPr>
            <p:ph idx="1"/>
          </p:nvPr>
        </p:nvSpPr>
        <p:spPr>
          <a:xfrm>
            <a:off x="457200" y="1676400"/>
            <a:ext cx="8229600" cy="3949891"/>
          </a:xfrm>
        </p:spPr>
        <p:txBody>
          <a:bodyPr>
            <a:normAutofit fontScale="92500"/>
          </a:bodyPr>
          <a:lstStyle/>
          <a:p>
            <a:pPr lvl="0"/>
            <a:r>
              <a:rPr lang="en-ID" b="1" dirty="0" err="1"/>
              <a:t>Rilis</a:t>
            </a:r>
            <a:r>
              <a:rPr lang="en-ID" b="1" dirty="0"/>
              <a:t> </a:t>
            </a:r>
            <a:r>
              <a:rPr lang="en-ID" b="1" dirty="0" err="1"/>
              <a:t>Lebih</a:t>
            </a:r>
            <a:r>
              <a:rPr lang="en-ID" b="1" dirty="0"/>
              <a:t> </a:t>
            </a:r>
            <a:r>
              <a:rPr lang="en-ID" b="1" dirty="0" err="1"/>
              <a:t>Cepat</a:t>
            </a:r>
            <a:r>
              <a:rPr lang="en-ID" b="1" dirty="0"/>
              <a:t>:</a:t>
            </a:r>
            <a:r>
              <a:rPr lang="en-ID" dirty="0"/>
              <a:t> </a:t>
            </a:r>
            <a:r>
              <a:rPr lang="en-ID" dirty="0" err="1"/>
              <a:t>Pengguna</a:t>
            </a:r>
            <a:r>
              <a:rPr lang="en-ID" dirty="0"/>
              <a:t> </a:t>
            </a:r>
            <a:r>
              <a:rPr lang="en-ID" dirty="0" err="1"/>
              <a:t>bisa</a:t>
            </a:r>
            <a:r>
              <a:rPr lang="en-ID" dirty="0"/>
              <a:t> </a:t>
            </a:r>
            <a:r>
              <a:rPr lang="en-ID" dirty="0" err="1"/>
              <a:t>langsung</a:t>
            </a:r>
            <a:r>
              <a:rPr lang="en-ID" dirty="0"/>
              <a:t> </a:t>
            </a:r>
            <a:r>
              <a:rPr lang="en-ID" dirty="0" err="1"/>
              <a:t>mencoba</a:t>
            </a:r>
            <a:r>
              <a:rPr lang="en-ID" dirty="0"/>
              <a:t> </a:t>
            </a:r>
            <a:r>
              <a:rPr lang="en-ID" dirty="0" err="1"/>
              <a:t>fungsi</a:t>
            </a:r>
            <a:r>
              <a:rPr lang="en-ID" dirty="0"/>
              <a:t> </a:t>
            </a:r>
            <a:r>
              <a:rPr lang="en-ID" dirty="0" err="1"/>
              <a:t>dasar</a:t>
            </a:r>
            <a:r>
              <a:rPr lang="en-ID" dirty="0"/>
              <a:t> </a:t>
            </a:r>
            <a:r>
              <a:rPr lang="en-ID" dirty="0" err="1"/>
              <a:t>produk</a:t>
            </a:r>
            <a:r>
              <a:rPr lang="en-ID" dirty="0"/>
              <a:t> </a:t>
            </a:r>
            <a:r>
              <a:rPr lang="en-ID" dirty="0" err="1"/>
              <a:t>tanpa</a:t>
            </a:r>
            <a:r>
              <a:rPr lang="en-ID" dirty="0"/>
              <a:t> </a:t>
            </a:r>
            <a:r>
              <a:rPr lang="en-ID" dirty="0" err="1"/>
              <a:t>harus</a:t>
            </a:r>
            <a:r>
              <a:rPr lang="en-ID" dirty="0"/>
              <a:t> </a:t>
            </a:r>
            <a:r>
              <a:rPr lang="en-ID" dirty="0" err="1"/>
              <a:t>menunggu</a:t>
            </a:r>
            <a:r>
              <a:rPr lang="en-ID" dirty="0"/>
              <a:t> </a:t>
            </a:r>
            <a:r>
              <a:rPr lang="en-ID" dirty="0" err="1"/>
              <a:t>berbulan-bulan</a:t>
            </a:r>
            <a:r>
              <a:rPr lang="en-ID" dirty="0"/>
              <a:t> </a:t>
            </a:r>
            <a:r>
              <a:rPr lang="en-ID" dirty="0" err="1"/>
              <a:t>atau</a:t>
            </a:r>
            <a:r>
              <a:rPr lang="en-ID" dirty="0"/>
              <a:t> </a:t>
            </a:r>
            <a:r>
              <a:rPr lang="en-ID" dirty="0" err="1"/>
              <a:t>bertahun-tahun</a:t>
            </a:r>
            <a:r>
              <a:rPr lang="en-ID" dirty="0"/>
              <a:t>.</a:t>
            </a:r>
          </a:p>
          <a:p>
            <a:pPr lvl="0"/>
            <a:r>
              <a:rPr lang="en-ID" b="1" dirty="0" err="1"/>
              <a:t>Mudah</a:t>
            </a:r>
            <a:r>
              <a:rPr lang="en-ID" b="1" dirty="0"/>
              <a:t> </a:t>
            </a:r>
            <a:r>
              <a:rPr lang="en-ID" b="1" dirty="0" err="1"/>
              <a:t>Beradaptasi</a:t>
            </a:r>
            <a:r>
              <a:rPr lang="en-ID" b="1" dirty="0"/>
              <a:t>:</a:t>
            </a:r>
            <a:r>
              <a:rPr lang="en-ID" dirty="0"/>
              <a:t> Jika </a:t>
            </a:r>
            <a:r>
              <a:rPr lang="en-ID" dirty="0" err="1"/>
              <a:t>tren</a:t>
            </a:r>
            <a:r>
              <a:rPr lang="en-ID" dirty="0"/>
              <a:t> pasar </a:t>
            </a:r>
            <a:r>
              <a:rPr lang="en-ID" dirty="0" err="1"/>
              <a:t>atau</a:t>
            </a:r>
            <a:r>
              <a:rPr lang="en-ID" dirty="0"/>
              <a:t> </a:t>
            </a:r>
            <a:r>
              <a:rPr lang="en-ID" dirty="0" err="1"/>
              <a:t>kebutuhan</a:t>
            </a:r>
            <a:r>
              <a:rPr lang="en-ID" dirty="0"/>
              <a:t> </a:t>
            </a:r>
            <a:r>
              <a:rPr lang="en-ID" dirty="0" err="1"/>
              <a:t>bisnis</a:t>
            </a:r>
            <a:r>
              <a:rPr lang="en-ID" dirty="0"/>
              <a:t> </a:t>
            </a:r>
            <a:r>
              <a:rPr lang="en-ID" dirty="0" err="1"/>
              <a:t>berubah</a:t>
            </a:r>
            <a:r>
              <a:rPr lang="en-ID" dirty="0"/>
              <a:t>, </a:t>
            </a:r>
            <a:r>
              <a:rPr lang="en-ID" dirty="0" err="1"/>
              <a:t>tim</a:t>
            </a:r>
            <a:r>
              <a:rPr lang="en-ID" dirty="0"/>
              <a:t> </a:t>
            </a:r>
            <a:r>
              <a:rPr lang="en-ID" dirty="0" err="1"/>
              <a:t>pengembang</a:t>
            </a:r>
            <a:r>
              <a:rPr lang="en-ID" dirty="0"/>
              <a:t> </a:t>
            </a:r>
            <a:r>
              <a:rPr lang="en-ID" dirty="0" err="1"/>
              <a:t>bisa</a:t>
            </a:r>
            <a:r>
              <a:rPr lang="en-ID" dirty="0"/>
              <a:t> </a:t>
            </a:r>
            <a:r>
              <a:rPr lang="en-ID" dirty="0" err="1"/>
              <a:t>langsung</a:t>
            </a:r>
            <a:r>
              <a:rPr lang="en-ID" dirty="0"/>
              <a:t> </a:t>
            </a:r>
            <a:r>
              <a:rPr lang="en-ID" dirty="0" err="1"/>
              <a:t>menyesuaikannya</a:t>
            </a:r>
            <a:r>
              <a:rPr lang="en-ID" dirty="0"/>
              <a:t> di </a:t>
            </a:r>
            <a:r>
              <a:rPr lang="en-ID" dirty="0" err="1"/>
              <a:t>iterasi</a:t>
            </a:r>
            <a:r>
              <a:rPr lang="en-ID" dirty="0"/>
              <a:t> </a:t>
            </a:r>
            <a:r>
              <a:rPr lang="en-ID" dirty="0" err="1"/>
              <a:t>berikutnya</a:t>
            </a:r>
            <a:r>
              <a:rPr lang="en-ID" dirty="0"/>
              <a:t>.</a:t>
            </a:r>
          </a:p>
          <a:p>
            <a:pPr lvl="0"/>
            <a:r>
              <a:rPr lang="en-ID" b="1" dirty="0" err="1"/>
              <a:t>Manajemen</a:t>
            </a:r>
            <a:r>
              <a:rPr lang="en-ID" b="1" dirty="0"/>
              <a:t> Risiko </a:t>
            </a:r>
            <a:r>
              <a:rPr lang="en-ID" b="1" dirty="0" err="1"/>
              <a:t>Lebih</a:t>
            </a:r>
            <a:r>
              <a:rPr lang="en-ID" b="1" dirty="0"/>
              <a:t> Baik:</a:t>
            </a:r>
            <a:r>
              <a:rPr lang="en-ID" dirty="0"/>
              <a:t> </a:t>
            </a:r>
            <a:r>
              <a:rPr lang="en-ID" i="1" dirty="0"/>
              <a:t>Bug</a:t>
            </a:r>
            <a:r>
              <a:rPr lang="en-ID" dirty="0"/>
              <a:t> </a:t>
            </a:r>
            <a:r>
              <a:rPr lang="en-ID" dirty="0" err="1"/>
              <a:t>atau</a:t>
            </a:r>
            <a:r>
              <a:rPr lang="en-ID" dirty="0"/>
              <a:t> </a:t>
            </a:r>
            <a:r>
              <a:rPr lang="en-ID" dirty="0" err="1"/>
              <a:t>kesalahan</a:t>
            </a:r>
            <a:r>
              <a:rPr lang="en-ID" dirty="0"/>
              <a:t> </a:t>
            </a:r>
            <a:r>
              <a:rPr lang="en-ID" dirty="0" err="1"/>
              <a:t>desain</a:t>
            </a:r>
            <a:r>
              <a:rPr lang="en-ID" dirty="0"/>
              <a:t> </a:t>
            </a:r>
            <a:r>
              <a:rPr lang="en-ID" dirty="0" err="1"/>
              <a:t>dapat</a:t>
            </a:r>
            <a:r>
              <a:rPr lang="en-ID" dirty="0"/>
              <a:t> </a:t>
            </a:r>
            <a:r>
              <a:rPr lang="en-ID" dirty="0" err="1"/>
              <a:t>ditemukan</a:t>
            </a:r>
            <a:r>
              <a:rPr lang="en-ID" dirty="0"/>
              <a:t> dan </a:t>
            </a:r>
            <a:r>
              <a:rPr lang="en-ID" dirty="0" err="1"/>
              <a:t>diperbaiki</a:t>
            </a:r>
            <a:r>
              <a:rPr lang="en-ID" dirty="0"/>
              <a:t> </a:t>
            </a:r>
            <a:r>
              <a:rPr lang="en-ID" dirty="0" err="1"/>
              <a:t>lebih</a:t>
            </a:r>
            <a:r>
              <a:rPr lang="en-ID" dirty="0"/>
              <a:t> </a:t>
            </a:r>
            <a:r>
              <a:rPr lang="en-ID" dirty="0" err="1"/>
              <a:t>awal</a:t>
            </a:r>
            <a:r>
              <a:rPr lang="en-ID" dirty="0"/>
              <a:t> di </a:t>
            </a:r>
            <a:r>
              <a:rPr lang="en-ID" dirty="0" err="1"/>
              <a:t>setiap</a:t>
            </a:r>
            <a:r>
              <a:rPr lang="en-ID" dirty="0"/>
              <a:t> </a:t>
            </a:r>
            <a:r>
              <a:rPr lang="en-ID" dirty="0" err="1"/>
              <a:t>siklus</a:t>
            </a:r>
            <a:r>
              <a:rPr lang="en-ID" dirty="0"/>
              <a:t>.</a:t>
            </a:r>
          </a:p>
          <a:p>
            <a:endParaRPr lang="en-ID" dirty="0"/>
          </a:p>
        </p:txBody>
      </p:sp>
      <p:sp>
        <p:nvSpPr>
          <p:cNvPr id="4" name="Title 3">
            <a:extLst>
              <a:ext uri="{FF2B5EF4-FFF2-40B4-BE49-F238E27FC236}">
                <a16:creationId xmlns:a16="http://schemas.microsoft.com/office/drawing/2014/main" id="{075B9862-D3E3-C1AD-2C51-AE515A84F9CD}"/>
              </a:ext>
            </a:extLst>
          </p:cNvPr>
          <p:cNvSpPr>
            <a:spLocks noGrp="1"/>
          </p:cNvSpPr>
          <p:nvPr>
            <p:ph type="title"/>
          </p:nvPr>
        </p:nvSpPr>
        <p:spPr/>
        <p:txBody>
          <a:bodyPr>
            <a:normAutofit/>
          </a:bodyPr>
          <a:lstStyle/>
          <a:p>
            <a:r>
              <a:rPr lang="en-US" dirty="0" err="1"/>
              <a:t>Kelebihan</a:t>
            </a:r>
            <a:r>
              <a:rPr lang="en-US" dirty="0"/>
              <a:t> Model Iterative</a:t>
            </a:r>
            <a:endParaRPr lang="en-ID" dirty="0"/>
          </a:p>
        </p:txBody>
      </p:sp>
    </p:spTree>
    <p:extLst>
      <p:ext uri="{BB962C8B-B14F-4D97-AF65-F5344CB8AC3E}">
        <p14:creationId xmlns:p14="http://schemas.microsoft.com/office/powerpoint/2010/main" val="1113117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46C586-1FA4-9B66-AD46-47926B28B07A}"/>
              </a:ext>
            </a:extLst>
          </p:cNvPr>
          <p:cNvSpPr>
            <a:spLocks noGrp="1"/>
          </p:cNvSpPr>
          <p:nvPr>
            <p:ph idx="1"/>
          </p:nvPr>
        </p:nvSpPr>
        <p:spPr/>
        <p:txBody>
          <a:bodyPr>
            <a:normAutofit lnSpcReduction="10000"/>
          </a:bodyPr>
          <a:lstStyle/>
          <a:p>
            <a:pPr lvl="0"/>
            <a:r>
              <a:rPr lang="en-ID" b="1" dirty="0" err="1"/>
              <a:t>Biaya</a:t>
            </a:r>
            <a:r>
              <a:rPr lang="en-ID" b="1" dirty="0"/>
              <a:t> Bisa </a:t>
            </a:r>
            <a:r>
              <a:rPr lang="en-ID" b="1" dirty="0" err="1"/>
              <a:t>Membengkak</a:t>
            </a:r>
            <a:r>
              <a:rPr lang="en-ID" b="1" dirty="0"/>
              <a:t>:</a:t>
            </a:r>
            <a:r>
              <a:rPr lang="en-ID" dirty="0"/>
              <a:t> Jika </a:t>
            </a:r>
            <a:r>
              <a:rPr lang="en-ID" dirty="0" err="1"/>
              <a:t>batasan</a:t>
            </a:r>
            <a:r>
              <a:rPr lang="en-ID" dirty="0"/>
              <a:t> </a:t>
            </a:r>
            <a:r>
              <a:rPr lang="en-ID" dirty="0" err="1"/>
              <a:t>proyek</a:t>
            </a:r>
            <a:r>
              <a:rPr lang="en-ID" dirty="0"/>
              <a:t> </a:t>
            </a:r>
            <a:r>
              <a:rPr lang="en-ID" dirty="0" err="1"/>
              <a:t>tidak</a:t>
            </a:r>
            <a:r>
              <a:rPr lang="en-ID" dirty="0"/>
              <a:t> </a:t>
            </a:r>
            <a:r>
              <a:rPr lang="en-ID" dirty="0" err="1"/>
              <a:t>ditentukan</a:t>
            </a:r>
            <a:r>
              <a:rPr lang="en-ID" dirty="0"/>
              <a:t> </a:t>
            </a:r>
            <a:r>
              <a:rPr lang="en-ID" dirty="0" err="1"/>
              <a:t>dengan</a:t>
            </a:r>
            <a:r>
              <a:rPr lang="en-ID" dirty="0"/>
              <a:t> </a:t>
            </a:r>
            <a:r>
              <a:rPr lang="en-ID" dirty="0" err="1"/>
              <a:t>jelas</a:t>
            </a:r>
            <a:r>
              <a:rPr lang="en-ID" dirty="0"/>
              <a:t>, </a:t>
            </a:r>
            <a:r>
              <a:rPr lang="en-ID" dirty="0" err="1"/>
              <a:t>jumlah</a:t>
            </a:r>
            <a:r>
              <a:rPr lang="en-ID" dirty="0"/>
              <a:t> </a:t>
            </a:r>
            <a:r>
              <a:rPr lang="en-ID" dirty="0" err="1"/>
              <a:t>iterasi</a:t>
            </a:r>
            <a:r>
              <a:rPr lang="en-ID" dirty="0"/>
              <a:t> </a:t>
            </a:r>
            <a:r>
              <a:rPr lang="en-ID" dirty="0" err="1"/>
              <a:t>bisa</a:t>
            </a:r>
            <a:r>
              <a:rPr lang="en-ID" dirty="0"/>
              <a:t> </a:t>
            </a:r>
            <a:r>
              <a:rPr lang="en-ID" dirty="0" err="1"/>
              <a:t>terus</a:t>
            </a:r>
            <a:r>
              <a:rPr lang="en-ID" dirty="0"/>
              <a:t> </a:t>
            </a:r>
            <a:r>
              <a:rPr lang="en-ID" dirty="0" err="1"/>
              <a:t>bertambah</a:t>
            </a:r>
            <a:r>
              <a:rPr lang="en-ID" dirty="0"/>
              <a:t> (</a:t>
            </a:r>
            <a:r>
              <a:rPr lang="en-ID" i="1" dirty="0"/>
              <a:t>scope creep</a:t>
            </a:r>
            <a:r>
              <a:rPr lang="en-ID" dirty="0"/>
              <a:t>).</a:t>
            </a:r>
          </a:p>
          <a:p>
            <a:pPr lvl="0"/>
            <a:r>
              <a:rPr lang="en-ID" b="1" dirty="0" err="1"/>
              <a:t>Butuh</a:t>
            </a:r>
            <a:r>
              <a:rPr lang="en-ID" b="1" dirty="0"/>
              <a:t> </a:t>
            </a:r>
            <a:r>
              <a:rPr lang="en-ID" b="1" dirty="0" err="1"/>
              <a:t>Pengawasan</a:t>
            </a:r>
            <a:r>
              <a:rPr lang="en-ID" b="1" dirty="0"/>
              <a:t> </a:t>
            </a:r>
            <a:r>
              <a:rPr lang="en-ID" b="1" dirty="0" err="1"/>
              <a:t>Ketat</a:t>
            </a:r>
            <a:r>
              <a:rPr lang="en-ID" b="1" dirty="0"/>
              <a:t>:</a:t>
            </a:r>
            <a:r>
              <a:rPr lang="en-ID" dirty="0"/>
              <a:t> </a:t>
            </a:r>
            <a:r>
              <a:rPr lang="en-ID" dirty="0" err="1"/>
              <a:t>Manajemen</a:t>
            </a:r>
            <a:r>
              <a:rPr lang="en-ID" dirty="0"/>
              <a:t> </a:t>
            </a:r>
            <a:r>
              <a:rPr lang="en-ID" dirty="0" err="1"/>
              <a:t>proyek</a:t>
            </a:r>
            <a:r>
              <a:rPr lang="en-ID" dirty="0"/>
              <a:t> </a:t>
            </a:r>
            <a:r>
              <a:rPr lang="en-ID" dirty="0" err="1"/>
              <a:t>harus</a:t>
            </a:r>
            <a:r>
              <a:rPr lang="en-ID" dirty="0"/>
              <a:t> </a:t>
            </a:r>
            <a:r>
              <a:rPr lang="en-ID" dirty="0" err="1"/>
              <a:t>disiplin</a:t>
            </a:r>
            <a:r>
              <a:rPr lang="en-ID" dirty="0"/>
              <a:t> agar </a:t>
            </a:r>
            <a:r>
              <a:rPr lang="en-ID" dirty="0" err="1"/>
              <a:t>setiap</a:t>
            </a:r>
            <a:r>
              <a:rPr lang="en-ID" dirty="0"/>
              <a:t> </a:t>
            </a:r>
            <a:r>
              <a:rPr lang="en-ID" dirty="0" err="1"/>
              <a:t>iterasi</a:t>
            </a:r>
            <a:r>
              <a:rPr lang="en-ID" dirty="0"/>
              <a:t> </a:t>
            </a:r>
            <a:r>
              <a:rPr lang="en-ID" dirty="0" err="1"/>
              <a:t>selesai</a:t>
            </a:r>
            <a:r>
              <a:rPr lang="en-ID" dirty="0"/>
              <a:t> </a:t>
            </a:r>
            <a:r>
              <a:rPr lang="en-ID" dirty="0" err="1"/>
              <a:t>tepat</a:t>
            </a:r>
            <a:r>
              <a:rPr lang="en-ID" dirty="0"/>
              <a:t> </a:t>
            </a:r>
            <a:r>
              <a:rPr lang="en-ID" dirty="0" err="1"/>
              <a:t>waktu</a:t>
            </a:r>
            <a:r>
              <a:rPr lang="en-ID" dirty="0"/>
              <a:t> dan </a:t>
            </a:r>
            <a:r>
              <a:rPr lang="en-ID" dirty="0" err="1"/>
              <a:t>tidak</a:t>
            </a:r>
            <a:r>
              <a:rPr lang="en-ID" dirty="0"/>
              <a:t> </a:t>
            </a:r>
            <a:r>
              <a:rPr lang="en-ID" dirty="0" err="1"/>
              <a:t>keluar</a:t>
            </a:r>
            <a:r>
              <a:rPr lang="en-ID" dirty="0"/>
              <a:t> </a:t>
            </a:r>
            <a:r>
              <a:rPr lang="en-ID" dirty="0" err="1"/>
              <a:t>jalur</a:t>
            </a:r>
            <a:r>
              <a:rPr lang="en-ID" dirty="0"/>
              <a:t>.</a:t>
            </a:r>
          </a:p>
          <a:p>
            <a:pPr lvl="0"/>
            <a:r>
              <a:rPr lang="en-ID" b="1" dirty="0" err="1"/>
              <a:t>Arsitektur</a:t>
            </a:r>
            <a:r>
              <a:rPr lang="en-ID" b="1" dirty="0"/>
              <a:t> </a:t>
            </a:r>
            <a:r>
              <a:rPr lang="en-ID" b="1" dirty="0" err="1"/>
              <a:t>Sistem</a:t>
            </a:r>
            <a:r>
              <a:rPr lang="en-ID" b="1" dirty="0"/>
              <a:t> </a:t>
            </a:r>
            <a:r>
              <a:rPr lang="en-ID" b="1" dirty="0" err="1"/>
              <a:t>Berisiko</a:t>
            </a:r>
            <a:r>
              <a:rPr lang="en-ID" b="1" dirty="0"/>
              <a:t> </a:t>
            </a:r>
            <a:r>
              <a:rPr lang="en-ID" b="1" dirty="0" err="1"/>
              <a:t>Berantakan</a:t>
            </a:r>
            <a:r>
              <a:rPr lang="en-ID" b="1" dirty="0"/>
              <a:t>:</a:t>
            </a:r>
            <a:r>
              <a:rPr lang="en-ID" dirty="0"/>
              <a:t> Karena </a:t>
            </a:r>
            <a:r>
              <a:rPr lang="en-ID" dirty="0" err="1"/>
              <a:t>fitur</a:t>
            </a:r>
            <a:r>
              <a:rPr lang="en-ID" dirty="0"/>
              <a:t> </a:t>
            </a:r>
            <a:r>
              <a:rPr lang="en-ID" dirty="0" err="1"/>
              <a:t>ditambahkan</a:t>
            </a:r>
            <a:r>
              <a:rPr lang="en-ID" dirty="0"/>
              <a:t> </a:t>
            </a:r>
            <a:r>
              <a:rPr lang="en-ID" dirty="0" err="1"/>
              <a:t>secara</a:t>
            </a:r>
            <a:r>
              <a:rPr lang="en-ID" dirty="0"/>
              <a:t> </a:t>
            </a:r>
            <a:r>
              <a:rPr lang="en-ID" dirty="0" err="1"/>
              <a:t>bertahap</a:t>
            </a:r>
            <a:r>
              <a:rPr lang="en-ID" dirty="0"/>
              <a:t>, </a:t>
            </a:r>
            <a:r>
              <a:rPr lang="en-ID" dirty="0" err="1"/>
              <a:t>kode</a:t>
            </a:r>
            <a:r>
              <a:rPr lang="en-ID" dirty="0"/>
              <a:t> program </a:t>
            </a:r>
            <a:r>
              <a:rPr lang="en-ID" dirty="0" err="1"/>
              <a:t>bisa</a:t>
            </a:r>
            <a:r>
              <a:rPr lang="en-ID" dirty="0"/>
              <a:t> </a:t>
            </a:r>
            <a:r>
              <a:rPr lang="en-ID" dirty="0" err="1"/>
              <a:t>menjadi</a:t>
            </a:r>
            <a:r>
              <a:rPr lang="en-ID" dirty="0"/>
              <a:t> </a:t>
            </a:r>
            <a:r>
              <a:rPr lang="en-ID" dirty="0" err="1"/>
              <a:t>rumit</a:t>
            </a:r>
            <a:r>
              <a:rPr lang="en-ID" dirty="0"/>
              <a:t> </a:t>
            </a:r>
            <a:r>
              <a:rPr lang="en-ID" dirty="0" err="1"/>
              <a:t>jika</a:t>
            </a:r>
            <a:r>
              <a:rPr lang="en-ID" dirty="0"/>
              <a:t> </a:t>
            </a:r>
            <a:r>
              <a:rPr lang="en-ID" dirty="0" err="1"/>
              <a:t>tidak</a:t>
            </a:r>
            <a:r>
              <a:rPr lang="en-ID" dirty="0"/>
              <a:t> </a:t>
            </a:r>
            <a:r>
              <a:rPr lang="en-ID" dirty="0" err="1"/>
              <a:t>dilakukan</a:t>
            </a:r>
            <a:r>
              <a:rPr lang="en-ID" dirty="0"/>
              <a:t> </a:t>
            </a:r>
            <a:r>
              <a:rPr lang="en-ID" i="1" dirty="0"/>
              <a:t>refactoring</a:t>
            </a:r>
            <a:r>
              <a:rPr lang="en-ID" dirty="0"/>
              <a:t> (</a:t>
            </a:r>
            <a:r>
              <a:rPr lang="en-ID" dirty="0" err="1"/>
              <a:t>perapian</a:t>
            </a:r>
            <a:r>
              <a:rPr lang="en-ID" dirty="0"/>
              <a:t> </a:t>
            </a:r>
            <a:r>
              <a:rPr lang="en-ID" dirty="0" err="1"/>
              <a:t>kode</a:t>
            </a:r>
            <a:r>
              <a:rPr lang="en-ID" dirty="0"/>
              <a:t>) </a:t>
            </a:r>
            <a:r>
              <a:rPr lang="en-ID" dirty="0" err="1"/>
              <a:t>dengan</a:t>
            </a:r>
            <a:r>
              <a:rPr lang="en-ID" dirty="0"/>
              <a:t> </a:t>
            </a:r>
            <a:r>
              <a:rPr lang="en-ID" dirty="0" err="1"/>
              <a:t>baik</a:t>
            </a:r>
            <a:r>
              <a:rPr lang="en-ID" dirty="0"/>
              <a:t>.</a:t>
            </a:r>
          </a:p>
        </p:txBody>
      </p:sp>
      <p:sp>
        <p:nvSpPr>
          <p:cNvPr id="3" name="Title 2">
            <a:extLst>
              <a:ext uri="{FF2B5EF4-FFF2-40B4-BE49-F238E27FC236}">
                <a16:creationId xmlns:a16="http://schemas.microsoft.com/office/drawing/2014/main" id="{B6DDC944-5A1B-5FB1-DED1-6EAEE548BC5B}"/>
              </a:ext>
            </a:extLst>
          </p:cNvPr>
          <p:cNvSpPr>
            <a:spLocks noGrp="1"/>
          </p:cNvSpPr>
          <p:nvPr>
            <p:ph type="title"/>
          </p:nvPr>
        </p:nvSpPr>
        <p:spPr/>
        <p:txBody>
          <a:bodyPr/>
          <a:lstStyle/>
          <a:p>
            <a:r>
              <a:rPr lang="en-US" dirty="0" err="1"/>
              <a:t>Kekurangan</a:t>
            </a:r>
            <a:r>
              <a:rPr lang="en-US" dirty="0"/>
              <a:t> Model Iterative</a:t>
            </a:r>
            <a:endParaRPr lang="en-ID" dirty="0"/>
          </a:p>
        </p:txBody>
      </p:sp>
    </p:spTree>
    <p:extLst>
      <p:ext uri="{BB962C8B-B14F-4D97-AF65-F5344CB8AC3E}">
        <p14:creationId xmlns:p14="http://schemas.microsoft.com/office/powerpoint/2010/main" val="929634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531ED5-2799-E98B-2C88-EEAC142D0A8D}"/>
              </a:ext>
            </a:extLst>
          </p:cNvPr>
          <p:cNvSpPr>
            <a:spLocks noGrp="1"/>
          </p:cNvSpPr>
          <p:nvPr>
            <p:ph idx="1"/>
          </p:nvPr>
        </p:nvSpPr>
        <p:spPr>
          <a:xfrm>
            <a:off x="457200" y="1828800"/>
            <a:ext cx="8229600" cy="4178491"/>
          </a:xfrm>
        </p:spPr>
        <p:txBody>
          <a:bodyPr/>
          <a:lstStyle/>
          <a:p>
            <a:pPr lvl="0"/>
            <a:r>
              <a:rPr lang="en-ID" b="1" dirty="0"/>
              <a:t>RAD:</a:t>
            </a:r>
            <a:r>
              <a:rPr lang="en-ID" dirty="0"/>
              <a:t> Sangat </a:t>
            </a:r>
            <a:r>
              <a:rPr lang="en-ID" dirty="0" err="1"/>
              <a:t>menekankan</a:t>
            </a:r>
            <a:r>
              <a:rPr lang="en-ID" dirty="0"/>
              <a:t> </a:t>
            </a:r>
            <a:r>
              <a:rPr lang="en-ID" b="1" dirty="0" err="1"/>
              <a:t>kecepatan</a:t>
            </a:r>
            <a:r>
              <a:rPr lang="en-ID" b="1" dirty="0"/>
              <a:t> </a:t>
            </a:r>
            <a:r>
              <a:rPr lang="en-ID" b="1" dirty="0" err="1"/>
              <a:t>waktu</a:t>
            </a:r>
            <a:r>
              <a:rPr lang="en-ID" dirty="0"/>
              <a:t> </a:t>
            </a:r>
            <a:r>
              <a:rPr lang="en-ID" dirty="0" err="1"/>
              <a:t>pengerjaan</a:t>
            </a:r>
            <a:r>
              <a:rPr lang="en-ID" dirty="0"/>
              <a:t> (target </a:t>
            </a:r>
            <a:r>
              <a:rPr lang="en-ID" dirty="0" err="1"/>
              <a:t>hari</a:t>
            </a:r>
            <a:r>
              <a:rPr lang="en-ID" dirty="0"/>
              <a:t> </a:t>
            </a:r>
            <a:r>
              <a:rPr lang="en-ID" dirty="0" err="1"/>
              <a:t>ketat</a:t>
            </a:r>
            <a:r>
              <a:rPr lang="en-ID" dirty="0"/>
              <a:t>) </a:t>
            </a:r>
            <a:r>
              <a:rPr lang="en-ID" dirty="0" err="1"/>
              <a:t>dengan</a:t>
            </a:r>
            <a:r>
              <a:rPr lang="en-ID" dirty="0"/>
              <a:t> </a:t>
            </a:r>
            <a:r>
              <a:rPr lang="en-ID" dirty="0" err="1"/>
              <a:t>bantuan</a:t>
            </a:r>
            <a:r>
              <a:rPr lang="en-ID" dirty="0"/>
              <a:t> </a:t>
            </a:r>
            <a:r>
              <a:rPr lang="en-ID" dirty="0" err="1"/>
              <a:t>komponen</a:t>
            </a:r>
            <a:r>
              <a:rPr lang="en-ID" dirty="0"/>
              <a:t> yang </a:t>
            </a:r>
            <a:r>
              <a:rPr lang="en-ID" dirty="0" err="1"/>
              <a:t>bisa</a:t>
            </a:r>
            <a:r>
              <a:rPr lang="en-ID" dirty="0"/>
              <a:t> </a:t>
            </a:r>
            <a:r>
              <a:rPr lang="en-ID" dirty="0" err="1"/>
              <a:t>dipakai</a:t>
            </a:r>
            <a:r>
              <a:rPr lang="en-ID" dirty="0"/>
              <a:t> </a:t>
            </a:r>
            <a:r>
              <a:rPr lang="en-ID" dirty="0" err="1"/>
              <a:t>ulang</a:t>
            </a:r>
            <a:r>
              <a:rPr lang="en-ID" dirty="0"/>
              <a:t>.</a:t>
            </a:r>
          </a:p>
          <a:p>
            <a:pPr marL="109728" lvl="0" indent="0">
              <a:buNone/>
            </a:pPr>
            <a:endParaRPr lang="en-ID" dirty="0"/>
          </a:p>
          <a:p>
            <a:pPr lvl="0"/>
            <a:r>
              <a:rPr lang="en-ID" b="1" dirty="0"/>
              <a:t>Iterative:</a:t>
            </a:r>
            <a:r>
              <a:rPr lang="en-ID" dirty="0"/>
              <a:t> </a:t>
            </a:r>
            <a:r>
              <a:rPr lang="en-ID" dirty="0" err="1"/>
              <a:t>Menekankan</a:t>
            </a:r>
            <a:r>
              <a:rPr lang="en-ID" dirty="0"/>
              <a:t> </a:t>
            </a:r>
            <a:r>
              <a:rPr lang="en-ID" b="1" dirty="0" err="1"/>
              <a:t>perbaikan</a:t>
            </a:r>
            <a:r>
              <a:rPr lang="en-ID" b="1" dirty="0"/>
              <a:t> </a:t>
            </a:r>
            <a:r>
              <a:rPr lang="en-ID" b="1" dirty="0" err="1"/>
              <a:t>kualitas</a:t>
            </a:r>
            <a:r>
              <a:rPr lang="en-ID" b="1" dirty="0"/>
              <a:t> </a:t>
            </a:r>
            <a:r>
              <a:rPr lang="en-ID" b="1" dirty="0" err="1"/>
              <a:t>secara</a:t>
            </a:r>
            <a:r>
              <a:rPr lang="en-ID" b="1" dirty="0"/>
              <a:t> </a:t>
            </a:r>
            <a:r>
              <a:rPr lang="en-ID" b="1" dirty="0" err="1"/>
              <a:t>bertahap</a:t>
            </a:r>
            <a:r>
              <a:rPr lang="en-ID" dirty="0"/>
              <a:t> </a:t>
            </a:r>
            <a:r>
              <a:rPr lang="en-ID" dirty="0" err="1"/>
              <a:t>melalui</a:t>
            </a:r>
            <a:r>
              <a:rPr lang="en-ID" dirty="0"/>
              <a:t> </a:t>
            </a:r>
            <a:r>
              <a:rPr lang="en-ID" dirty="0" err="1"/>
              <a:t>evaluasi</a:t>
            </a:r>
            <a:r>
              <a:rPr lang="en-ID" dirty="0"/>
              <a:t> di </a:t>
            </a:r>
            <a:r>
              <a:rPr lang="en-ID" dirty="0" err="1"/>
              <a:t>setiap</a:t>
            </a:r>
            <a:r>
              <a:rPr lang="en-ID" dirty="0"/>
              <a:t> </a:t>
            </a:r>
            <a:r>
              <a:rPr lang="en-ID" dirty="0" err="1"/>
              <a:t>siklus</a:t>
            </a:r>
            <a:r>
              <a:rPr lang="en-ID" dirty="0"/>
              <a:t> </a:t>
            </a:r>
            <a:r>
              <a:rPr lang="en-ID" dirty="0" err="1"/>
              <a:t>ulang</a:t>
            </a:r>
            <a:r>
              <a:rPr lang="en-ID" dirty="0"/>
              <a:t> </a:t>
            </a:r>
            <a:r>
              <a:rPr lang="en-ID" dirty="0" err="1"/>
              <a:t>tanpa</a:t>
            </a:r>
            <a:r>
              <a:rPr lang="en-ID" dirty="0"/>
              <a:t> </a:t>
            </a:r>
            <a:r>
              <a:rPr lang="en-ID" dirty="0" err="1"/>
              <a:t>batasan</a:t>
            </a:r>
            <a:r>
              <a:rPr lang="en-ID" dirty="0"/>
              <a:t> </a:t>
            </a:r>
            <a:r>
              <a:rPr lang="en-ID" dirty="0" err="1"/>
              <a:t>waktu</a:t>
            </a:r>
            <a:r>
              <a:rPr lang="en-ID" dirty="0"/>
              <a:t> yang </a:t>
            </a:r>
            <a:r>
              <a:rPr lang="en-ID" dirty="0" err="1"/>
              <a:t>seketat</a:t>
            </a:r>
            <a:r>
              <a:rPr lang="en-ID" dirty="0"/>
              <a:t> RAD</a:t>
            </a:r>
          </a:p>
        </p:txBody>
      </p:sp>
      <p:sp>
        <p:nvSpPr>
          <p:cNvPr id="4" name="Title 3">
            <a:extLst>
              <a:ext uri="{FF2B5EF4-FFF2-40B4-BE49-F238E27FC236}">
                <a16:creationId xmlns:a16="http://schemas.microsoft.com/office/drawing/2014/main" id="{63663490-AA2D-D339-EE1E-AF26E449F296}"/>
              </a:ext>
            </a:extLst>
          </p:cNvPr>
          <p:cNvSpPr>
            <a:spLocks noGrp="1"/>
          </p:cNvSpPr>
          <p:nvPr>
            <p:ph type="title"/>
          </p:nvPr>
        </p:nvSpPr>
        <p:spPr/>
        <p:txBody>
          <a:bodyPr>
            <a:normAutofit fontScale="90000"/>
          </a:bodyPr>
          <a:lstStyle/>
          <a:p>
            <a:r>
              <a:rPr lang="en-ID" dirty="0" err="1"/>
              <a:t>Perbedaan</a:t>
            </a:r>
            <a:r>
              <a:rPr lang="en-ID" dirty="0"/>
              <a:t> Utama RAD dan Iterative</a:t>
            </a:r>
          </a:p>
        </p:txBody>
      </p:sp>
    </p:spTree>
    <p:extLst>
      <p:ext uri="{BB962C8B-B14F-4D97-AF65-F5344CB8AC3E}">
        <p14:creationId xmlns:p14="http://schemas.microsoft.com/office/powerpoint/2010/main" val="2292162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C303D6-798D-CA98-E5B0-F5D1CF1A9F37}"/>
              </a:ext>
            </a:extLst>
          </p:cNvPr>
          <p:cNvSpPr>
            <a:spLocks noGrp="1"/>
          </p:cNvSpPr>
          <p:nvPr>
            <p:ph idx="1"/>
          </p:nvPr>
        </p:nvSpPr>
        <p:spPr/>
        <p:txBody>
          <a:bodyPr>
            <a:normAutofit/>
          </a:bodyPr>
          <a:lstStyle/>
          <a:p>
            <a:r>
              <a:rPr lang="en-ID" b="1" dirty="0" err="1"/>
              <a:t>Pengembangan</a:t>
            </a:r>
            <a:r>
              <a:rPr lang="en-ID" b="1" dirty="0"/>
              <a:t> </a:t>
            </a:r>
            <a:r>
              <a:rPr lang="en-ID" b="1" dirty="0" err="1"/>
              <a:t>Aplikasi</a:t>
            </a:r>
            <a:r>
              <a:rPr lang="en-ID" b="1" dirty="0"/>
              <a:t> </a:t>
            </a:r>
            <a:r>
              <a:rPr lang="en-ID" b="1" dirty="0" err="1"/>
              <a:t>Pesan</a:t>
            </a:r>
            <a:r>
              <a:rPr lang="en-ID" b="1" dirty="0"/>
              <a:t> Instan (</a:t>
            </a:r>
            <a:r>
              <a:rPr lang="en-ID" b="1" dirty="0" err="1"/>
              <a:t>Contoh</a:t>
            </a:r>
            <a:r>
              <a:rPr lang="en-ID" b="1" dirty="0"/>
              <a:t>: WhatsApp)</a:t>
            </a:r>
          </a:p>
          <a:p>
            <a:pPr lvl="1"/>
            <a:r>
              <a:rPr lang="en-ID" b="1" dirty="0" err="1"/>
              <a:t>Iterasi</a:t>
            </a:r>
            <a:r>
              <a:rPr lang="en-ID" b="1" dirty="0"/>
              <a:t> 1:</a:t>
            </a:r>
            <a:r>
              <a:rPr lang="en-ID" dirty="0"/>
              <a:t> Tim </a:t>
            </a:r>
            <a:r>
              <a:rPr lang="en-ID" dirty="0" err="1"/>
              <a:t>meluncurkan</a:t>
            </a:r>
            <a:r>
              <a:rPr lang="en-ID" dirty="0"/>
              <a:t> </a:t>
            </a:r>
            <a:r>
              <a:rPr lang="en-ID" dirty="0" err="1"/>
              <a:t>versi</a:t>
            </a:r>
            <a:r>
              <a:rPr lang="en-ID" dirty="0"/>
              <a:t> </a:t>
            </a:r>
            <a:r>
              <a:rPr lang="en-ID" dirty="0" err="1"/>
              <a:t>dasar</a:t>
            </a:r>
            <a:r>
              <a:rPr lang="en-ID" dirty="0"/>
              <a:t> </a:t>
            </a:r>
            <a:r>
              <a:rPr lang="en-ID" dirty="0" err="1"/>
              <a:t>aplikasi</a:t>
            </a:r>
            <a:r>
              <a:rPr lang="en-ID" dirty="0"/>
              <a:t> yang </a:t>
            </a:r>
            <a:r>
              <a:rPr lang="en-ID" dirty="0" err="1"/>
              <a:t>hanya</a:t>
            </a:r>
            <a:r>
              <a:rPr lang="en-ID" dirty="0"/>
              <a:t> </a:t>
            </a:r>
            <a:r>
              <a:rPr lang="en-ID" dirty="0" err="1"/>
              <a:t>bisa</a:t>
            </a:r>
            <a:r>
              <a:rPr lang="en-ID" dirty="0"/>
              <a:t> </a:t>
            </a:r>
            <a:r>
              <a:rPr lang="en-ID" dirty="0" err="1"/>
              <a:t>mengirim</a:t>
            </a:r>
            <a:r>
              <a:rPr lang="en-ID" dirty="0"/>
              <a:t> dan </a:t>
            </a:r>
            <a:r>
              <a:rPr lang="en-ID" dirty="0" err="1"/>
              <a:t>menerima</a:t>
            </a:r>
            <a:r>
              <a:rPr lang="en-ID" dirty="0"/>
              <a:t> </a:t>
            </a:r>
            <a:r>
              <a:rPr lang="en-ID" dirty="0" err="1"/>
              <a:t>pesan</a:t>
            </a:r>
            <a:r>
              <a:rPr lang="en-ID" dirty="0"/>
              <a:t> </a:t>
            </a:r>
            <a:r>
              <a:rPr lang="en-ID" dirty="0" err="1"/>
              <a:t>teks</a:t>
            </a:r>
            <a:r>
              <a:rPr lang="en-ID" dirty="0"/>
              <a:t>.</a:t>
            </a:r>
          </a:p>
          <a:p>
            <a:pPr lvl="1"/>
            <a:r>
              <a:rPr lang="en-ID" b="1" dirty="0" err="1"/>
              <a:t>Iterasi</a:t>
            </a:r>
            <a:r>
              <a:rPr lang="en-ID" b="1" dirty="0"/>
              <a:t> 2:</a:t>
            </a:r>
            <a:r>
              <a:rPr lang="en-ID" dirty="0"/>
              <a:t> </a:t>
            </a:r>
            <a:r>
              <a:rPr lang="en-ID" dirty="0" err="1"/>
              <a:t>Berdasarkan</a:t>
            </a:r>
            <a:r>
              <a:rPr lang="en-ID" dirty="0"/>
              <a:t> </a:t>
            </a:r>
            <a:r>
              <a:rPr lang="en-ID" dirty="0" err="1"/>
              <a:t>masukan</a:t>
            </a:r>
            <a:r>
              <a:rPr lang="en-ID" dirty="0"/>
              <a:t> </a:t>
            </a:r>
            <a:r>
              <a:rPr lang="en-ID" dirty="0" err="1"/>
              <a:t>pengguna</a:t>
            </a:r>
            <a:r>
              <a:rPr lang="en-ID" dirty="0"/>
              <a:t>, </a:t>
            </a:r>
            <a:r>
              <a:rPr lang="en-ID" dirty="0" err="1"/>
              <a:t>tim</a:t>
            </a:r>
            <a:r>
              <a:rPr lang="en-ID" dirty="0"/>
              <a:t> </a:t>
            </a:r>
            <a:r>
              <a:rPr lang="en-ID" dirty="0" err="1"/>
              <a:t>menambahkan</a:t>
            </a:r>
            <a:r>
              <a:rPr lang="en-ID" dirty="0"/>
              <a:t> </a:t>
            </a:r>
            <a:r>
              <a:rPr lang="en-ID" dirty="0" err="1"/>
              <a:t>fitur</a:t>
            </a:r>
            <a:r>
              <a:rPr lang="en-ID" dirty="0"/>
              <a:t> </a:t>
            </a:r>
            <a:r>
              <a:rPr lang="en-ID" dirty="0" err="1"/>
              <a:t>pengiriman</a:t>
            </a:r>
            <a:r>
              <a:rPr lang="en-ID" dirty="0"/>
              <a:t> </a:t>
            </a:r>
            <a:r>
              <a:rPr lang="en-ID" dirty="0" err="1"/>
              <a:t>foto</a:t>
            </a:r>
            <a:r>
              <a:rPr lang="en-ID" dirty="0"/>
              <a:t> dan </a:t>
            </a:r>
            <a:r>
              <a:rPr lang="en-ID" dirty="0" err="1"/>
              <a:t>kontak</a:t>
            </a:r>
            <a:r>
              <a:rPr lang="en-ID" dirty="0"/>
              <a:t>.</a:t>
            </a:r>
          </a:p>
          <a:p>
            <a:pPr lvl="1"/>
            <a:r>
              <a:rPr lang="en-ID" b="1" dirty="0" err="1"/>
              <a:t>Iterasi</a:t>
            </a:r>
            <a:r>
              <a:rPr lang="en-ID" b="1" dirty="0"/>
              <a:t> 3:</a:t>
            </a:r>
            <a:r>
              <a:rPr lang="en-ID" dirty="0"/>
              <a:t> </a:t>
            </a:r>
            <a:r>
              <a:rPr lang="en-ID" dirty="0" err="1"/>
              <a:t>Ditambahkan</a:t>
            </a:r>
            <a:r>
              <a:rPr lang="en-ID" dirty="0"/>
              <a:t> </a:t>
            </a:r>
            <a:r>
              <a:rPr lang="en-ID" dirty="0" err="1"/>
              <a:t>fitur</a:t>
            </a:r>
            <a:r>
              <a:rPr lang="en-ID" dirty="0"/>
              <a:t> </a:t>
            </a:r>
            <a:r>
              <a:rPr lang="en-ID" dirty="0" err="1"/>
              <a:t>pesan</a:t>
            </a:r>
            <a:r>
              <a:rPr lang="en-ID" dirty="0"/>
              <a:t> </a:t>
            </a:r>
            <a:r>
              <a:rPr lang="en-ID" dirty="0" err="1"/>
              <a:t>suara</a:t>
            </a:r>
            <a:r>
              <a:rPr lang="en-ID" dirty="0"/>
              <a:t> (</a:t>
            </a:r>
            <a:r>
              <a:rPr lang="en-ID" i="1" dirty="0"/>
              <a:t>voice note</a:t>
            </a:r>
            <a:r>
              <a:rPr lang="en-ID" dirty="0"/>
              <a:t>), </a:t>
            </a:r>
            <a:r>
              <a:rPr lang="en-ID" dirty="0" err="1"/>
              <a:t>lalu</a:t>
            </a:r>
            <a:r>
              <a:rPr lang="en-ID" dirty="0"/>
              <a:t> </a:t>
            </a:r>
            <a:r>
              <a:rPr lang="en-ID" dirty="0" err="1"/>
              <a:t>dilanjutkan</a:t>
            </a:r>
            <a:r>
              <a:rPr lang="en-ID" dirty="0"/>
              <a:t> </a:t>
            </a:r>
            <a:r>
              <a:rPr lang="en-ID" dirty="0" err="1"/>
              <a:t>dengan</a:t>
            </a:r>
            <a:r>
              <a:rPr lang="en-ID" dirty="0"/>
              <a:t> </a:t>
            </a:r>
            <a:r>
              <a:rPr lang="en-ID" dirty="0" err="1"/>
              <a:t>fitur</a:t>
            </a:r>
            <a:r>
              <a:rPr lang="en-ID" dirty="0"/>
              <a:t> </a:t>
            </a:r>
            <a:r>
              <a:rPr lang="en-ID" dirty="0" err="1"/>
              <a:t>panggilan</a:t>
            </a:r>
            <a:r>
              <a:rPr lang="en-ID" dirty="0"/>
              <a:t> </a:t>
            </a:r>
            <a:r>
              <a:rPr lang="en-ID" dirty="0" err="1"/>
              <a:t>suara</a:t>
            </a:r>
            <a:r>
              <a:rPr lang="en-ID" dirty="0"/>
              <a:t>, </a:t>
            </a:r>
            <a:r>
              <a:rPr lang="en-ID" dirty="0" err="1"/>
              <a:t>panggilan</a:t>
            </a:r>
            <a:r>
              <a:rPr lang="en-ID" dirty="0"/>
              <a:t> video, </a:t>
            </a:r>
            <a:r>
              <a:rPr lang="en-ID" dirty="0" err="1"/>
              <a:t>hingga</a:t>
            </a:r>
            <a:r>
              <a:rPr lang="en-ID" dirty="0"/>
              <a:t> </a:t>
            </a:r>
            <a:r>
              <a:rPr lang="en-ID" dirty="0" err="1"/>
              <a:t>enkripsi</a:t>
            </a:r>
            <a:r>
              <a:rPr lang="en-ID" dirty="0"/>
              <a:t> </a:t>
            </a:r>
            <a:r>
              <a:rPr lang="en-ID" dirty="0" err="1"/>
              <a:t>ujung-ke-ujung</a:t>
            </a:r>
            <a:r>
              <a:rPr lang="en-ID" dirty="0"/>
              <a:t> (</a:t>
            </a:r>
            <a:r>
              <a:rPr lang="en-ID" i="1" dirty="0"/>
              <a:t>end-to-end encryption</a:t>
            </a:r>
            <a:r>
              <a:rPr lang="en-ID" dirty="0"/>
              <a:t>) pada </a:t>
            </a:r>
            <a:r>
              <a:rPr lang="en-ID" dirty="0" err="1"/>
              <a:t>iterasi</a:t>
            </a:r>
            <a:r>
              <a:rPr lang="en-ID" dirty="0"/>
              <a:t> </a:t>
            </a:r>
            <a:r>
              <a:rPr lang="en-ID" dirty="0" err="1"/>
              <a:t>berikutnya</a:t>
            </a:r>
            <a:endParaRPr lang="en-ID" dirty="0"/>
          </a:p>
          <a:p>
            <a:pPr marL="109728" indent="0">
              <a:buNone/>
            </a:pPr>
            <a:endParaRPr lang="en-ID" dirty="0"/>
          </a:p>
        </p:txBody>
      </p:sp>
      <p:sp>
        <p:nvSpPr>
          <p:cNvPr id="4" name="Title 3">
            <a:extLst>
              <a:ext uri="{FF2B5EF4-FFF2-40B4-BE49-F238E27FC236}">
                <a16:creationId xmlns:a16="http://schemas.microsoft.com/office/drawing/2014/main" id="{0F0CA0CC-D60B-8B5D-3030-AF2C2A023FBE}"/>
              </a:ext>
            </a:extLst>
          </p:cNvPr>
          <p:cNvSpPr>
            <a:spLocks noGrp="1"/>
          </p:cNvSpPr>
          <p:nvPr>
            <p:ph type="title"/>
          </p:nvPr>
        </p:nvSpPr>
        <p:spPr/>
        <p:txBody>
          <a:bodyPr>
            <a:normAutofit/>
          </a:bodyPr>
          <a:lstStyle/>
          <a:p>
            <a:r>
              <a:rPr lang="en-ID" sz="3200" dirty="0" err="1">
                <a:solidFill>
                  <a:schemeClr val="tx1"/>
                </a:solidFill>
                <a:effectLst/>
              </a:rPr>
              <a:t>Contoh</a:t>
            </a:r>
            <a:r>
              <a:rPr lang="en-ID" sz="3200" dirty="0">
                <a:solidFill>
                  <a:schemeClr val="tx1"/>
                </a:solidFill>
                <a:effectLst/>
              </a:rPr>
              <a:t> </a:t>
            </a:r>
            <a:r>
              <a:rPr lang="en-ID" sz="3200" dirty="0" err="1">
                <a:solidFill>
                  <a:schemeClr val="tx1"/>
                </a:solidFill>
                <a:effectLst/>
              </a:rPr>
              <a:t>Nyata</a:t>
            </a:r>
            <a:r>
              <a:rPr lang="en-ID" sz="3200" dirty="0">
                <a:solidFill>
                  <a:schemeClr val="tx1"/>
                </a:solidFill>
                <a:effectLst/>
              </a:rPr>
              <a:t> </a:t>
            </a:r>
            <a:r>
              <a:rPr lang="en-ID" sz="3200" dirty="0" err="1">
                <a:solidFill>
                  <a:schemeClr val="tx1"/>
                </a:solidFill>
                <a:effectLst/>
              </a:rPr>
              <a:t>Penerapan</a:t>
            </a:r>
            <a:r>
              <a:rPr lang="en-ID" sz="3200" dirty="0">
                <a:solidFill>
                  <a:schemeClr val="tx1"/>
                </a:solidFill>
                <a:effectLst/>
              </a:rPr>
              <a:t> Model </a:t>
            </a:r>
            <a:r>
              <a:rPr lang="en-ID" sz="3200" dirty="0" err="1">
                <a:solidFill>
                  <a:schemeClr val="tx1"/>
                </a:solidFill>
                <a:effectLst/>
              </a:rPr>
              <a:t>Iteratif</a:t>
            </a:r>
            <a:endParaRPr lang="en-ID" sz="3200" dirty="0">
              <a:solidFill>
                <a:schemeClr val="tx1"/>
              </a:solidFill>
              <a:effectLst/>
            </a:endParaRPr>
          </a:p>
        </p:txBody>
      </p:sp>
    </p:spTree>
    <p:extLst>
      <p:ext uri="{BB962C8B-B14F-4D97-AF65-F5344CB8AC3E}">
        <p14:creationId xmlns:p14="http://schemas.microsoft.com/office/powerpoint/2010/main" val="920321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513EB-E541-44CD-844A-20A4390171C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F70F8D-790F-6722-6252-589A89ECE8DD}"/>
              </a:ext>
            </a:extLst>
          </p:cNvPr>
          <p:cNvSpPr>
            <a:spLocks noGrp="1"/>
          </p:cNvSpPr>
          <p:nvPr>
            <p:ph idx="1"/>
          </p:nvPr>
        </p:nvSpPr>
        <p:spPr/>
        <p:txBody>
          <a:bodyPr>
            <a:normAutofit/>
          </a:bodyPr>
          <a:lstStyle/>
          <a:p>
            <a:r>
              <a:rPr lang="en-ID" b="1" dirty="0" err="1"/>
              <a:t>Pengembangan</a:t>
            </a:r>
            <a:r>
              <a:rPr lang="en-ID" b="1" dirty="0"/>
              <a:t> </a:t>
            </a:r>
            <a:r>
              <a:rPr lang="en-ID" b="1" dirty="0" err="1"/>
              <a:t>Sistem</a:t>
            </a:r>
            <a:r>
              <a:rPr lang="en-ID" b="1" dirty="0"/>
              <a:t> </a:t>
            </a:r>
            <a:r>
              <a:rPr lang="en-ID" b="1" dirty="0" err="1"/>
              <a:t>Pemesanan</a:t>
            </a:r>
            <a:r>
              <a:rPr lang="en-ID" b="1" dirty="0"/>
              <a:t> Hotel Online</a:t>
            </a:r>
          </a:p>
          <a:p>
            <a:pPr lvl="1"/>
            <a:r>
              <a:rPr lang="en-ID" b="1" dirty="0" err="1"/>
              <a:t>Iterasi</a:t>
            </a:r>
            <a:r>
              <a:rPr lang="en-ID" b="1" dirty="0"/>
              <a:t> 1:</a:t>
            </a:r>
            <a:r>
              <a:rPr lang="en-ID" dirty="0"/>
              <a:t> </a:t>
            </a:r>
            <a:r>
              <a:rPr lang="en-ID" dirty="0" err="1"/>
              <a:t>Membuat</a:t>
            </a:r>
            <a:r>
              <a:rPr lang="en-ID" dirty="0"/>
              <a:t> </a:t>
            </a:r>
            <a:r>
              <a:rPr lang="en-ID" dirty="0" err="1"/>
              <a:t>kerangka</a:t>
            </a:r>
            <a:r>
              <a:rPr lang="en-ID" dirty="0"/>
              <a:t> </a:t>
            </a:r>
            <a:r>
              <a:rPr lang="en-ID" dirty="0" err="1"/>
              <a:t>dasar</a:t>
            </a:r>
            <a:r>
              <a:rPr lang="en-ID" dirty="0"/>
              <a:t> situs web di mana </a:t>
            </a:r>
            <a:r>
              <a:rPr lang="en-ID" dirty="0" err="1"/>
              <a:t>pelanggan</a:t>
            </a:r>
            <a:r>
              <a:rPr lang="en-ID" dirty="0"/>
              <a:t> </a:t>
            </a:r>
            <a:r>
              <a:rPr lang="en-ID" dirty="0" err="1"/>
              <a:t>bisa</a:t>
            </a:r>
            <a:r>
              <a:rPr lang="en-ID" dirty="0"/>
              <a:t> </a:t>
            </a:r>
            <a:r>
              <a:rPr lang="en-ID" dirty="0" err="1"/>
              <a:t>melihat</a:t>
            </a:r>
            <a:r>
              <a:rPr lang="en-ID" dirty="0"/>
              <a:t> daftar </a:t>
            </a:r>
            <a:r>
              <a:rPr lang="en-ID" dirty="0" err="1"/>
              <a:t>kamar</a:t>
            </a:r>
            <a:r>
              <a:rPr lang="en-ID" dirty="0"/>
              <a:t> dan </a:t>
            </a:r>
            <a:r>
              <a:rPr lang="en-ID" dirty="0" err="1"/>
              <a:t>tanggal</a:t>
            </a:r>
            <a:r>
              <a:rPr lang="en-ID" dirty="0"/>
              <a:t> </a:t>
            </a:r>
            <a:r>
              <a:rPr lang="en-ID" dirty="0" err="1"/>
              <a:t>kosong</a:t>
            </a:r>
            <a:r>
              <a:rPr lang="en-ID" dirty="0"/>
              <a:t>.</a:t>
            </a:r>
          </a:p>
          <a:p>
            <a:pPr lvl="1"/>
            <a:r>
              <a:rPr lang="en-ID" b="1" dirty="0" err="1"/>
              <a:t>Iterasi</a:t>
            </a:r>
            <a:r>
              <a:rPr lang="en-ID" b="1" dirty="0"/>
              <a:t> 2:</a:t>
            </a:r>
            <a:r>
              <a:rPr lang="en-ID" dirty="0"/>
              <a:t> </a:t>
            </a:r>
            <a:r>
              <a:rPr lang="en-ID" dirty="0" err="1"/>
              <a:t>Menambahkan</a:t>
            </a:r>
            <a:r>
              <a:rPr lang="en-ID" dirty="0"/>
              <a:t> </a:t>
            </a:r>
            <a:r>
              <a:rPr lang="en-ID" dirty="0" err="1"/>
              <a:t>sistem</a:t>
            </a:r>
            <a:r>
              <a:rPr lang="en-ID" dirty="0"/>
              <a:t> </a:t>
            </a:r>
            <a:r>
              <a:rPr lang="en-ID" dirty="0" err="1"/>
              <a:t>pembayaran</a:t>
            </a:r>
            <a:r>
              <a:rPr lang="en-ID" dirty="0"/>
              <a:t> </a:t>
            </a:r>
            <a:r>
              <a:rPr lang="en-ID" dirty="0" err="1"/>
              <a:t>dasar</a:t>
            </a:r>
            <a:r>
              <a:rPr lang="en-ID" dirty="0"/>
              <a:t> (transfer bank manual) dan </a:t>
            </a:r>
            <a:r>
              <a:rPr lang="en-ID" dirty="0" err="1"/>
              <a:t>tombol</a:t>
            </a:r>
            <a:r>
              <a:rPr lang="en-ID" dirty="0"/>
              <a:t> </a:t>
            </a:r>
            <a:r>
              <a:rPr lang="en-ID" dirty="0" err="1"/>
              <a:t>konfirmasi</a:t>
            </a:r>
            <a:r>
              <a:rPr lang="en-ID" dirty="0"/>
              <a:t> </a:t>
            </a:r>
            <a:r>
              <a:rPr lang="en-ID" dirty="0" err="1"/>
              <a:t>pesanan</a:t>
            </a:r>
            <a:r>
              <a:rPr lang="en-ID" dirty="0"/>
              <a:t>.</a:t>
            </a:r>
          </a:p>
          <a:p>
            <a:pPr lvl="1"/>
            <a:r>
              <a:rPr lang="en-ID" b="1" dirty="0" err="1"/>
              <a:t>Iterasi</a:t>
            </a:r>
            <a:r>
              <a:rPr lang="en-ID" b="1" dirty="0"/>
              <a:t> 3:</a:t>
            </a:r>
            <a:r>
              <a:rPr lang="en-ID" dirty="0"/>
              <a:t> </a:t>
            </a:r>
            <a:r>
              <a:rPr lang="en-ID" dirty="0" err="1"/>
              <a:t>Menyempurnakan</a:t>
            </a:r>
            <a:r>
              <a:rPr lang="en-ID" dirty="0"/>
              <a:t> </a:t>
            </a:r>
            <a:r>
              <a:rPr lang="en-ID" dirty="0" err="1"/>
              <a:t>sistem</a:t>
            </a:r>
            <a:r>
              <a:rPr lang="en-ID" dirty="0"/>
              <a:t> </a:t>
            </a:r>
            <a:r>
              <a:rPr lang="en-ID" dirty="0" err="1"/>
              <a:t>denganintegrasi</a:t>
            </a:r>
            <a:r>
              <a:rPr lang="en-ID" dirty="0"/>
              <a:t> </a:t>
            </a:r>
            <a:r>
              <a:rPr lang="en-ID" dirty="0" err="1"/>
              <a:t>pembayaran</a:t>
            </a:r>
            <a:r>
              <a:rPr lang="en-ID" dirty="0"/>
              <a:t> </a:t>
            </a:r>
            <a:r>
              <a:rPr lang="en-ID" dirty="0" err="1"/>
              <a:t>otomatis</a:t>
            </a:r>
            <a:r>
              <a:rPr lang="en-ID" dirty="0"/>
              <a:t> (</a:t>
            </a:r>
            <a:r>
              <a:rPr lang="en-ID" dirty="0" err="1"/>
              <a:t>kartu</a:t>
            </a:r>
            <a:r>
              <a:rPr lang="en-ID" dirty="0"/>
              <a:t> </a:t>
            </a:r>
            <a:r>
              <a:rPr lang="en-ID" dirty="0" err="1"/>
              <a:t>kredit</a:t>
            </a:r>
            <a:r>
              <a:rPr lang="en-ID" dirty="0"/>
              <a:t>/e-wallet), </a:t>
            </a:r>
            <a:r>
              <a:rPr lang="en-ID" dirty="0" err="1"/>
              <a:t>fitur</a:t>
            </a:r>
            <a:r>
              <a:rPr lang="en-ID" dirty="0"/>
              <a:t> </a:t>
            </a:r>
            <a:r>
              <a:rPr lang="en-ID" dirty="0" err="1"/>
              <a:t>pembatalan</a:t>
            </a:r>
            <a:r>
              <a:rPr lang="en-ID" dirty="0"/>
              <a:t>, dan </a:t>
            </a:r>
            <a:r>
              <a:rPr lang="en-ID" dirty="0" err="1"/>
              <a:t>sistem</a:t>
            </a:r>
            <a:r>
              <a:rPr lang="en-ID" dirty="0"/>
              <a:t> </a:t>
            </a:r>
            <a:r>
              <a:rPr lang="en-ID" i="1" dirty="0"/>
              <a:t>review</a:t>
            </a:r>
            <a:r>
              <a:rPr lang="en-ID" dirty="0"/>
              <a:t> </a:t>
            </a:r>
            <a:r>
              <a:rPr lang="en-ID" dirty="0" err="1"/>
              <a:t>pengguna</a:t>
            </a:r>
            <a:endParaRPr lang="en-ID" dirty="0"/>
          </a:p>
          <a:p>
            <a:pPr marL="109728" indent="0">
              <a:buNone/>
            </a:pPr>
            <a:endParaRPr lang="en-ID" dirty="0"/>
          </a:p>
        </p:txBody>
      </p:sp>
      <p:sp>
        <p:nvSpPr>
          <p:cNvPr id="4" name="Title 3">
            <a:extLst>
              <a:ext uri="{FF2B5EF4-FFF2-40B4-BE49-F238E27FC236}">
                <a16:creationId xmlns:a16="http://schemas.microsoft.com/office/drawing/2014/main" id="{319E9F63-251F-7860-A012-EE8FB5762410}"/>
              </a:ext>
            </a:extLst>
          </p:cNvPr>
          <p:cNvSpPr>
            <a:spLocks noGrp="1"/>
          </p:cNvSpPr>
          <p:nvPr>
            <p:ph type="title"/>
          </p:nvPr>
        </p:nvSpPr>
        <p:spPr/>
        <p:txBody>
          <a:bodyPr>
            <a:normAutofit/>
          </a:bodyPr>
          <a:lstStyle/>
          <a:p>
            <a:r>
              <a:rPr lang="en-ID" sz="3200" dirty="0" err="1">
                <a:solidFill>
                  <a:schemeClr val="tx1"/>
                </a:solidFill>
                <a:effectLst/>
              </a:rPr>
              <a:t>Contoh</a:t>
            </a:r>
            <a:r>
              <a:rPr lang="en-ID" sz="3200" dirty="0">
                <a:solidFill>
                  <a:schemeClr val="tx1"/>
                </a:solidFill>
                <a:effectLst/>
              </a:rPr>
              <a:t> </a:t>
            </a:r>
            <a:r>
              <a:rPr lang="en-ID" sz="3200" dirty="0" err="1">
                <a:solidFill>
                  <a:schemeClr val="tx1"/>
                </a:solidFill>
                <a:effectLst/>
              </a:rPr>
              <a:t>Nyata</a:t>
            </a:r>
            <a:r>
              <a:rPr lang="en-ID" sz="3200" dirty="0">
                <a:solidFill>
                  <a:schemeClr val="tx1"/>
                </a:solidFill>
                <a:effectLst/>
              </a:rPr>
              <a:t> </a:t>
            </a:r>
            <a:r>
              <a:rPr lang="en-ID" sz="3200" dirty="0" err="1">
                <a:solidFill>
                  <a:schemeClr val="tx1"/>
                </a:solidFill>
                <a:effectLst/>
              </a:rPr>
              <a:t>Penerapan</a:t>
            </a:r>
            <a:r>
              <a:rPr lang="en-ID" sz="3200" dirty="0">
                <a:solidFill>
                  <a:schemeClr val="tx1"/>
                </a:solidFill>
                <a:effectLst/>
              </a:rPr>
              <a:t> Model </a:t>
            </a:r>
            <a:r>
              <a:rPr lang="en-ID" sz="3200" dirty="0" err="1">
                <a:solidFill>
                  <a:schemeClr val="tx1"/>
                </a:solidFill>
                <a:effectLst/>
              </a:rPr>
              <a:t>Iteratif</a:t>
            </a:r>
            <a:endParaRPr lang="en-ID" sz="3200" dirty="0">
              <a:solidFill>
                <a:schemeClr val="tx1"/>
              </a:solidFill>
              <a:effectLst/>
            </a:endParaRPr>
          </a:p>
        </p:txBody>
      </p:sp>
    </p:spTree>
    <p:extLst>
      <p:ext uri="{BB962C8B-B14F-4D97-AF65-F5344CB8AC3E}">
        <p14:creationId xmlns:p14="http://schemas.microsoft.com/office/powerpoint/2010/main" val="3126034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5CB2F-8971-B0C3-3484-E4AF4BA76C7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C67B97-514E-57A9-B4F2-1E0914E28944}"/>
              </a:ext>
            </a:extLst>
          </p:cNvPr>
          <p:cNvSpPr>
            <a:spLocks noGrp="1"/>
          </p:cNvSpPr>
          <p:nvPr>
            <p:ph idx="1"/>
          </p:nvPr>
        </p:nvSpPr>
        <p:spPr/>
        <p:txBody>
          <a:bodyPr>
            <a:normAutofit/>
          </a:bodyPr>
          <a:lstStyle/>
          <a:p>
            <a:r>
              <a:rPr lang="en-ID" b="1" dirty="0"/>
              <a:t>Desain </a:t>
            </a:r>
            <a:r>
              <a:rPr lang="en-ID" b="1" dirty="0" err="1"/>
              <a:t>Antarmuka</a:t>
            </a:r>
            <a:r>
              <a:rPr lang="en-ID" b="1" dirty="0"/>
              <a:t> </a:t>
            </a:r>
            <a:r>
              <a:rPr lang="en-ID" b="1" dirty="0" err="1"/>
              <a:t>Pengguna</a:t>
            </a:r>
            <a:r>
              <a:rPr lang="en-ID" b="1" dirty="0"/>
              <a:t> (UI/UX)</a:t>
            </a:r>
          </a:p>
          <a:p>
            <a:pPr lvl="1"/>
            <a:r>
              <a:rPr lang="en-ID" b="1" dirty="0" err="1"/>
              <a:t>Iterasi</a:t>
            </a:r>
            <a:r>
              <a:rPr lang="en-ID" b="1" dirty="0"/>
              <a:t> 1:</a:t>
            </a:r>
            <a:r>
              <a:rPr lang="en-ID" dirty="0"/>
              <a:t> </a:t>
            </a:r>
            <a:r>
              <a:rPr lang="en-ID" dirty="0" err="1"/>
              <a:t>Desainer</a:t>
            </a:r>
            <a:r>
              <a:rPr lang="en-ID" dirty="0"/>
              <a:t> </a:t>
            </a:r>
            <a:r>
              <a:rPr lang="en-ID" dirty="0" err="1"/>
              <a:t>membuat</a:t>
            </a:r>
            <a:r>
              <a:rPr lang="en-ID" dirty="0"/>
              <a:t> </a:t>
            </a:r>
            <a:r>
              <a:rPr lang="en-ID" dirty="0" err="1"/>
              <a:t>sketsa</a:t>
            </a:r>
            <a:r>
              <a:rPr lang="en-ID" dirty="0"/>
              <a:t> </a:t>
            </a:r>
            <a:r>
              <a:rPr lang="en-ID" dirty="0" err="1"/>
              <a:t>kasar</a:t>
            </a:r>
            <a:r>
              <a:rPr lang="en-ID" dirty="0"/>
              <a:t> (</a:t>
            </a:r>
            <a:r>
              <a:rPr lang="en-ID" i="1" dirty="0"/>
              <a:t>wireframe</a:t>
            </a:r>
            <a:r>
              <a:rPr lang="en-ID" dirty="0"/>
              <a:t>) di </a:t>
            </a:r>
            <a:r>
              <a:rPr lang="en-ID" dirty="0" err="1"/>
              <a:t>atas</a:t>
            </a:r>
            <a:r>
              <a:rPr lang="en-ID" dirty="0"/>
              <a:t> </a:t>
            </a:r>
            <a:r>
              <a:rPr lang="en-ID" dirty="0" err="1"/>
              <a:t>kertas</a:t>
            </a:r>
            <a:r>
              <a:rPr lang="en-ID" dirty="0"/>
              <a:t> </a:t>
            </a:r>
            <a:r>
              <a:rPr lang="en-ID" dirty="0" err="1"/>
              <a:t>untuk</a:t>
            </a:r>
            <a:r>
              <a:rPr lang="en-ID" dirty="0"/>
              <a:t> </a:t>
            </a:r>
            <a:r>
              <a:rPr lang="en-ID" dirty="0" err="1"/>
              <a:t>menentukan</a:t>
            </a:r>
            <a:r>
              <a:rPr lang="en-ID" dirty="0"/>
              <a:t> tata </a:t>
            </a:r>
            <a:r>
              <a:rPr lang="en-ID" dirty="0" err="1"/>
              <a:t>letak</a:t>
            </a:r>
            <a:r>
              <a:rPr lang="en-ID" dirty="0"/>
              <a:t> </a:t>
            </a:r>
            <a:r>
              <a:rPr lang="en-ID" dirty="0" err="1"/>
              <a:t>tombol</a:t>
            </a:r>
            <a:r>
              <a:rPr lang="en-ID" dirty="0"/>
              <a:t> </a:t>
            </a:r>
            <a:r>
              <a:rPr lang="en-ID" dirty="0" err="1"/>
              <a:t>utama</a:t>
            </a:r>
            <a:r>
              <a:rPr lang="en-ID" dirty="0"/>
              <a:t>.</a:t>
            </a:r>
          </a:p>
          <a:p>
            <a:pPr lvl="1"/>
            <a:r>
              <a:rPr lang="en-ID" b="1" dirty="0" err="1"/>
              <a:t>Iterasi</a:t>
            </a:r>
            <a:r>
              <a:rPr lang="en-ID" b="1" dirty="0"/>
              <a:t> 2:</a:t>
            </a:r>
            <a:r>
              <a:rPr lang="en-ID" dirty="0"/>
              <a:t> </a:t>
            </a:r>
            <a:r>
              <a:rPr lang="en-ID" dirty="0" err="1"/>
              <a:t>Membuat</a:t>
            </a:r>
            <a:r>
              <a:rPr lang="en-ID" dirty="0"/>
              <a:t> </a:t>
            </a:r>
            <a:r>
              <a:rPr lang="en-ID" dirty="0" err="1"/>
              <a:t>purwarupa</a:t>
            </a:r>
            <a:r>
              <a:rPr lang="en-ID" dirty="0"/>
              <a:t> (</a:t>
            </a:r>
            <a:r>
              <a:rPr lang="en-ID" i="1" dirty="0"/>
              <a:t>prototype</a:t>
            </a:r>
            <a:r>
              <a:rPr lang="en-ID" dirty="0"/>
              <a:t>) digital </a:t>
            </a:r>
            <a:r>
              <a:rPr lang="en-ID" dirty="0" err="1"/>
              <a:t>interaktif</a:t>
            </a:r>
            <a:r>
              <a:rPr lang="en-ID" dirty="0"/>
              <a:t> dan </a:t>
            </a:r>
            <a:r>
              <a:rPr lang="en-ID" dirty="0" err="1"/>
              <a:t>melakukan</a:t>
            </a:r>
            <a:r>
              <a:rPr lang="en-ID" dirty="0"/>
              <a:t> </a:t>
            </a:r>
            <a:r>
              <a:rPr lang="en-ID" dirty="0" err="1"/>
              <a:t>pengujian</a:t>
            </a:r>
            <a:r>
              <a:rPr lang="en-ID" dirty="0"/>
              <a:t> </a:t>
            </a:r>
            <a:r>
              <a:rPr lang="en-ID" dirty="0" err="1"/>
              <a:t>kepada</a:t>
            </a:r>
            <a:r>
              <a:rPr lang="en-ID" dirty="0"/>
              <a:t> </a:t>
            </a:r>
            <a:r>
              <a:rPr lang="en-ID" dirty="0" err="1"/>
              <a:t>pengguna</a:t>
            </a:r>
            <a:r>
              <a:rPr lang="en-ID" dirty="0"/>
              <a:t> </a:t>
            </a:r>
            <a:r>
              <a:rPr lang="en-ID" dirty="0" err="1"/>
              <a:t>awal</a:t>
            </a:r>
            <a:r>
              <a:rPr lang="en-ID" dirty="0"/>
              <a:t>.</a:t>
            </a:r>
          </a:p>
          <a:p>
            <a:pPr lvl="1"/>
            <a:r>
              <a:rPr lang="en-ID" b="1" dirty="0" err="1"/>
              <a:t>Iterasi</a:t>
            </a:r>
            <a:r>
              <a:rPr lang="en-ID" b="1" dirty="0"/>
              <a:t> 3:</a:t>
            </a:r>
            <a:r>
              <a:rPr lang="en-ID" dirty="0"/>
              <a:t> </a:t>
            </a:r>
            <a:r>
              <a:rPr lang="en-ID" dirty="0" err="1"/>
              <a:t>Memperbaiki</a:t>
            </a:r>
            <a:r>
              <a:rPr lang="en-ID" dirty="0"/>
              <a:t> </a:t>
            </a:r>
            <a:r>
              <a:rPr lang="en-ID" dirty="0" err="1"/>
              <a:t>letak</a:t>
            </a:r>
            <a:r>
              <a:rPr lang="en-ID" dirty="0"/>
              <a:t> </a:t>
            </a:r>
            <a:r>
              <a:rPr lang="en-ID" dirty="0" err="1"/>
              <a:t>tombol</a:t>
            </a:r>
            <a:r>
              <a:rPr lang="en-ID" dirty="0"/>
              <a:t> yang </a:t>
            </a:r>
            <a:r>
              <a:rPr lang="en-ID" dirty="0" err="1"/>
              <a:t>dianggap</a:t>
            </a:r>
            <a:r>
              <a:rPr lang="en-ID" dirty="0"/>
              <a:t> </a:t>
            </a:r>
            <a:r>
              <a:rPr lang="en-ID" dirty="0" err="1"/>
              <a:t>membingungkan</a:t>
            </a:r>
            <a:r>
              <a:rPr lang="en-ID" dirty="0"/>
              <a:t> oleh </a:t>
            </a:r>
            <a:r>
              <a:rPr lang="en-ID" dirty="0" err="1"/>
              <a:t>pengguna</a:t>
            </a:r>
            <a:r>
              <a:rPr lang="en-ID" dirty="0"/>
              <a:t> </a:t>
            </a:r>
            <a:r>
              <a:rPr lang="en-ID" dirty="0" err="1"/>
              <a:t>berdasarkan</a:t>
            </a:r>
            <a:r>
              <a:rPr lang="en-ID" dirty="0"/>
              <a:t> </a:t>
            </a:r>
            <a:r>
              <a:rPr lang="en-ID" dirty="0" err="1"/>
              <a:t>hasil</a:t>
            </a:r>
            <a:r>
              <a:rPr lang="en-ID" dirty="0"/>
              <a:t> </a:t>
            </a:r>
            <a:r>
              <a:rPr lang="en-ID" dirty="0" err="1"/>
              <a:t>evaluasi</a:t>
            </a:r>
            <a:r>
              <a:rPr lang="en-ID" dirty="0"/>
              <a:t> di </a:t>
            </a:r>
            <a:r>
              <a:rPr lang="en-ID" dirty="0" err="1"/>
              <a:t>iterasi</a:t>
            </a:r>
            <a:r>
              <a:rPr lang="en-ID" dirty="0"/>
              <a:t> </a:t>
            </a:r>
            <a:r>
              <a:rPr lang="en-ID" dirty="0" err="1"/>
              <a:t>kedua</a:t>
            </a:r>
            <a:endParaRPr lang="en-ID" dirty="0"/>
          </a:p>
          <a:p>
            <a:endParaRPr lang="en-ID" dirty="0"/>
          </a:p>
          <a:p>
            <a:pPr marL="109728" indent="0">
              <a:buNone/>
            </a:pPr>
            <a:endParaRPr lang="en-ID" dirty="0"/>
          </a:p>
        </p:txBody>
      </p:sp>
      <p:sp>
        <p:nvSpPr>
          <p:cNvPr id="4" name="Title 3">
            <a:extLst>
              <a:ext uri="{FF2B5EF4-FFF2-40B4-BE49-F238E27FC236}">
                <a16:creationId xmlns:a16="http://schemas.microsoft.com/office/drawing/2014/main" id="{62BC8CDA-D1D1-B536-EAAA-29D8FD51B8D2}"/>
              </a:ext>
            </a:extLst>
          </p:cNvPr>
          <p:cNvSpPr>
            <a:spLocks noGrp="1"/>
          </p:cNvSpPr>
          <p:nvPr>
            <p:ph type="title"/>
          </p:nvPr>
        </p:nvSpPr>
        <p:spPr/>
        <p:txBody>
          <a:bodyPr>
            <a:normAutofit/>
          </a:bodyPr>
          <a:lstStyle/>
          <a:p>
            <a:r>
              <a:rPr lang="en-ID" sz="3200" dirty="0" err="1">
                <a:solidFill>
                  <a:schemeClr val="tx1"/>
                </a:solidFill>
                <a:effectLst/>
              </a:rPr>
              <a:t>Contoh</a:t>
            </a:r>
            <a:r>
              <a:rPr lang="en-ID" sz="3200" dirty="0">
                <a:solidFill>
                  <a:schemeClr val="tx1"/>
                </a:solidFill>
                <a:effectLst/>
              </a:rPr>
              <a:t> </a:t>
            </a:r>
            <a:r>
              <a:rPr lang="en-ID" sz="3200" dirty="0" err="1">
                <a:solidFill>
                  <a:schemeClr val="tx1"/>
                </a:solidFill>
                <a:effectLst/>
              </a:rPr>
              <a:t>Nyata</a:t>
            </a:r>
            <a:r>
              <a:rPr lang="en-ID" sz="3200" dirty="0">
                <a:solidFill>
                  <a:schemeClr val="tx1"/>
                </a:solidFill>
                <a:effectLst/>
              </a:rPr>
              <a:t> </a:t>
            </a:r>
            <a:r>
              <a:rPr lang="en-ID" sz="3200" dirty="0" err="1">
                <a:solidFill>
                  <a:schemeClr val="tx1"/>
                </a:solidFill>
                <a:effectLst/>
              </a:rPr>
              <a:t>Penerapan</a:t>
            </a:r>
            <a:r>
              <a:rPr lang="en-ID" sz="3200" dirty="0">
                <a:solidFill>
                  <a:schemeClr val="tx1"/>
                </a:solidFill>
                <a:effectLst/>
              </a:rPr>
              <a:t> Model </a:t>
            </a:r>
            <a:r>
              <a:rPr lang="en-ID" sz="3200" dirty="0" err="1">
                <a:solidFill>
                  <a:schemeClr val="tx1"/>
                </a:solidFill>
                <a:effectLst/>
              </a:rPr>
              <a:t>Iteratif</a:t>
            </a:r>
            <a:endParaRPr lang="en-ID" sz="3200" dirty="0">
              <a:solidFill>
                <a:schemeClr val="tx1"/>
              </a:solidFill>
              <a:effectLst/>
            </a:endParaRPr>
          </a:p>
        </p:txBody>
      </p:sp>
    </p:spTree>
    <p:extLst>
      <p:ext uri="{BB962C8B-B14F-4D97-AF65-F5344CB8AC3E}">
        <p14:creationId xmlns:p14="http://schemas.microsoft.com/office/powerpoint/2010/main" val="3311603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C4217E-7E5D-528A-2C6D-11D5E5130B67}"/>
              </a:ext>
            </a:extLst>
          </p:cNvPr>
          <p:cNvSpPr>
            <a:spLocks noGrp="1"/>
          </p:cNvSpPr>
          <p:nvPr>
            <p:ph type="title"/>
          </p:nvPr>
        </p:nvSpPr>
        <p:spPr/>
        <p:txBody>
          <a:bodyPr>
            <a:normAutofit fontScale="90000"/>
          </a:bodyPr>
          <a:lstStyle/>
          <a:p>
            <a:r>
              <a:rPr lang="en-ID" dirty="0" err="1"/>
              <a:t>Perbandingan</a:t>
            </a:r>
            <a:r>
              <a:rPr lang="en-ID" dirty="0"/>
              <a:t>: </a:t>
            </a:r>
            <a:r>
              <a:rPr lang="en-ID" dirty="0" err="1"/>
              <a:t>Iteratif</a:t>
            </a:r>
            <a:r>
              <a:rPr lang="en-ID" dirty="0"/>
              <a:t> vs </a:t>
            </a:r>
            <a:r>
              <a:rPr lang="en-ID" dirty="0" err="1"/>
              <a:t>Tradisional</a:t>
            </a:r>
            <a:r>
              <a:rPr lang="en-ID" dirty="0"/>
              <a:t> (Waterfall)</a:t>
            </a:r>
          </a:p>
        </p:txBody>
      </p:sp>
      <p:pic>
        <p:nvPicPr>
          <p:cNvPr id="7" name="Picture 6">
            <a:extLst>
              <a:ext uri="{FF2B5EF4-FFF2-40B4-BE49-F238E27FC236}">
                <a16:creationId xmlns:a16="http://schemas.microsoft.com/office/drawing/2014/main" id="{CCBC9831-F1B5-71A0-B4B2-374519AEB77D}"/>
              </a:ext>
            </a:extLst>
          </p:cNvPr>
          <p:cNvPicPr>
            <a:picLocks noChangeAspect="1"/>
          </p:cNvPicPr>
          <p:nvPr/>
        </p:nvPicPr>
        <p:blipFill>
          <a:blip r:embed="rId3"/>
          <a:stretch>
            <a:fillRect/>
          </a:stretch>
        </p:blipFill>
        <p:spPr>
          <a:xfrm>
            <a:off x="609600" y="1676400"/>
            <a:ext cx="7924800" cy="4190182"/>
          </a:xfrm>
          <a:prstGeom prst="rect">
            <a:avLst/>
          </a:prstGeom>
        </p:spPr>
      </p:pic>
    </p:spTree>
    <p:extLst>
      <p:ext uri="{BB962C8B-B14F-4D97-AF65-F5344CB8AC3E}">
        <p14:creationId xmlns:p14="http://schemas.microsoft.com/office/powerpoint/2010/main" val="22391240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819400"/>
            <a:ext cx="8243887" cy="1314450"/>
          </a:xfrm>
        </p:spPr>
        <p:txBody>
          <a:bodyPr>
            <a:normAutofit/>
          </a:bodyPr>
          <a:lstStyle/>
          <a:p>
            <a:pPr algn="ctr"/>
            <a:r>
              <a:rPr lang="en-US" sz="5400">
                <a:solidFill>
                  <a:schemeClr val="tx1"/>
                </a:solidFill>
                <a:effectLst/>
              </a:rPr>
              <a:t>Terimakasih</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577</TotalTime>
  <Words>1417</Words>
  <Application>Microsoft Office PowerPoint</Application>
  <PresentationFormat>On-screen Show (4:3)</PresentationFormat>
  <Paragraphs>97</Paragraphs>
  <Slides>24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Lucida Sans Unicode</vt:lpstr>
      <vt:lpstr>Verdana</vt:lpstr>
      <vt:lpstr>Wingdings 2</vt:lpstr>
      <vt:lpstr>Wingdings 3</vt:lpstr>
      <vt:lpstr>Concourse</vt:lpstr>
      <vt:lpstr>Model SDLC Spiral, RAD, dan Iterative</vt:lpstr>
      <vt:lpstr>Model Spiral</vt:lpstr>
      <vt:lpstr>Tahapan Utama Model Spiral</vt:lpstr>
      <vt:lpstr>Kelebihan Model Spiral</vt:lpstr>
      <vt:lpstr>Kekurangan Model Spiral</vt:lpstr>
      <vt:lpstr>Contoh Proyek Penggunaan Model Spiral</vt:lpstr>
      <vt:lpstr>Model RAD (Rapid Application Development)</vt:lpstr>
      <vt:lpstr>Model RAD</vt:lpstr>
      <vt:lpstr>Tahapan utama RAD</vt:lpstr>
      <vt:lpstr>Tahapan utama RAD</vt:lpstr>
      <vt:lpstr>Kelebihan dan Kekurangan RAD</vt:lpstr>
      <vt:lpstr>Contoh Kasus Nyata Penggunaan RAD</vt:lpstr>
      <vt:lpstr>Alasan Kasus di Atas Cocok Menggunakan RAD</vt:lpstr>
      <vt:lpstr>Model Iterative</vt:lpstr>
      <vt:lpstr>Cara Kerja Model Iteratif</vt:lpstr>
      <vt:lpstr>Tahapan dalam Setiap Iterasi</vt:lpstr>
      <vt:lpstr>Kelebihan Model Iterative</vt:lpstr>
      <vt:lpstr>Kekurangan Model Iterative</vt:lpstr>
      <vt:lpstr>Perbedaan Utama RAD dan Iterative</vt:lpstr>
      <vt:lpstr>Contoh Nyata Penerapan Model Iteratif</vt:lpstr>
      <vt:lpstr>Contoh Nyata Penerapan Model Iteratif</vt:lpstr>
      <vt:lpstr>Contoh Nyata Penerapan Model Iteratif</vt:lpstr>
      <vt:lpstr>Perbandingan: Iteratif vs Tradisional (Waterfall)</vt:lpstr>
      <vt:lpstr>Terimakasih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Proses (Paradigma Rekayasa Perangkat Lunak)</dc:title>
  <dc:creator>kertiasih</dc:creator>
  <cp:lastModifiedBy>girihardana@gmail.com</cp:lastModifiedBy>
  <cp:revision>61</cp:revision>
  <dcterms:created xsi:type="dcterms:W3CDTF">2009-01-28T03:26:54Z</dcterms:created>
  <dcterms:modified xsi:type="dcterms:W3CDTF">2026-10-21T06:22:53Z</dcterms:modified>
</cp:coreProperties>
</file>