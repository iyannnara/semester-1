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8"/>
  </p:notesMasterIdLst>
  <p:sldIdLst>
    <p:sldId id="256" r:id="rId2"/>
    <p:sldId id="299" r:id="rId3"/>
    <p:sldId id="287" r:id="rId4"/>
    <p:sldId id="297" r:id="rId5"/>
    <p:sldId id="298" r:id="rId6"/>
    <p:sldId id="269" r:id="rId7"/>
    <p:sldId id="270" r:id="rId8"/>
    <p:sldId id="266" r:id="rId9"/>
    <p:sldId id="265" r:id="rId10"/>
    <p:sldId id="267" r:id="rId11"/>
    <p:sldId id="271" r:id="rId12"/>
    <p:sldId id="272" r:id="rId13"/>
    <p:sldId id="290" r:id="rId14"/>
    <p:sldId id="291" r:id="rId15"/>
    <p:sldId id="292" r:id="rId16"/>
    <p:sldId id="293" r:id="rId17"/>
    <p:sldId id="294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6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3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9A39F6D-BCA4-4622-A9F7-D3637C3957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658938" y="1600200"/>
            <a:ext cx="6837362" cy="3200400"/>
            <a:chOff x="1045" y="1008"/>
            <a:chExt cx="4307" cy="2016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hidden">
            <a:xfrm flipH="1">
              <a:off x="4392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hidden">
            <a:xfrm flipH="1">
              <a:off x="3264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hidden">
            <a:xfrm flipH="1">
              <a:off x="2136" y="1008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hidden">
            <a:xfrm flipH="1">
              <a:off x="2136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hidden">
            <a:xfrm flipH="1">
              <a:off x="1045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hidden">
            <a:xfrm flipH="1">
              <a:off x="4392" y="2064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1742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933575"/>
          </a:xfrm>
        </p:spPr>
        <p:txBody>
          <a:bodyPr anchor="b"/>
          <a:lstStyle>
            <a:lvl1pPr algn="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05200"/>
            <a:ext cx="64008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CAB23F5-725A-432E-B71C-419E9059DE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6C00A-D367-4419-91A0-E979293FBA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E0805-FF88-4378-88E5-13D3175E00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0E42C-899B-4D5F-93B5-CA965D1BE3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F36B1D-842F-42E5-86AB-3B9996ED66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FC182-CCB7-4E8A-A1FF-BC7D87049D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606A1-55C8-4C32-AF74-EA6A61B8BC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CAC11-C307-44CD-9A02-28A673295D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587A2-28F3-40C1-BF44-EAB5C713A5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BB05F-9918-4F42-986D-E0AF9FA216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62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62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5B1EE-C049-462F-A6A0-E32B6C868F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16387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6388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6389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6390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6391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921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39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99393DF7-6898-4DB5-ADC8-A4351370AB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223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¡"/>
        <a:defRPr sz="27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i-FI" sz="5400" b="1"/>
              <a:t>Pemodelan Analisis</a:t>
            </a:r>
            <a:endParaRPr lang="en-US" sz="5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33A4-44C8-3C8A-C4B9-D1358ED8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Pemodelan</a:t>
            </a:r>
            <a:r>
              <a:rPr lang="en-GB" dirty="0"/>
              <a:t> </a:t>
            </a:r>
            <a:r>
              <a:rPr lang="en-GB" dirty="0" err="1"/>
              <a:t>Analisis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FBBF8-9E8B-7B71-8DB2-5192EC9F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457200" eaLnBrk="1" hangingPunct="1"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 DFD (</a:t>
            </a:r>
            <a:r>
              <a:rPr lang="en-GB" i="1" dirty="0"/>
              <a:t>Data Flow Diagram</a:t>
            </a:r>
            <a:r>
              <a:rPr lang="en-GB" dirty="0"/>
              <a:t>)</a:t>
            </a:r>
          </a:p>
          <a:p>
            <a:pPr defTabSz="457200" eaLnBrk="1" hangingPunct="1"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 ERD (</a:t>
            </a:r>
            <a:r>
              <a:rPr lang="en-GB" i="1" dirty="0"/>
              <a:t>Entity-Relationship Diagram</a:t>
            </a:r>
            <a:r>
              <a:rPr lang="en-GB" dirty="0"/>
              <a:t>)</a:t>
            </a:r>
          </a:p>
          <a:p>
            <a:pPr defTabSz="457200" eaLnBrk="1" hangingPunct="1"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 STD (</a:t>
            </a:r>
            <a:r>
              <a:rPr lang="en-GB" i="1" dirty="0"/>
              <a:t>State Transition Diagram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640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err="1"/>
              <a:t>Pemodelan</a:t>
            </a:r>
            <a:r>
              <a:rPr lang="en-GB" dirty="0"/>
              <a:t> </a:t>
            </a:r>
            <a:r>
              <a:rPr lang="en-GB" dirty="0" err="1"/>
              <a:t>Analisis</a:t>
            </a:r>
            <a:endParaRPr 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200" dirty="0"/>
              <a:t>Ada dua </a:t>
            </a:r>
            <a:r>
              <a:rPr lang="en-US" sz="2200" dirty="0" err="1"/>
              <a:t>jenis</a:t>
            </a:r>
            <a:r>
              <a:rPr lang="en-US" sz="2200" dirty="0"/>
              <a:t> </a:t>
            </a:r>
            <a:r>
              <a:rPr lang="en-US" sz="2200" dirty="0" err="1"/>
              <a:t>Pemodelan</a:t>
            </a:r>
            <a:r>
              <a:rPr lang="en-US" sz="2200" dirty="0"/>
              <a:t> </a:t>
            </a:r>
            <a:r>
              <a:rPr lang="en-US" sz="2200" dirty="0" err="1"/>
              <a:t>Analisis</a:t>
            </a:r>
            <a:r>
              <a:rPr lang="en-US" sz="2200" dirty="0"/>
              <a:t> </a:t>
            </a:r>
            <a:r>
              <a:rPr lang="en-US" sz="2200" dirty="0" err="1"/>
              <a:t>yaitu</a:t>
            </a:r>
            <a:r>
              <a:rPr lang="en-US" sz="2200" dirty="0"/>
              <a:t> </a:t>
            </a:r>
            <a:r>
              <a:rPr lang="en-US" sz="2200" dirty="0" err="1"/>
              <a:t>pemodelan</a:t>
            </a:r>
            <a:r>
              <a:rPr lang="en-US" sz="2200" dirty="0"/>
              <a:t> </a:t>
            </a:r>
            <a:r>
              <a:rPr lang="en-US" sz="2200" dirty="0" err="1"/>
              <a:t>analisis</a:t>
            </a:r>
            <a:r>
              <a:rPr lang="en-US" sz="2200" dirty="0"/>
              <a:t> </a:t>
            </a:r>
            <a:r>
              <a:rPr lang="en-US" sz="2200" dirty="0" err="1"/>
              <a:t>terstruktur</a:t>
            </a:r>
            <a:r>
              <a:rPr lang="en-US" sz="2200" dirty="0"/>
              <a:t> dan </a:t>
            </a:r>
            <a:r>
              <a:rPr lang="en-US" sz="2200" dirty="0" err="1"/>
              <a:t>pemodelan</a:t>
            </a:r>
            <a:r>
              <a:rPr lang="en-US" sz="2200" dirty="0"/>
              <a:t> </a:t>
            </a:r>
            <a:r>
              <a:rPr lang="en-US" sz="2200" dirty="0" err="1"/>
              <a:t>analisis</a:t>
            </a:r>
            <a:r>
              <a:rPr lang="en-US" sz="2200" dirty="0"/>
              <a:t> </a:t>
            </a:r>
            <a:r>
              <a:rPr lang="en-US" sz="2200" dirty="0" err="1"/>
              <a:t>berorientasi</a:t>
            </a:r>
            <a:r>
              <a:rPr lang="en-US" sz="2200" dirty="0"/>
              <a:t> </a:t>
            </a:r>
            <a:r>
              <a:rPr lang="en-US" sz="2200" dirty="0" err="1"/>
              <a:t>objek</a:t>
            </a:r>
            <a:r>
              <a:rPr lang="en-US" sz="2200" dirty="0"/>
              <a:t>.</a:t>
            </a:r>
          </a:p>
          <a:p>
            <a:pPr eaLnBrk="1" hangingPunct="1"/>
            <a:r>
              <a:rPr lang="en-US" sz="2200" dirty="0" err="1"/>
              <a:t>Pemodelan</a:t>
            </a:r>
            <a:r>
              <a:rPr lang="en-US" sz="2200" dirty="0"/>
              <a:t> </a:t>
            </a:r>
            <a:r>
              <a:rPr lang="id-ID" sz="2200" dirty="0"/>
              <a:t>Analisis </a:t>
            </a:r>
            <a:r>
              <a:rPr lang="en-US" sz="2200" dirty="0"/>
              <a:t>t</a:t>
            </a:r>
            <a:r>
              <a:rPr lang="id-ID" sz="2200" dirty="0"/>
              <a:t>erstruktur merupakan salah satu teknik analisis yang mengunakan pendekatan berorientasi fungsi. Analisis ini terfokus pada aliran data dan proses bisnis perangkat dan perangkat lunak</a:t>
            </a:r>
            <a:endParaRPr lang="en-US" sz="2200" dirty="0"/>
          </a:p>
          <a:p>
            <a:pPr eaLnBrk="1" hangingPunct="1"/>
            <a:r>
              <a:rPr lang="id-ID" sz="2200" dirty="0"/>
              <a:t>Pemodelan Berorientsi Objek menangkap struktur statis dari sistem dengan menggambarkan objek dalam sistem, hubungan antara objek, serta atribut dan operasi yang merupakan karakteristik setiap kelas dan objek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C185-38F5-A0E1-2658-BE1999E40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Analisis</a:t>
            </a:r>
            <a:r>
              <a:rPr lang="en-GB" dirty="0"/>
              <a:t> </a:t>
            </a:r>
            <a:r>
              <a:rPr lang="en-GB" dirty="0" err="1"/>
              <a:t>Terstruktur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D9E6-6700-2BB7-ED63-F2E1D9A3C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ID" sz="2400" dirty="0" err="1"/>
              <a:t>Analisis</a:t>
            </a:r>
            <a:r>
              <a:rPr lang="en-ID" sz="2400" dirty="0"/>
              <a:t> </a:t>
            </a:r>
            <a:r>
              <a:rPr lang="en-ID" sz="2400" dirty="0" err="1"/>
              <a:t>terstruktur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pendekatan</a:t>
            </a:r>
            <a:r>
              <a:rPr lang="en-ID" sz="2400" dirty="0"/>
              <a:t> </a:t>
            </a:r>
            <a:r>
              <a:rPr lang="en-ID" sz="2400" dirty="0" err="1"/>
              <a:t>klasik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rekayasa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</a:t>
            </a:r>
            <a:r>
              <a:rPr lang="en-ID" sz="2400" dirty="0" err="1"/>
              <a:t>lunak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menggambarkan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representasi</a:t>
            </a:r>
            <a:r>
              <a:rPr lang="en-ID" sz="2400" dirty="0"/>
              <a:t> </a:t>
            </a:r>
            <a:r>
              <a:rPr lang="en-ID" sz="2400" dirty="0" err="1"/>
              <a:t>grafis</a:t>
            </a:r>
            <a:r>
              <a:rPr lang="en-ID" sz="2400" dirty="0"/>
              <a:t> dan </a:t>
            </a:r>
            <a:r>
              <a:rPr lang="en-ID" sz="2400" dirty="0" err="1"/>
              <a:t>alur</a:t>
            </a:r>
            <a:r>
              <a:rPr lang="en-ID" sz="2400" dirty="0"/>
              <a:t> data</a:t>
            </a:r>
          </a:p>
          <a:p>
            <a:r>
              <a:rPr lang="en-ID" sz="2400" dirty="0"/>
              <a:t>Alat </a:t>
            </a:r>
            <a:r>
              <a:rPr lang="en-ID" sz="2400" dirty="0" err="1"/>
              <a:t>utama</a:t>
            </a:r>
            <a:r>
              <a:rPr lang="en-ID" sz="2400" dirty="0"/>
              <a:t> yang </a:t>
            </a:r>
            <a:r>
              <a:rPr lang="en-ID" sz="2400" dirty="0" err="1"/>
              <a:t>digunakan</a:t>
            </a:r>
            <a:r>
              <a:rPr lang="en-ID" sz="2400" dirty="0"/>
              <a:t> </a:t>
            </a:r>
            <a:r>
              <a:rPr lang="en-ID" sz="2400" dirty="0" err="1"/>
              <a:t>meliputi</a:t>
            </a:r>
            <a:r>
              <a:rPr lang="en-ID" sz="2400" dirty="0"/>
              <a:t> Diagram </a:t>
            </a:r>
            <a:r>
              <a:rPr lang="en-ID" sz="2400" dirty="0" err="1"/>
              <a:t>Aliran</a:t>
            </a:r>
            <a:r>
              <a:rPr lang="en-ID" sz="2400" dirty="0"/>
              <a:t> Data (DFD), Kamus Data (Data Dictionary), Diagram </a:t>
            </a:r>
            <a:r>
              <a:rPr lang="en-ID" sz="2400" dirty="0" err="1"/>
              <a:t>Entitas-Relasi</a:t>
            </a:r>
            <a:r>
              <a:rPr lang="en-ID" sz="2400" dirty="0"/>
              <a:t> (ERD)</a:t>
            </a:r>
          </a:p>
          <a:p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27117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06E9-9939-823E-9235-42A3739E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Analisis</a:t>
            </a:r>
            <a:r>
              <a:rPr lang="en-GB" dirty="0"/>
              <a:t> </a:t>
            </a:r>
            <a:r>
              <a:rPr lang="en-ID" dirty="0" err="1"/>
              <a:t>Berorientasi</a:t>
            </a:r>
            <a:r>
              <a:rPr lang="en-ID" dirty="0"/>
              <a:t> </a:t>
            </a:r>
            <a:r>
              <a:rPr lang="en-ID" dirty="0" err="1"/>
              <a:t>Objek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5AA47-D23D-EEB6-8D9B-451C44BB9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sz="2800" dirty="0" err="1"/>
              <a:t>Analisis</a:t>
            </a:r>
            <a:r>
              <a:rPr lang="en-ID" sz="2800" dirty="0"/>
              <a:t> </a:t>
            </a:r>
            <a:r>
              <a:rPr lang="en-ID" sz="2800" dirty="0" err="1"/>
              <a:t>berorientasi</a:t>
            </a:r>
            <a:r>
              <a:rPr lang="en-ID" sz="2800" dirty="0"/>
              <a:t> </a:t>
            </a:r>
            <a:r>
              <a:rPr lang="en-ID" sz="2800" dirty="0" err="1"/>
              <a:t>objek</a:t>
            </a:r>
            <a:r>
              <a:rPr lang="en-ID" sz="2800" dirty="0"/>
              <a:t> </a:t>
            </a:r>
            <a:r>
              <a:rPr lang="en-ID" sz="2800" dirty="0" err="1"/>
              <a:t>memandang</a:t>
            </a:r>
            <a:r>
              <a:rPr lang="en-ID" sz="2800" dirty="0"/>
              <a:t> </a:t>
            </a: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sebagai</a:t>
            </a:r>
            <a:r>
              <a:rPr lang="en-ID" sz="2800" dirty="0"/>
              <a:t> </a:t>
            </a:r>
            <a:r>
              <a:rPr lang="en-ID" sz="2800" dirty="0" err="1"/>
              <a:t>sekumpulan</a:t>
            </a:r>
            <a:r>
              <a:rPr lang="en-ID" sz="2800" dirty="0"/>
              <a:t> </a:t>
            </a:r>
            <a:r>
              <a:rPr lang="en-ID" sz="2800" dirty="0" err="1"/>
              <a:t>objek</a:t>
            </a:r>
            <a:r>
              <a:rPr lang="en-ID" sz="2800" dirty="0"/>
              <a:t> yang </a:t>
            </a:r>
            <a:r>
              <a:rPr lang="en-ID" sz="2800" dirty="0" err="1"/>
              <a:t>saling</a:t>
            </a:r>
            <a:r>
              <a:rPr lang="en-ID" sz="2800" dirty="0"/>
              <a:t> </a:t>
            </a:r>
            <a:r>
              <a:rPr lang="en-ID" sz="2800" dirty="0" err="1"/>
              <a:t>berinteraksi</a:t>
            </a:r>
            <a:r>
              <a:rPr lang="en-ID" sz="2800" dirty="0"/>
              <a:t>. </a:t>
            </a:r>
            <a:r>
              <a:rPr lang="en-ID" sz="2800" dirty="0" err="1"/>
              <a:t>Setiap</a:t>
            </a:r>
            <a:r>
              <a:rPr lang="en-ID" sz="2800" dirty="0"/>
              <a:t> </a:t>
            </a:r>
            <a:r>
              <a:rPr lang="en-ID" sz="2800" dirty="0" err="1"/>
              <a:t>objek</a:t>
            </a:r>
            <a:r>
              <a:rPr lang="en-ID" sz="2800" dirty="0"/>
              <a:t> </a:t>
            </a:r>
            <a:r>
              <a:rPr lang="en-ID" sz="2800" dirty="0" err="1"/>
              <a:t>menggabungkan</a:t>
            </a:r>
            <a:r>
              <a:rPr lang="en-ID" sz="2800" dirty="0"/>
              <a:t> data (</a:t>
            </a:r>
            <a:r>
              <a:rPr lang="en-ID" sz="2800" dirty="0" err="1"/>
              <a:t>atribut</a:t>
            </a:r>
            <a:r>
              <a:rPr lang="en-ID" sz="2800" dirty="0"/>
              <a:t>) dan proses (</a:t>
            </a:r>
            <a:r>
              <a:rPr lang="en-ID" sz="2800" dirty="0" err="1"/>
              <a:t>metode</a:t>
            </a:r>
            <a:r>
              <a:rPr lang="en-ID" sz="2800" dirty="0"/>
              <a:t>/</a:t>
            </a:r>
            <a:r>
              <a:rPr lang="en-ID" sz="2800" dirty="0" err="1"/>
              <a:t>fungsi</a:t>
            </a:r>
            <a:r>
              <a:rPr lang="en-ID" sz="2800" dirty="0"/>
              <a:t>) </a:t>
            </a:r>
            <a:r>
              <a:rPr lang="en-ID" sz="2800" dirty="0" err="1"/>
              <a:t>menjadi</a:t>
            </a:r>
            <a:r>
              <a:rPr lang="en-ID" sz="2800" dirty="0"/>
              <a:t> </a:t>
            </a:r>
            <a:r>
              <a:rPr lang="en-ID" sz="2800" dirty="0" err="1"/>
              <a:t>satu</a:t>
            </a:r>
            <a:r>
              <a:rPr lang="en-ID" sz="2800" dirty="0"/>
              <a:t> </a:t>
            </a:r>
            <a:r>
              <a:rPr lang="en-ID" sz="2800" dirty="0" err="1"/>
              <a:t>kesatuan</a:t>
            </a:r>
            <a:r>
              <a:rPr lang="en-ID" sz="2800" dirty="0"/>
              <a:t>. </a:t>
            </a:r>
          </a:p>
          <a:p>
            <a:r>
              <a:rPr lang="en-ID" sz="2800" dirty="0"/>
              <a:t>Alat </a:t>
            </a:r>
            <a:r>
              <a:rPr lang="en-ID" sz="2800" dirty="0" err="1"/>
              <a:t>pemodelan</a:t>
            </a:r>
            <a:r>
              <a:rPr lang="en-ID" sz="2800" dirty="0"/>
              <a:t> </a:t>
            </a:r>
            <a:r>
              <a:rPr lang="en-ID" sz="2800" dirty="0" err="1"/>
              <a:t>utamanya</a:t>
            </a:r>
            <a:r>
              <a:rPr lang="en-ID" sz="2800" dirty="0"/>
              <a:t> </a:t>
            </a:r>
            <a:r>
              <a:rPr lang="en-ID" sz="2800" dirty="0" err="1"/>
              <a:t>menggunakan</a:t>
            </a:r>
            <a:r>
              <a:rPr lang="en-ID" sz="2800" dirty="0"/>
              <a:t> UML (Unified </a:t>
            </a:r>
            <a:r>
              <a:rPr lang="en-ID" sz="2800" dirty="0" err="1"/>
              <a:t>Modeling</a:t>
            </a:r>
            <a:r>
              <a:rPr lang="en-ID" sz="2800" dirty="0"/>
              <a:t> Language) </a:t>
            </a:r>
            <a:r>
              <a:rPr lang="en-ID" sz="2800" dirty="0" err="1"/>
              <a:t>seperti</a:t>
            </a:r>
            <a:r>
              <a:rPr lang="en-ID" sz="2800" dirty="0"/>
              <a:t> </a:t>
            </a:r>
            <a:r>
              <a:rPr lang="en-ID" sz="2800" i="1" dirty="0"/>
              <a:t>Use Case Diagram</a:t>
            </a:r>
            <a:r>
              <a:rPr lang="en-ID" sz="2800" dirty="0"/>
              <a:t>, </a:t>
            </a:r>
            <a:r>
              <a:rPr lang="en-ID" sz="2800" i="1" dirty="0"/>
              <a:t>Activity Diagram</a:t>
            </a:r>
            <a:r>
              <a:rPr lang="en-ID" sz="2800" dirty="0"/>
              <a:t>, </a:t>
            </a:r>
            <a:r>
              <a:rPr lang="en-ID" sz="2800" i="1" dirty="0"/>
              <a:t>Sequence Diagram</a:t>
            </a:r>
            <a:r>
              <a:rPr lang="en-ID" sz="2800" dirty="0"/>
              <a:t>, dan </a:t>
            </a:r>
            <a:r>
              <a:rPr lang="en-ID" sz="2800" i="1" dirty="0"/>
              <a:t>Class Diagram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2780692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Model Analisis</a:t>
            </a:r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/>
              <a:t>Harus memenuhi tiga tujuan yaitu :</a:t>
            </a:r>
          </a:p>
          <a:p>
            <a:pPr eaLnBrk="1" hangingPunct="1"/>
            <a:r>
              <a:rPr lang="en-US"/>
              <a:t>Untuk mendeskripsikan apa yang dibutuhkan pengguna</a:t>
            </a:r>
          </a:p>
          <a:p>
            <a:pPr eaLnBrk="1" hangingPunct="1"/>
            <a:r>
              <a:rPr lang="en-US"/>
              <a:t>Untuk menciptakan dasar bagi pembuatan desain software</a:t>
            </a:r>
          </a:p>
          <a:p>
            <a:pPr eaLnBrk="1" hangingPunct="1"/>
            <a:r>
              <a:rPr lang="en-US"/>
              <a:t>Untuk mendefinisikan himpunan kebutuhan yang dapat divalidasi pada saat software sudah jadi.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/>
              <a:t>Elemen Model  Analisis</a:t>
            </a:r>
            <a:endParaRPr lang="en-GB"/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1600200" y="1143000"/>
          <a:ext cx="5638800" cy="473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2" imgW="2492280" imgH="2598480" progId="Visio.Drawing.6">
                  <p:embed/>
                </p:oleObj>
              </mc:Choice>
              <mc:Fallback>
                <p:oleObj name="VISIO" r:id="rId2" imgW="2492280" imgH="259848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143000"/>
                        <a:ext cx="5638800" cy="473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1219200" y="5943600"/>
            <a:ext cx="571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57200" y="5867400"/>
            <a:ext cx="4953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743200" y="5943600"/>
            <a:ext cx="548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Model Analisis Tersetruktur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/>
              <a:t>Elemen Model Analisis</a:t>
            </a: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200"/>
              <a:t>Kamus Data (data dictionary) : menyimpan deskripsi dari semua objek data yang dikonsumsi atau di produksi oleh perangkat lunak.</a:t>
            </a:r>
          </a:p>
          <a:p>
            <a:pPr eaLnBrk="1" hangingPunct="1">
              <a:lnSpc>
                <a:spcPct val="80000"/>
              </a:lnSpc>
            </a:pPr>
            <a:r>
              <a:rPr lang="en-US" sz="2200"/>
              <a:t>Entity Relationship Diagram (ERD) : notasi yang digunakan untuk melakukan aktivitas pemodelan data. </a:t>
            </a:r>
            <a:r>
              <a:rPr lang="en-US" sz="2200">
                <a:sym typeface="Symbol" pitchFamily="18" charset="2"/>
              </a:rPr>
              <a:t> data object description</a:t>
            </a:r>
            <a:endParaRPr lang="en-US" sz="2200"/>
          </a:p>
          <a:p>
            <a:pPr eaLnBrk="1" hangingPunct="1">
              <a:lnSpc>
                <a:spcPct val="80000"/>
              </a:lnSpc>
            </a:pPr>
            <a:r>
              <a:rPr lang="en-US" sz="2200"/>
              <a:t>Data Flow Diagram (DFD) : untuk memberikan indikasi mengenai bagaimana data ditransformasi pada saat data bergerak melalui sistem, dan untuk menggambarkan fungsi – fungsi serta subfungsi yang mentransformasi aliran data. Setiap fungsi disajikan dalam sebuah spesifikasi proses (PSPEC)</a:t>
            </a:r>
          </a:p>
          <a:p>
            <a:pPr eaLnBrk="1" hangingPunct="1">
              <a:lnSpc>
                <a:spcPct val="80000"/>
              </a:lnSpc>
            </a:pPr>
            <a:r>
              <a:rPr lang="en-US" sz="2200"/>
              <a:t>State – transition diagram (STD) menunjukkan bagaimana sistem bertingkahlaku sebagai akibat dari kejadian eksternal , dan digunakan sebagai dasar bagi pemodelan tingkah laku . Informasi tambahan mengenai aspek kontrol dari perangkat lunak diisikan dalam (CSPEC)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/>
              <a:t>Penterjemahan Model analisis ke</a:t>
            </a:r>
            <a:br>
              <a:rPr lang="en-US" sz="3400" b="1"/>
            </a:br>
            <a:r>
              <a:rPr lang="en-US" sz="3400" b="1"/>
              <a:t>dalam suatu desain Perangkat Lunak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Elemen – elemen model analisi memberikan informasi yang diperlukan untuk menciptakan suatu model desain.</a:t>
            </a:r>
          </a:p>
          <a:p>
            <a:pPr eaLnBrk="1" hangingPunct="1"/>
            <a:r>
              <a:rPr lang="en-US"/>
              <a:t>Desain data : Data dictionary dan ERD</a:t>
            </a:r>
          </a:p>
          <a:p>
            <a:pPr eaLnBrk="1" hangingPunct="1"/>
            <a:r>
              <a:rPr lang="en-US"/>
              <a:t>Desain Arsitektur : DFD</a:t>
            </a:r>
          </a:p>
          <a:p>
            <a:pPr eaLnBrk="1" hangingPunct="1"/>
            <a:r>
              <a:rPr lang="en-US"/>
              <a:t>Desain Interface : DFD</a:t>
            </a:r>
          </a:p>
          <a:p>
            <a:pPr eaLnBrk="1" hangingPunct="1"/>
            <a:r>
              <a:rPr lang="en-US"/>
              <a:t>Desain Prosedural : PSPEC, CSPEC, STD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Pemodelan Analisis       Desain RPL</a:t>
            </a:r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4953000" y="8382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676400"/>
            <a:ext cx="7689328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Pemodelan Data</a:t>
            </a:r>
            <a:endParaRPr lang="en-GB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Entity-relationship diagram : menggambarkan hubungan antar objek data (entitas)</a:t>
            </a:r>
          </a:p>
          <a:p>
            <a:pPr eaLnBrk="1" hangingPunct="1"/>
            <a:r>
              <a:rPr lang="en-US"/>
              <a:t>Data object description : mendeksipsikan atribut dari setiap data objek dalam ERD</a:t>
            </a:r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ERD</a:t>
            </a:r>
            <a:endParaRPr lang="en-GB"/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609600" y="2209800"/>
          <a:ext cx="8153400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2" imgW="5140080" imgH="1555200" progId="Visio.Drawing.6">
                  <p:embed/>
                </p:oleObj>
              </mc:Choice>
              <mc:Fallback>
                <p:oleObj name="VISIO" r:id="rId2" imgW="5140080" imgH="155520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09800"/>
                        <a:ext cx="8153400" cy="2466975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Komponen ERD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274" y="1600200"/>
            <a:ext cx="8229600" cy="4530725"/>
          </a:xfrm>
        </p:spPr>
        <p:txBody>
          <a:bodyPr/>
          <a:lstStyle/>
          <a:p>
            <a:pPr eaLnBrk="1" hangingPunct="1"/>
            <a:r>
              <a:rPr lang="en-US" sz="4000"/>
              <a:t>Entitas (Entity)</a:t>
            </a:r>
          </a:p>
          <a:p>
            <a:pPr eaLnBrk="1" hangingPunct="1"/>
            <a:r>
              <a:rPr lang="en-US" sz="4000"/>
              <a:t>Relasi (Relationship)</a:t>
            </a:r>
          </a:p>
          <a:p>
            <a:pPr eaLnBrk="1" hangingPunct="1"/>
            <a:r>
              <a:rPr lang="en-US" sz="4000"/>
              <a:t>Atribut (Attribute)</a:t>
            </a:r>
          </a:p>
          <a:p>
            <a:pPr eaLnBrk="1" hangingPunct="1"/>
            <a:r>
              <a:rPr lang="en-US" sz="4000"/>
              <a:t>Kardinalitas Kardinality)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Entitas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Definisi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	Sebuah barang atau obyek yang dapat dibedakan dari obyek lain</a:t>
            </a:r>
          </a:p>
          <a:p>
            <a:pPr eaLnBrk="1" hangingPunct="1"/>
            <a:r>
              <a:rPr lang="en-US"/>
              <a:t>Contoh</a:t>
            </a:r>
          </a:p>
          <a:p>
            <a:pPr lvl="1" eaLnBrk="1" hangingPunct="1">
              <a:buFontTx/>
              <a:buChar char="•"/>
            </a:pPr>
            <a:r>
              <a:rPr lang="en-US" sz="2300"/>
              <a:t>Individu: pegawai, pelanggan, mhs, distributor</a:t>
            </a:r>
          </a:p>
          <a:p>
            <a:pPr lvl="1" eaLnBrk="1" hangingPunct="1">
              <a:buFontTx/>
              <a:buChar char="•"/>
            </a:pPr>
            <a:r>
              <a:rPr lang="en-US" sz="2300"/>
              <a:t>Tempat: ruang, bangunan, kantor, lapangan, kampus</a:t>
            </a:r>
          </a:p>
          <a:p>
            <a:pPr lvl="1" eaLnBrk="1" hangingPunct="1">
              <a:buFontTx/>
              <a:buChar char="•"/>
            </a:pPr>
            <a:r>
              <a:rPr lang="en-US" sz="2300"/>
              <a:t>Obyek: buku, motor, paket, software, produk</a:t>
            </a:r>
          </a:p>
          <a:p>
            <a:pPr lvl="1" eaLnBrk="1" hangingPunct="1">
              <a:buFontTx/>
              <a:buChar char="•"/>
            </a:pPr>
            <a:r>
              <a:rPr lang="en-US" sz="2300"/>
              <a:t>Peristiwa: pendaftaran, pemesanan, penagihan</a:t>
            </a:r>
          </a:p>
          <a:p>
            <a:pPr lvl="1" eaLnBrk="1" hangingPunct="1">
              <a:buFontTx/>
              <a:buChar char="•"/>
            </a:pPr>
            <a:r>
              <a:rPr lang="en-US" sz="2300"/>
              <a:t>Konsep: rekening, kualifikasi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Relasi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Definisi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	Asosiasi 2 atau lebih entitas</a:t>
            </a:r>
          </a:p>
          <a:p>
            <a:pPr eaLnBrk="1" hangingPunct="1">
              <a:buFont typeface="Wingdings" pitchFamily="2" charset="2"/>
              <a:buNone/>
            </a:pPr>
            <a:endParaRPr lang="en-US"/>
          </a:p>
          <a:p>
            <a:pPr eaLnBrk="1" hangingPunct="1"/>
            <a:r>
              <a:rPr lang="en-US"/>
              <a:t>Berupa kata kerja</a:t>
            </a:r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533400" y="4038600"/>
            <a:ext cx="2133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Mahasiswa</a:t>
            </a:r>
          </a:p>
        </p:txBody>
      </p:sp>
      <p:sp>
        <p:nvSpPr>
          <p:cNvPr id="23557" name="Line 6"/>
          <p:cNvSpPr>
            <a:spLocks noChangeShapeType="1"/>
          </p:cNvSpPr>
          <p:nvPr/>
        </p:nvSpPr>
        <p:spPr bwMode="auto">
          <a:xfrm>
            <a:off x="2667000" y="4419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8" name="AutoShape 7"/>
          <p:cNvSpPr>
            <a:spLocks noChangeArrowheads="1"/>
          </p:cNvSpPr>
          <p:nvPr/>
        </p:nvSpPr>
        <p:spPr bwMode="auto">
          <a:xfrm>
            <a:off x="3886200" y="3581400"/>
            <a:ext cx="1524000" cy="16002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Mengambil</a:t>
            </a:r>
          </a:p>
        </p:txBody>
      </p:sp>
      <p:sp>
        <p:nvSpPr>
          <p:cNvPr id="23559" name="Rectangle 8"/>
          <p:cNvSpPr>
            <a:spLocks noChangeArrowheads="1"/>
          </p:cNvSpPr>
          <p:nvPr/>
        </p:nvSpPr>
        <p:spPr bwMode="auto">
          <a:xfrm>
            <a:off x="6477000" y="3962400"/>
            <a:ext cx="2133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Mata Kuliah</a:t>
            </a:r>
          </a:p>
        </p:txBody>
      </p:sp>
      <p:sp>
        <p:nvSpPr>
          <p:cNvPr id="23560" name="Line 9"/>
          <p:cNvSpPr>
            <a:spLocks noChangeShapeType="1"/>
          </p:cNvSpPr>
          <p:nvPr/>
        </p:nvSpPr>
        <p:spPr bwMode="auto">
          <a:xfrm>
            <a:off x="5410200" y="4419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Atribut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Definisi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	Properti yang dimiliki setiap entitas yang akan disimpan datanya</a:t>
            </a:r>
          </a:p>
          <a:p>
            <a:pPr eaLnBrk="1" hangingPunct="1"/>
            <a:r>
              <a:rPr lang="en-US"/>
              <a:t>Contoh</a:t>
            </a:r>
          </a:p>
          <a:p>
            <a:pPr lvl="1" eaLnBrk="1" hangingPunct="1"/>
            <a:r>
              <a:rPr lang="en-US"/>
              <a:t>Atribut pelanggan</a:t>
            </a:r>
          </a:p>
          <a:p>
            <a:pPr lvl="2" eaLnBrk="1" hangingPunct="1">
              <a:buFontTx/>
              <a:buChar char="•"/>
            </a:pPr>
            <a:r>
              <a:rPr lang="en-US"/>
              <a:t>No KTP/SIM</a:t>
            </a:r>
          </a:p>
          <a:p>
            <a:pPr lvl="2" eaLnBrk="1" hangingPunct="1">
              <a:buFontTx/>
              <a:buChar char="•"/>
            </a:pPr>
            <a:r>
              <a:rPr lang="en-US"/>
              <a:t>Nama</a:t>
            </a:r>
          </a:p>
          <a:p>
            <a:pPr lvl="2" eaLnBrk="1" hangingPunct="1">
              <a:buFontTx/>
              <a:buChar char="•"/>
            </a:pPr>
            <a:r>
              <a:rPr lang="en-US"/>
              <a:t>Alamat</a:t>
            </a: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5334000" y="4724400"/>
            <a:ext cx="19050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Address</a:t>
            </a:r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 flipV="1">
            <a:off x="4495800" y="52578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Kardinalitas Relasi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91000"/>
          </a:xfrm>
        </p:spPr>
        <p:txBody>
          <a:bodyPr/>
          <a:lstStyle/>
          <a:p>
            <a:pPr eaLnBrk="1" hangingPunct="1"/>
            <a:r>
              <a:rPr lang="en-US" sz="2800"/>
              <a:t>Definisi</a:t>
            </a:r>
          </a:p>
          <a:p>
            <a:pPr lvl="1" eaLnBrk="1" hangingPunct="1">
              <a:buFont typeface="Wingdings" pitchFamily="2" charset="2"/>
              <a:buChar char="G"/>
            </a:pPr>
            <a:r>
              <a:rPr lang="en-US" sz="2300"/>
              <a:t>Angka yang menunjukkan banyaknya kemunculan suatu obyek terkait dengan kemunculan obyek lain pada suatu relasi</a:t>
            </a:r>
          </a:p>
          <a:p>
            <a:pPr lvl="1" eaLnBrk="1" hangingPunct="1">
              <a:buFont typeface="Wingdings" pitchFamily="2" charset="2"/>
              <a:buChar char="G"/>
            </a:pPr>
            <a:r>
              <a:rPr lang="en-US" sz="2300"/>
              <a:t>Kombinasi yang mungkin : (1:1, 1:N, M:N)</a:t>
            </a:r>
          </a:p>
          <a:p>
            <a:pPr eaLnBrk="1" hangingPunct="1"/>
            <a:r>
              <a:rPr lang="en-US" sz="2800"/>
              <a:t>Contoh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/>
              <a:t>    1					      N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990600" y="4724400"/>
            <a:ext cx="1371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Departemen</a:t>
            </a: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2362200" y="5029200"/>
            <a:ext cx="8826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6" name="AutoShape 6"/>
          <p:cNvSpPr>
            <a:spLocks noChangeArrowheads="1"/>
          </p:cNvSpPr>
          <p:nvPr/>
        </p:nvSpPr>
        <p:spPr bwMode="auto">
          <a:xfrm>
            <a:off x="3200400" y="4495800"/>
            <a:ext cx="1524000" cy="10668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Memiliki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5638800" y="4724400"/>
            <a:ext cx="1371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Pegawai</a:t>
            </a:r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4724400" y="502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Pemodelan Fungsional dan </a:t>
            </a:r>
            <a:br>
              <a:rPr lang="en-US"/>
            </a:br>
            <a:r>
              <a:rPr lang="en-US"/>
              <a:t>Aliran Informasi</a:t>
            </a:r>
            <a:endParaRPr lang="en-GB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Data flow diagram :</a:t>
            </a:r>
          </a:p>
          <a:p>
            <a:pPr lvl="1" eaLnBrk="1" hangingPunct="1"/>
            <a:r>
              <a:rPr lang="en-US"/>
              <a:t>Untuk menggambarkan bagaimana data ditrasnformasikan</a:t>
            </a:r>
          </a:p>
          <a:p>
            <a:pPr lvl="1" eaLnBrk="1" hangingPunct="1"/>
            <a:r>
              <a:rPr lang="en-US"/>
              <a:t>Untuk menggambarkan fungsi (dan subfungsi) yang mentransformasikan data</a:t>
            </a:r>
          </a:p>
          <a:p>
            <a:pPr eaLnBrk="1" hangingPunct="1"/>
            <a:r>
              <a:rPr lang="en-US"/>
              <a:t>Process specisification : deskripsi setiap fungsi dalam DFD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Flow Diagram (DFD)</a:t>
            </a:r>
            <a:endParaRPr lang="en-GB"/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1066800" y="1905000"/>
          <a:ext cx="7086600" cy="33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VISIO" r:id="rId2" imgW="5178240" imgH="2435040" progId="Visio.Drawing.6">
                  <p:embed/>
                </p:oleObj>
              </mc:Choice>
              <mc:Fallback>
                <p:oleObj name="VISIO" r:id="rId2" imgW="5178240" imgH="243504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05000"/>
                        <a:ext cx="7086600" cy="333375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DFD (cont.)</a:t>
            </a:r>
            <a:endParaRPr lang="en-GB"/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762000" y="1981200"/>
          <a:ext cx="1447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VISIO" r:id="rId2" imgW="1063440" imgH="606240" progId="Visio.Drawing.6">
                  <p:embed/>
                </p:oleObj>
              </mc:Choice>
              <mc:Fallback>
                <p:oleObj name="VISIO" r:id="rId2" imgW="1063440" imgH="60624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81200"/>
                        <a:ext cx="1447800" cy="8255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2574925" y="1870075"/>
            <a:ext cx="60102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imes New Roman" pitchFamily="18" charset="0"/>
              </a:rPr>
              <a:t>Penghasil atau pengguna informasi yang berada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diluar lingkup sistem yang dimodelkan</a:t>
            </a:r>
            <a:endParaRPr lang="en-GB" sz="2400">
              <a:latin typeface="Times New Roman" pitchFamily="18" charset="0"/>
            </a:endParaRPr>
          </a:p>
        </p:txBody>
      </p:sp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914400" y="3048000"/>
          <a:ext cx="1143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VISIO" r:id="rId4" imgW="847800" imgH="847800" progId="Visio.Drawing.6">
                  <p:embed/>
                </p:oleObj>
              </mc:Choice>
              <mc:Fallback>
                <p:oleObj name="VISIO" r:id="rId4" imgW="847800" imgH="8478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48000"/>
                        <a:ext cx="1143000" cy="11430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Text Box 6"/>
          <p:cNvSpPr txBox="1">
            <a:spLocks noChangeArrowheads="1"/>
          </p:cNvSpPr>
          <p:nvPr/>
        </p:nvSpPr>
        <p:spPr bwMode="auto">
          <a:xfrm>
            <a:off x="2590800" y="3048000"/>
            <a:ext cx="60118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imes New Roman" pitchFamily="18" charset="0"/>
              </a:rPr>
              <a:t>Fungsi yang mentransformasi informasi, berada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didalam lingkup sistem yang dimodelkan</a:t>
            </a:r>
            <a:endParaRPr lang="en-GB" sz="2400">
              <a:latin typeface="Times New Roman" pitchFamily="18" charset="0"/>
            </a:endParaRPr>
          </a:p>
        </p:txBody>
      </p:sp>
      <p:graphicFrame>
        <p:nvGraphicFramePr>
          <p:cNvPr id="4100" name="Object 7"/>
          <p:cNvGraphicFramePr>
            <a:graphicFrameLocks noChangeAspect="1"/>
          </p:cNvGraphicFramePr>
          <p:nvPr/>
        </p:nvGraphicFramePr>
        <p:xfrm>
          <a:off x="762000" y="4267200"/>
          <a:ext cx="15240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VISIO" r:id="rId6" imgW="1380600" imgH="618120" progId="Visio.Drawing.6">
                  <p:embed/>
                </p:oleObj>
              </mc:Choice>
              <mc:Fallback>
                <p:oleObj name="VISIO" r:id="rId6" imgW="1380600" imgH="61812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267200"/>
                        <a:ext cx="1524000" cy="102235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Text Box 8"/>
          <p:cNvSpPr txBox="1">
            <a:spLocks noChangeArrowheads="1"/>
          </p:cNvSpPr>
          <p:nvPr/>
        </p:nvSpPr>
        <p:spPr bwMode="auto">
          <a:xfrm>
            <a:off x="2590800" y="4114800"/>
            <a:ext cx="61436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imes New Roman" pitchFamily="18" charset="0"/>
              </a:rPr>
              <a:t>Objek data, anak panah menunjukkan arah aliran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informasi</a:t>
            </a:r>
            <a:endParaRPr lang="en-GB" sz="2400">
              <a:latin typeface="Times New Roman" pitchFamily="18" charset="0"/>
            </a:endParaRPr>
          </a:p>
        </p:txBody>
      </p:sp>
      <p:graphicFrame>
        <p:nvGraphicFramePr>
          <p:cNvPr id="4101" name="Object 9"/>
          <p:cNvGraphicFramePr>
            <a:graphicFrameLocks noChangeAspect="1"/>
          </p:cNvGraphicFramePr>
          <p:nvPr/>
        </p:nvGraphicFramePr>
        <p:xfrm>
          <a:off x="762000" y="5486400"/>
          <a:ext cx="13716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VISIO" r:id="rId8" imgW="691920" imgH="263160" progId="Visio.Drawing.6">
                  <p:embed/>
                </p:oleObj>
              </mc:Choice>
              <mc:Fallback>
                <p:oleObj name="VISIO" r:id="rId8" imgW="691920" imgH="263160" progId="Visio.Drawing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486400"/>
                        <a:ext cx="1371600" cy="5222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2590800" y="5257800"/>
            <a:ext cx="61007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imes New Roman" pitchFamily="18" charset="0"/>
              </a:rPr>
              <a:t>Tempat penyimpanan data yang digunakan oleh 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proses</a:t>
            </a:r>
            <a:endParaRPr lang="en-GB" sz="24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/>
              <a:t>Penurunan DFD</a:t>
            </a:r>
            <a:endParaRPr lang="en-GB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700"/>
              <a:t>Level 0 data flow diagram menunjukkan software/sistem sebagai satu bulatan</a:t>
            </a:r>
          </a:p>
          <a:p>
            <a:pPr eaLnBrk="1" hangingPunct="1">
              <a:lnSpc>
                <a:spcPct val="90000"/>
              </a:lnSpc>
            </a:pPr>
            <a:r>
              <a:rPr lang="en-US" sz="2700"/>
              <a:t>Input dan output utama harus diperhatikan</a:t>
            </a:r>
          </a:p>
          <a:p>
            <a:pPr eaLnBrk="1" hangingPunct="1">
              <a:lnSpc>
                <a:spcPct val="90000"/>
              </a:lnSpc>
            </a:pPr>
            <a:r>
              <a:rPr lang="en-US" sz="2700"/>
              <a:t>Penurunan dimulai dengan pemilihan proses, objek data, dan data store untuk direpresentasikan di level berikutnya</a:t>
            </a:r>
          </a:p>
          <a:p>
            <a:pPr eaLnBrk="1" hangingPunct="1">
              <a:lnSpc>
                <a:spcPct val="90000"/>
              </a:lnSpc>
            </a:pPr>
            <a:r>
              <a:rPr lang="en-US" sz="2700"/>
              <a:t>Semua anak panah dan bulatan harus diberi label dengan nama yang mempunyai arti</a:t>
            </a:r>
          </a:p>
          <a:p>
            <a:pPr eaLnBrk="1" hangingPunct="1">
              <a:lnSpc>
                <a:spcPct val="90000"/>
              </a:lnSpc>
            </a:pPr>
            <a:r>
              <a:rPr lang="en-US" sz="2700"/>
              <a:t>Kesinambungan aliran informasi harus dijaga dari sebuah level ke level berikutnya</a:t>
            </a:r>
          </a:p>
          <a:p>
            <a:pPr eaLnBrk="1" hangingPunct="1">
              <a:lnSpc>
                <a:spcPct val="90000"/>
              </a:lnSpc>
            </a:pPr>
            <a:r>
              <a:rPr lang="en-US" sz="2700"/>
              <a:t>Penurunan hanya dilakukan untuk satu bulatan pada satu saat</a:t>
            </a:r>
            <a:endParaRPr lang="en-GB" sz="2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State-Trasition Diagram (STD)</a:t>
            </a:r>
            <a:endParaRPr lang="en-GB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Menggambarkan bagaimana sistem bereaksi terhadap event eksternal</a:t>
            </a:r>
          </a:p>
          <a:p>
            <a:pPr eaLnBrk="1" hangingPunct="1"/>
            <a:r>
              <a:rPr lang="en-US"/>
              <a:t>Control specification (CSPEC) : informasi tambahan tentang aspek kontrol software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STD (cont.)</a:t>
            </a:r>
            <a:endParaRPr lang="en-GB"/>
          </a:p>
        </p:txBody>
      </p:sp>
      <p:sp>
        <p:nvSpPr>
          <p:cNvPr id="5125" name="Text Box 3"/>
          <p:cNvSpPr txBox="1">
            <a:spLocks noChangeArrowheads="1"/>
          </p:cNvSpPr>
          <p:nvPr/>
        </p:nvSpPr>
        <p:spPr bwMode="auto">
          <a:xfrm>
            <a:off x="2574925" y="2028825"/>
            <a:ext cx="330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imes New Roman" pitchFamily="18" charset="0"/>
              </a:rPr>
              <a:t>State atau keadaan sistem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5126" name="Text Box 4"/>
          <p:cNvSpPr txBox="1">
            <a:spLocks noChangeArrowheads="1"/>
          </p:cNvSpPr>
          <p:nvPr/>
        </p:nvSpPr>
        <p:spPr bwMode="auto">
          <a:xfrm>
            <a:off x="2590800" y="3048000"/>
            <a:ext cx="49085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imes New Roman" pitchFamily="18" charset="0"/>
              </a:rPr>
              <a:t>Anak panah menunjukkan transisi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Event menyebabkan terjadinya transisi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Action terjadi karena adanya event</a:t>
            </a:r>
            <a:endParaRPr lang="en-GB" sz="2400">
              <a:latin typeface="Times New Roman" pitchFamily="18" charset="0"/>
            </a:endParaRP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762000" y="1905000"/>
          <a:ext cx="14478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VISIO" r:id="rId2" imgW="777600" imgH="463320" progId="Visio.Drawing.6">
                  <p:embed/>
                </p:oleObj>
              </mc:Choice>
              <mc:Fallback>
                <p:oleObj name="VISIO" r:id="rId2" imgW="777600" imgH="46332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05000"/>
                        <a:ext cx="1447800" cy="86201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/>
          <p:cNvGraphicFramePr>
            <a:graphicFrameLocks noChangeAspect="1"/>
          </p:cNvGraphicFramePr>
          <p:nvPr/>
        </p:nvGraphicFramePr>
        <p:xfrm>
          <a:off x="228600" y="3124200"/>
          <a:ext cx="22860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VISIO" r:id="rId4" imgW="1163880" imgH="434520" progId="Visio.Drawing.6">
                  <p:embed/>
                </p:oleObj>
              </mc:Choice>
              <mc:Fallback>
                <p:oleObj name="VISIO" r:id="rId4" imgW="1163880" imgH="43452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124200"/>
                        <a:ext cx="2286000" cy="854075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Dictionary</a:t>
            </a:r>
            <a:endParaRPr lang="en-GB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Model analisis mengandung representasi objek data, fungsi, dan kontrol.</a:t>
            </a:r>
          </a:p>
          <a:p>
            <a:pPr eaLnBrk="1" hangingPunct="1"/>
            <a:r>
              <a:rPr lang="en-US"/>
              <a:t>Data dictionary mengandung informasi :</a:t>
            </a:r>
          </a:p>
          <a:p>
            <a:pPr lvl="1" eaLnBrk="1" hangingPunct="1"/>
            <a:r>
              <a:rPr lang="en-US" i="1"/>
              <a:t>name</a:t>
            </a:r>
            <a:r>
              <a:rPr lang="en-US"/>
              <a:t> (nama)</a:t>
            </a:r>
          </a:p>
          <a:p>
            <a:pPr lvl="1" eaLnBrk="1" hangingPunct="1"/>
            <a:r>
              <a:rPr lang="en-US" i="1"/>
              <a:t>alias</a:t>
            </a:r>
            <a:r>
              <a:rPr lang="en-US"/>
              <a:t> </a:t>
            </a:r>
          </a:p>
          <a:p>
            <a:pPr lvl="1" eaLnBrk="1" hangingPunct="1"/>
            <a:r>
              <a:rPr lang="en-US" i="1"/>
              <a:t>where-used</a:t>
            </a:r>
            <a:r>
              <a:rPr lang="en-US"/>
              <a:t> (dimana-digunakan)</a:t>
            </a:r>
          </a:p>
          <a:p>
            <a:pPr lvl="1" eaLnBrk="1" hangingPunct="1"/>
            <a:r>
              <a:rPr lang="en-US" i="1"/>
              <a:t>content description </a:t>
            </a:r>
            <a:r>
              <a:rPr lang="en-US"/>
              <a:t>(deskripsi isi)</a:t>
            </a:r>
          </a:p>
          <a:p>
            <a:pPr lvl="1" eaLnBrk="1" hangingPunct="1"/>
            <a:r>
              <a:rPr lang="en-US" i="1"/>
              <a:t>supplementary information</a:t>
            </a:r>
            <a:r>
              <a:rPr lang="en-US"/>
              <a:t> (informasi tambahan)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Dictionary</a:t>
            </a:r>
            <a:endParaRPr lang="en-GB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Model analisis mengandung representasi objek data, fungsi, dan kontrol.</a:t>
            </a:r>
          </a:p>
          <a:p>
            <a:pPr eaLnBrk="1" hangingPunct="1"/>
            <a:r>
              <a:rPr lang="en-US"/>
              <a:t>Data dictionary mengandung informasi :</a:t>
            </a:r>
          </a:p>
          <a:p>
            <a:pPr lvl="1" eaLnBrk="1" hangingPunct="1"/>
            <a:r>
              <a:rPr lang="en-US" i="1"/>
              <a:t>name</a:t>
            </a:r>
            <a:r>
              <a:rPr lang="en-US"/>
              <a:t> (nama)</a:t>
            </a:r>
          </a:p>
          <a:p>
            <a:pPr lvl="1" eaLnBrk="1" hangingPunct="1"/>
            <a:r>
              <a:rPr lang="en-US" i="1"/>
              <a:t>alias</a:t>
            </a:r>
            <a:r>
              <a:rPr lang="en-US"/>
              <a:t> </a:t>
            </a:r>
          </a:p>
          <a:p>
            <a:pPr lvl="1" eaLnBrk="1" hangingPunct="1"/>
            <a:r>
              <a:rPr lang="en-US" i="1"/>
              <a:t>where-used</a:t>
            </a:r>
            <a:r>
              <a:rPr lang="en-US"/>
              <a:t> (dimana-digunakan)</a:t>
            </a:r>
          </a:p>
          <a:p>
            <a:pPr lvl="1" eaLnBrk="1" hangingPunct="1"/>
            <a:r>
              <a:rPr lang="en-US" i="1"/>
              <a:t>content description </a:t>
            </a:r>
            <a:r>
              <a:rPr lang="en-US"/>
              <a:t>(deskripsi isi)</a:t>
            </a:r>
          </a:p>
          <a:p>
            <a:pPr lvl="1" eaLnBrk="1" hangingPunct="1"/>
            <a:r>
              <a:rPr lang="en-US" i="1"/>
              <a:t>supplementary information</a:t>
            </a:r>
            <a:r>
              <a:rPr lang="en-US"/>
              <a:t> (informasi tambahan)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2514600"/>
            <a:ext cx="6400800" cy="1219200"/>
          </a:xfrm>
        </p:spPr>
        <p:txBody>
          <a:bodyPr/>
          <a:lstStyle/>
          <a:p>
            <a:pPr algn="ctr"/>
            <a:r>
              <a:rPr lang="en-US" sz="5400"/>
              <a:t>Terimakasih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219</TotalTime>
  <Words>877</Words>
  <Application>Microsoft Office PowerPoint</Application>
  <PresentationFormat>On-screen Show (4:3)</PresentationFormat>
  <Paragraphs>125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Symbol</vt:lpstr>
      <vt:lpstr>Times New Roman</vt:lpstr>
      <vt:lpstr>Wingdings</vt:lpstr>
      <vt:lpstr>Watermark</vt:lpstr>
      <vt:lpstr>VISIO</vt:lpstr>
      <vt:lpstr>Pemodelan Analisis</vt:lpstr>
      <vt:lpstr>Pemodelan Analisis</vt:lpstr>
      <vt:lpstr>Pemodelan Analisis</vt:lpstr>
      <vt:lpstr>Analisis Terstruktur</vt:lpstr>
      <vt:lpstr>Analisis Berorientasi Objek</vt:lpstr>
      <vt:lpstr>Model Analisis</vt:lpstr>
      <vt:lpstr>Elemen Model  Analisis</vt:lpstr>
      <vt:lpstr>Elemen Model Analisis</vt:lpstr>
      <vt:lpstr>Penterjemahan Model analisis ke dalam suatu desain Perangkat Lunak</vt:lpstr>
      <vt:lpstr>Pemodelan Analisis       Desain RPL</vt:lpstr>
      <vt:lpstr>Pemodelan Data</vt:lpstr>
      <vt:lpstr>ERD</vt:lpstr>
      <vt:lpstr>Komponen ERD</vt:lpstr>
      <vt:lpstr>Entitas</vt:lpstr>
      <vt:lpstr>Relasi</vt:lpstr>
      <vt:lpstr>Atribut</vt:lpstr>
      <vt:lpstr>Kardinalitas Relasi</vt:lpstr>
      <vt:lpstr>Pemodelan Fungsional dan  Aliran Informasi</vt:lpstr>
      <vt:lpstr>Data Flow Diagram (DFD)</vt:lpstr>
      <vt:lpstr>DFD (cont.)</vt:lpstr>
      <vt:lpstr>Penurunan DFD</vt:lpstr>
      <vt:lpstr>State-Trasition Diagram (STD)</vt:lpstr>
      <vt:lpstr>STD (cont.)</vt:lpstr>
      <vt:lpstr>Data Dictionary</vt:lpstr>
      <vt:lpstr>Data Dictionary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Pemodelan Analisis</dc:title>
  <dc:creator>kertiasih</dc:creator>
  <cp:lastModifiedBy>girihardana@gmail.com</cp:lastModifiedBy>
  <cp:revision>29</cp:revision>
  <dcterms:created xsi:type="dcterms:W3CDTF">2009-01-28T03:30:38Z</dcterms:created>
  <dcterms:modified xsi:type="dcterms:W3CDTF">2026-10-28T05:09:42Z</dcterms:modified>
</cp:coreProperties>
</file>