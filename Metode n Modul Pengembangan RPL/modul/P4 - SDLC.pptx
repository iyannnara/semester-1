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81" r:id="rId3"/>
    <p:sldId id="285" r:id="rId4"/>
    <p:sldId id="284" r:id="rId5"/>
    <p:sldId id="283" r:id="rId6"/>
    <p:sldId id="286" r:id="rId7"/>
    <p:sldId id="287" r:id="rId8"/>
    <p:sldId id="291" r:id="rId9"/>
    <p:sldId id="292" r:id="rId10"/>
    <p:sldId id="262" r:id="rId11"/>
    <p:sldId id="266" r:id="rId12"/>
    <p:sldId id="263" r:id="rId13"/>
    <p:sldId id="267" r:id="rId14"/>
    <p:sldId id="269" r:id="rId15"/>
    <p:sldId id="270" r:id="rId16"/>
    <p:sldId id="271" r:id="rId17"/>
    <p:sldId id="272" r:id="rId18"/>
    <p:sldId id="273" r:id="rId19"/>
    <p:sldId id="274" r:id="rId20"/>
    <p:sldId id="275" r:id="rId21"/>
    <p:sldId id="277" r:id="rId22"/>
    <p:sldId id="278" r:id="rId23"/>
    <p:sldId id="279" r:id="rId24"/>
    <p:sldId id="293" r:id="rId25"/>
    <p:sldId id="294" r:id="rId26"/>
    <p:sldId id="280"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3" d="100"/>
          <a:sy n="53" d="100"/>
        </p:scale>
        <p:origin x="56" y="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CEEC4315-A4E4-4D69-99CA-98C8442F4EFF}" type="datetimeFigureOut">
              <a:rPr lang="en-US" smtClean="0"/>
              <a:pPr/>
              <a:t>9/6/2026</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B4C0706C-9796-4862-A71A-E7ABD8C0DDF6}"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EEC4315-A4E4-4D69-99CA-98C8442F4EFF}" type="datetimeFigureOut">
              <a:rPr lang="en-US" smtClean="0"/>
              <a:pPr/>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C0706C-9796-4862-A71A-E7ABD8C0DDF6}" type="slidenum">
              <a:rPr lang="en-US" smtClean="0"/>
              <a:pPr/>
              <a:t>‹#›</a:t>
            </a:fld>
            <a:endParaRPr lang="en-US"/>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CEEC4315-A4E4-4D69-99CA-98C8442F4EFF}" type="datetimeFigureOut">
              <a:rPr lang="en-US" smtClean="0"/>
              <a:pPr/>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C0706C-9796-4862-A71A-E7ABD8C0DDF6}"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CEEC4315-A4E4-4D69-99CA-98C8442F4EFF}" type="datetimeFigureOut">
              <a:rPr lang="en-US" smtClean="0"/>
              <a:pPr/>
              <a:t>9/6/2026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C0706C-9796-4862-A71A-E7ABD8C0DDF6}" type="slidenum">
              <a:rPr lang="en-US" smtClean="0"/>
              <a:pPr/>
              <a:t>‹#›</a:t>
            </a:fld>
            <a:endParaRPr lang="en-US"/>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CEEC4315-A4E4-4D69-99CA-98C8442F4EFF}" type="datetimeFigureOut">
              <a:rPr lang="en-US" smtClean="0"/>
              <a:pPr/>
              <a:t>9/6/2026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4C0706C-9796-4862-A71A-E7ABD8C0DDF6}"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CEEC4315-A4E4-4D69-99CA-98C8442F4EFF}" type="datetimeFigureOut">
              <a:rPr lang="en-US" smtClean="0"/>
              <a:pPr/>
              <a:t>9/6/2026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4C0706C-9796-4862-A71A-E7ABD8C0DDF6}" type="slidenum">
              <a:rPr lang="en-US" smtClean="0"/>
              <a:pPr/>
              <a:t>‹#›</a:t>
            </a:fld>
            <a:endParaRPr lang="en-US"/>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EC4315-A4E4-4D69-99CA-98C8442F4EFF}" type="datetimeFigureOut">
              <a:rPr lang="en-US" smtClean="0"/>
              <a:pPr/>
              <a:t>9/6/2026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4C0706C-9796-4862-A71A-E7ABD8C0DDF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CEEC4315-A4E4-4D69-99CA-98C8442F4EFF}" type="datetimeFigureOut">
              <a:rPr lang="en-US" smtClean="0"/>
              <a:pPr/>
              <a:t>9/6/2026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C0706C-9796-4862-A71A-E7ABD8C0DDF6}"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CEEC4315-A4E4-4D69-99CA-98C8442F4EFF}" type="datetimeFigureOut">
              <a:rPr lang="en-US" smtClean="0"/>
              <a:pPr/>
              <a:t>9/6/2026</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B4C0706C-9796-4862-A71A-E7ABD8C0DDF6}"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EEC4315-A4E4-4D69-99CA-98C8442F4EFF}" type="datetimeFigureOut">
              <a:rPr lang="en-US" smtClean="0"/>
              <a:pPr/>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C0706C-9796-4862-A71A-E7ABD8C0DDF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EEC4315-A4E4-4D69-99CA-98C8442F4EFF}" type="datetimeFigureOut">
              <a:rPr lang="en-US" smtClean="0"/>
              <a:pPr/>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C0706C-9796-4862-A71A-E7ABD8C0DDF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CEEC4315-A4E4-4D69-99CA-98C8442F4EFF}" type="datetimeFigureOut">
              <a:rPr lang="en-US" smtClean="0"/>
              <a:pPr/>
              <a:t>9/6/2026</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B4C0706C-9796-4862-A71A-E7ABD8C0DDF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8077200" cy="1470025"/>
          </a:xfrm>
        </p:spPr>
        <p:txBody>
          <a:bodyPr>
            <a:normAutofit/>
          </a:bodyPr>
          <a:lstStyle/>
          <a:p>
            <a:r>
              <a:rPr lang="en-US" sz="3600" b="1"/>
              <a:t>Software Development Life Cycle</a:t>
            </a:r>
            <a:br>
              <a:rPr lang="en-US" sz="3600" b="1"/>
            </a:br>
            <a:r>
              <a:rPr lang="en-US" sz="3600" b="1"/>
              <a:t>(SDLC)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371600"/>
            <a:ext cx="8229600" cy="4876800"/>
          </a:xfrm>
        </p:spPr>
        <p:txBody>
          <a:bodyPr>
            <a:noAutofit/>
          </a:bodyPr>
          <a:lstStyle/>
          <a:p>
            <a:pPr>
              <a:buNone/>
            </a:pPr>
            <a:r>
              <a:rPr lang="en-US" sz="2800" b="1"/>
              <a:t>Definisi</a:t>
            </a:r>
          </a:p>
          <a:p>
            <a:r>
              <a:rPr lang="en-US" sz="2200" b="1" i="1"/>
              <a:t>Software Development Life Cycle </a:t>
            </a:r>
            <a:r>
              <a:rPr lang="en-US" sz="2200" b="1"/>
              <a:t>(SDLC)  </a:t>
            </a:r>
            <a:r>
              <a:rPr lang="en-US" sz="2200"/>
              <a:t>adalah proses pengubahan dan pembuatan sistem, model, serta metodologi yang digunakan untuk mengembangkan </a:t>
            </a:r>
            <a:r>
              <a:rPr lang="en-US" sz="2200" i="1"/>
              <a:t>software</a:t>
            </a:r>
            <a:r>
              <a:rPr lang="en-US" sz="2200"/>
              <a:t>.</a:t>
            </a:r>
          </a:p>
          <a:p>
            <a:pPr>
              <a:buNone/>
            </a:pPr>
            <a:endParaRPr lang="en-US" sz="2200"/>
          </a:p>
          <a:p>
            <a:r>
              <a:rPr lang="en-US" sz="2400" b="1" i="1"/>
              <a:t>Software Development Life Cycle </a:t>
            </a:r>
            <a:r>
              <a:rPr lang="en-US" sz="2400" b="1"/>
              <a:t>(SDLC) </a:t>
            </a:r>
            <a:r>
              <a:rPr lang="en-US" sz="2400"/>
              <a:t>adalah sebuah proses yang bisa memproduksi </a:t>
            </a:r>
            <a:r>
              <a:rPr lang="en-US" sz="2400" i="1"/>
              <a:t>software</a:t>
            </a:r>
            <a:r>
              <a:rPr lang="en-US" sz="2400"/>
              <a:t> dengan kualitas tinggi dengan biaya yang rendah </a:t>
            </a:r>
            <a:endParaRPr lang="en-US" sz="2200" b="1"/>
          </a:p>
          <a:p>
            <a:pPr>
              <a:buNone/>
            </a:pPr>
            <a:endParaRPr lang="en-US" sz="2400"/>
          </a:p>
        </p:txBody>
      </p:sp>
      <p:sp>
        <p:nvSpPr>
          <p:cNvPr id="3" name="Title 2"/>
          <p:cNvSpPr>
            <a:spLocks noGrp="1"/>
          </p:cNvSpPr>
          <p:nvPr>
            <p:ph type="title"/>
          </p:nvPr>
        </p:nvSpPr>
        <p:spPr/>
        <p:txBody>
          <a:bodyPr>
            <a:noAutofit/>
          </a:bodyPr>
          <a:lstStyle/>
          <a:p>
            <a:r>
              <a:rPr lang="en-US" sz="3200"/>
              <a:t>Definisi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371600"/>
            <a:ext cx="8229600" cy="4876800"/>
          </a:xfrm>
        </p:spPr>
        <p:txBody>
          <a:bodyPr>
            <a:noAutofit/>
          </a:bodyPr>
          <a:lstStyle/>
          <a:p>
            <a:pPr>
              <a:buNone/>
            </a:pPr>
            <a:r>
              <a:rPr lang="en-US" sz="2800" b="1"/>
              <a:t>Definisi</a:t>
            </a:r>
          </a:p>
          <a:p>
            <a:r>
              <a:rPr lang="en-US" sz="2200" b="1" i="1"/>
              <a:t>Software Development Life Cycle</a:t>
            </a:r>
            <a:r>
              <a:rPr lang="en-US" sz="2200" b="1"/>
              <a:t> (SDLC) </a:t>
            </a:r>
            <a:r>
              <a:rPr lang="en-US" sz="2200"/>
              <a:t>adalah kerangka kerja yang mengidentifikasi semua aktivitas yang diperlukan untuk meneliti, membangun, menyebarkan, dan memelihara sistem informasi.</a:t>
            </a:r>
          </a:p>
          <a:p>
            <a:pPr>
              <a:buNone/>
            </a:pPr>
            <a:r>
              <a:rPr lang="en-US" sz="2200"/>
              <a:t> </a:t>
            </a:r>
          </a:p>
          <a:p>
            <a:r>
              <a:rPr lang="en-US" sz="2400" b="1" i="1"/>
              <a:t>Software Development Life Cycle</a:t>
            </a:r>
            <a:r>
              <a:rPr lang="en-US" sz="2400" b="1"/>
              <a:t> (SDLC) </a:t>
            </a:r>
            <a:r>
              <a:rPr lang="en-US" sz="2400"/>
              <a:t>adalah metodologi terstruktur dan berulang yang digunakan oleh tim pengembang untuk membangun, mengirimkan, dan memelihara sistem perangkat lunak berkualitas tinggi dan hemat biaya</a:t>
            </a:r>
            <a:endParaRPr lang="en-US" sz="2200"/>
          </a:p>
          <a:p>
            <a:endParaRPr lang="en-US" sz="2400"/>
          </a:p>
        </p:txBody>
      </p:sp>
      <p:sp>
        <p:nvSpPr>
          <p:cNvPr id="3" name="Title 2"/>
          <p:cNvSpPr>
            <a:spLocks noGrp="1"/>
          </p:cNvSpPr>
          <p:nvPr>
            <p:ph type="title"/>
          </p:nvPr>
        </p:nvSpPr>
        <p:spPr/>
        <p:txBody>
          <a:bodyPr>
            <a:noAutofit/>
          </a:bodyPr>
          <a:lstStyle/>
          <a:p>
            <a:r>
              <a:rPr lang="en-US" sz="3200"/>
              <a:t>Definisi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800"/>
              <a:t>Dalam dunia rekayasa </a:t>
            </a:r>
            <a:r>
              <a:rPr lang="en-US" sz="2800" i="1"/>
              <a:t>software</a:t>
            </a:r>
            <a:r>
              <a:rPr lang="en-US" sz="2800"/>
              <a:t>, SDLC merupakan langkah-langkah yang bisa diterapkan para </a:t>
            </a:r>
            <a:r>
              <a:rPr lang="en-US" sz="2800" i="1"/>
              <a:t>engineer </a:t>
            </a:r>
            <a:r>
              <a:rPr lang="en-US" sz="2800"/>
              <a:t>dan </a:t>
            </a:r>
            <a:r>
              <a:rPr lang="en-US" sz="2800" i="1"/>
              <a:t>developer </a:t>
            </a:r>
            <a:r>
              <a:rPr lang="en-US" sz="2800"/>
              <a:t>untuk merancang dan mengelola </a:t>
            </a:r>
            <a:r>
              <a:rPr lang="en-US" sz="2800" i="1"/>
              <a:t>software</a:t>
            </a:r>
            <a:endParaRPr lang="en-US" sz="2800"/>
          </a:p>
          <a:p>
            <a:endParaRPr lang="en-US"/>
          </a:p>
        </p:txBody>
      </p:sp>
      <p:sp>
        <p:nvSpPr>
          <p:cNvPr id="3" name="Title 2"/>
          <p:cNvSpPr>
            <a:spLocks noGrp="1"/>
          </p:cNvSpPr>
          <p:nvPr>
            <p:ph type="title"/>
          </p:nvPr>
        </p:nvSpPr>
        <p:spPr/>
        <p:txBody>
          <a:bodyPr/>
          <a:lstStyle/>
          <a:p>
            <a:r>
              <a:rPr lang="en-US"/>
              <a:t>Definisi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371600"/>
            <a:ext cx="8229600" cy="4876800"/>
          </a:xfrm>
        </p:spPr>
        <p:txBody>
          <a:bodyPr>
            <a:noAutofit/>
          </a:bodyPr>
          <a:lstStyle/>
          <a:p>
            <a:pPr lvl="1"/>
            <a:r>
              <a:rPr lang="en-US" sz="2600" b="1"/>
              <a:t>Perencanaan: </a:t>
            </a:r>
            <a:r>
              <a:rPr lang="en-US" sz="2600"/>
              <a:t>Menentukan ruang lingkup, tujuan, sumber daya, dan anggaran</a:t>
            </a:r>
          </a:p>
          <a:p>
            <a:pPr lvl="1"/>
            <a:r>
              <a:rPr lang="en-US" sz="2600" b="1"/>
              <a:t>Analisis Kebutuhan</a:t>
            </a:r>
            <a:r>
              <a:rPr lang="en-US" sz="2600"/>
              <a:t>: Mengumpulkan dan mendefinisikan persyaratan fungsional sistem. Identifikasi kebutuhan pengguna, keterbatasan sistem, dan analisis kelayakan</a:t>
            </a:r>
          </a:p>
          <a:p>
            <a:pPr lvl="1"/>
            <a:r>
              <a:rPr lang="en-US" sz="2600" b="1"/>
              <a:t>Desain Sistem</a:t>
            </a:r>
            <a:r>
              <a:rPr lang="en-US" sz="2600"/>
              <a:t>: Membuat arsitektur perangkat lunak, termasuk </a:t>
            </a:r>
            <a:r>
              <a:rPr lang="en-US" sz="2600" i="1"/>
              <a:t>database</a:t>
            </a:r>
            <a:r>
              <a:rPr lang="en-US" sz="2600"/>
              <a:t>, antarmuka pengguna (</a:t>
            </a:r>
            <a:r>
              <a:rPr lang="en-US" sz="2600" i="1"/>
              <a:t>UI</a:t>
            </a:r>
            <a:r>
              <a:rPr lang="en-US" sz="2600"/>
              <a:t>), dan alur program</a:t>
            </a:r>
          </a:p>
        </p:txBody>
      </p:sp>
      <p:sp>
        <p:nvSpPr>
          <p:cNvPr id="3" name="Title 2"/>
          <p:cNvSpPr>
            <a:spLocks noGrp="1"/>
          </p:cNvSpPr>
          <p:nvPr>
            <p:ph type="title"/>
          </p:nvPr>
        </p:nvSpPr>
        <p:spPr/>
        <p:txBody>
          <a:bodyPr>
            <a:normAutofit/>
          </a:bodyPr>
          <a:lstStyle/>
          <a:p>
            <a:r>
              <a:rPr lang="en-US" sz="4400"/>
              <a:t>Tahapan utama dari SDLC</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1295400"/>
            <a:ext cx="8229600" cy="4876800"/>
          </a:xfrm>
        </p:spPr>
        <p:txBody>
          <a:bodyPr>
            <a:noAutofit/>
          </a:bodyPr>
          <a:lstStyle/>
          <a:p>
            <a:pPr lvl="1"/>
            <a:r>
              <a:rPr lang="en-US" sz="2400" b="1"/>
              <a:t>Pengembangan (</a:t>
            </a:r>
            <a:r>
              <a:rPr lang="en-US" sz="2400" b="1" i="1"/>
              <a:t>Coding</a:t>
            </a:r>
            <a:r>
              <a:rPr lang="en-US" sz="2400" b="1"/>
              <a:t>)</a:t>
            </a:r>
            <a:r>
              <a:rPr lang="en-US" sz="2400"/>
              <a:t>: Tahap penulisan kode program sesungguhnya berdasarkan desain yang dibuat.</a:t>
            </a:r>
          </a:p>
          <a:p>
            <a:pPr lvl="1"/>
            <a:r>
              <a:rPr lang="en-US" sz="2400" b="1"/>
              <a:t>Pengujian (</a:t>
            </a:r>
            <a:r>
              <a:rPr lang="en-US" sz="2400" b="1" i="1"/>
              <a:t>Testing</a:t>
            </a:r>
            <a:r>
              <a:rPr lang="en-US" sz="2400" b="1"/>
              <a:t>)</a:t>
            </a:r>
            <a:r>
              <a:rPr lang="en-US" sz="2400"/>
              <a:t>: Pengujian fungsionalitas untuk menemukan dan memperbaiki kesalahan (bug) (misal: </a:t>
            </a:r>
            <a:r>
              <a:rPr lang="en-US" sz="2400" i="1"/>
              <a:t>White Box/Black Box Testing</a:t>
            </a:r>
            <a:r>
              <a:rPr lang="en-US" sz="2400"/>
              <a:t>).</a:t>
            </a:r>
          </a:p>
          <a:p>
            <a:pPr lvl="1"/>
            <a:r>
              <a:rPr lang="en-US" sz="2400" b="1"/>
              <a:t>Penerapan (</a:t>
            </a:r>
            <a:r>
              <a:rPr lang="en-US" sz="2400" b="1" i="1"/>
              <a:t>Deployment</a:t>
            </a:r>
            <a:r>
              <a:rPr lang="en-US" sz="2400" b="1"/>
              <a:t>)</a:t>
            </a:r>
            <a:r>
              <a:rPr lang="en-US" sz="2400"/>
              <a:t>: Sistem dirilis ke lingkungan produksi untuk digunakan oleh pengguna akhir.</a:t>
            </a:r>
          </a:p>
          <a:p>
            <a:pPr lvl="1"/>
            <a:r>
              <a:rPr lang="en-US" sz="2400" b="1"/>
              <a:t>Pemeliharaan (</a:t>
            </a:r>
            <a:r>
              <a:rPr lang="en-US" sz="2400" b="1" i="1"/>
              <a:t>Maintenance</a:t>
            </a:r>
            <a:r>
              <a:rPr lang="en-US" sz="2400" b="1"/>
              <a:t>)</a:t>
            </a:r>
            <a:r>
              <a:rPr lang="en-US" sz="2400"/>
              <a:t>: Dukungan terus-menerus untuk perbaikan </a:t>
            </a:r>
            <a:r>
              <a:rPr lang="en-US" sz="2400" i="1"/>
              <a:t>bug</a:t>
            </a:r>
            <a:r>
              <a:rPr lang="en-US" sz="2400"/>
              <a:t> dan pembaruan fitur</a:t>
            </a:r>
          </a:p>
        </p:txBody>
      </p:sp>
      <p:sp>
        <p:nvSpPr>
          <p:cNvPr id="3" name="Title 2"/>
          <p:cNvSpPr>
            <a:spLocks noGrp="1"/>
          </p:cNvSpPr>
          <p:nvPr>
            <p:ph type="title"/>
          </p:nvPr>
        </p:nvSpPr>
        <p:spPr/>
        <p:txBody>
          <a:bodyPr>
            <a:normAutofit/>
          </a:bodyPr>
          <a:lstStyle/>
          <a:p>
            <a:r>
              <a:rPr lang="en-US" sz="4400"/>
              <a:t>Tahapan utama dari SDLC</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r>
              <a:rPr lang="en-US" b="1"/>
              <a:t>Transparansi Proyek</a:t>
            </a:r>
            <a:r>
              <a:rPr lang="en-US"/>
              <a:t>: Meningkatkan komunikasi antara </a:t>
            </a:r>
            <a:r>
              <a:rPr lang="en-US" i="1"/>
              <a:t>stakeholder</a:t>
            </a:r>
            <a:r>
              <a:rPr lang="en-US"/>
              <a:t> dan tim pengembangan. transparansi dan visibilitas proses pembuatan dan pengelolaan </a:t>
            </a:r>
            <a:r>
              <a:rPr lang="en-US" i="1"/>
              <a:t>software</a:t>
            </a:r>
            <a:endParaRPr lang="en-US"/>
          </a:p>
          <a:p>
            <a:r>
              <a:rPr lang="en-US" b="1"/>
              <a:t>Peningkatan Kualitas</a:t>
            </a:r>
            <a:r>
              <a:rPr lang="en-US"/>
              <a:t>: Menghasilkan perangkat lunak yang andal dengan pengujian ketat.</a:t>
            </a:r>
          </a:p>
          <a:p>
            <a:r>
              <a:rPr lang="en-US" b="1"/>
              <a:t>Efisiensi Biaya dan Waktu</a:t>
            </a:r>
            <a:r>
              <a:rPr lang="en-US"/>
              <a:t>: Mengurangi pengerjaan ulang dengan perencanaan yang matan</a:t>
            </a:r>
          </a:p>
          <a:p>
            <a:r>
              <a:rPr lang="en-US"/>
              <a:t>Kontrol manajemen yang lebih baik atas seluruh proyek </a:t>
            </a:r>
          </a:p>
        </p:txBody>
      </p:sp>
      <p:sp>
        <p:nvSpPr>
          <p:cNvPr id="3" name="Title 2"/>
          <p:cNvSpPr>
            <a:spLocks noGrp="1"/>
          </p:cNvSpPr>
          <p:nvPr>
            <p:ph type="title"/>
          </p:nvPr>
        </p:nvSpPr>
        <p:spPr/>
        <p:txBody>
          <a:bodyPr/>
          <a:lstStyle/>
          <a:p>
            <a:r>
              <a:rPr lang="en-US"/>
              <a:t>Manfaat SDLC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a:t>SDLC (Software Development Life Cycle) membantu para pemangku kepentingan memperkirakan biaya dan jangka waktu proyek, mengidentifikasi potensi tantangan, dan mengatasi faktor risiko sejak dini dalam siklus pengembangan. SDLC juga membantu mengukur kemajuan pengembangan, meningkatkan dokumentasi dan transparansi, serta menyelaraskan proyek perangkat lunak dengan tujuan organisasi.</a:t>
            </a:r>
          </a:p>
        </p:txBody>
      </p:sp>
      <p:sp>
        <p:nvSpPr>
          <p:cNvPr id="3" name="Title 2"/>
          <p:cNvSpPr>
            <a:spLocks noGrp="1"/>
          </p:cNvSpPr>
          <p:nvPr>
            <p:ph type="title"/>
          </p:nvPr>
        </p:nvSpPr>
        <p:spPr/>
        <p:txBody>
          <a:bodyPr/>
          <a:lstStyle/>
          <a:p>
            <a:r>
              <a:rPr lang="en-US"/>
              <a:t>Manfaat SDLC</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109728" indent="0">
              <a:buNone/>
            </a:pPr>
            <a:r>
              <a:rPr lang="en-US" dirty="0" err="1"/>
              <a:t>Beberapa</a:t>
            </a:r>
            <a:r>
              <a:rPr lang="en-US" dirty="0"/>
              <a:t> model SDLC yang paling </a:t>
            </a:r>
            <a:r>
              <a:rPr lang="en-US" dirty="0" err="1"/>
              <a:t>populer</a:t>
            </a:r>
            <a:r>
              <a:rPr lang="en-US" dirty="0"/>
              <a:t> </a:t>
            </a:r>
            <a:r>
              <a:rPr lang="en-US" dirty="0" err="1"/>
              <a:t>adalah</a:t>
            </a:r>
            <a:r>
              <a:rPr lang="en-US" dirty="0"/>
              <a:t>:</a:t>
            </a:r>
          </a:p>
          <a:p>
            <a:r>
              <a:rPr lang="en-US" dirty="0"/>
              <a:t>Waterfall</a:t>
            </a:r>
          </a:p>
          <a:p>
            <a:r>
              <a:rPr lang="en-US" dirty="0"/>
              <a:t>Prototyping</a:t>
            </a:r>
          </a:p>
          <a:p>
            <a:r>
              <a:rPr lang="en-US" dirty="0"/>
              <a:t>Iterative</a:t>
            </a:r>
          </a:p>
          <a:p>
            <a:r>
              <a:rPr lang="en-US" dirty="0"/>
              <a:t>Spiral </a:t>
            </a:r>
          </a:p>
          <a:p>
            <a:r>
              <a:rPr lang="en-US" dirty="0"/>
              <a:t>RAD</a:t>
            </a:r>
          </a:p>
          <a:p>
            <a:r>
              <a:rPr lang="en-US" dirty="0"/>
              <a:t>Scrum </a:t>
            </a:r>
          </a:p>
          <a:p>
            <a:r>
              <a:rPr lang="en-US" dirty="0"/>
              <a:t>Agile</a:t>
            </a:r>
          </a:p>
          <a:p>
            <a:endParaRPr lang="en-US" dirty="0"/>
          </a:p>
        </p:txBody>
      </p:sp>
      <p:sp>
        <p:nvSpPr>
          <p:cNvPr id="3" name="Title 2"/>
          <p:cNvSpPr>
            <a:spLocks noGrp="1"/>
          </p:cNvSpPr>
          <p:nvPr>
            <p:ph type="title"/>
          </p:nvPr>
        </p:nvSpPr>
        <p:spPr/>
        <p:txBody>
          <a:bodyPr/>
          <a:lstStyle/>
          <a:p>
            <a:r>
              <a:rPr lang="en-US"/>
              <a:t>Model SDLC</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7500" lnSpcReduction="20000"/>
          </a:bodyPr>
          <a:lstStyle/>
          <a:p>
            <a:r>
              <a:rPr lang="en-US" i="1"/>
              <a:t>Software process </a:t>
            </a:r>
            <a:r>
              <a:rPr lang="en-US"/>
              <a:t>(proses perangkat lunak) adalah serangkaian aktivitas koheren, terstruktur, dan sistematis yang bertujuan untuk menentukan, merancang, mengimplementasikan, menguji, dan memelihara produk perangkat lunak. Proses ini bertindak sebagai kerangka kerja yang memandu tim pengembang untuk memastikan efisiensi dan kualitas, yang sering disinonimkan dengan </a:t>
            </a:r>
            <a:r>
              <a:rPr lang="en-US" i="1"/>
              <a:t>software development life cycle</a:t>
            </a:r>
            <a:r>
              <a:rPr lang="en-US"/>
              <a:t> (SDLC), metodologi pengembangan, atau rekayasa perangkat lunak. </a:t>
            </a:r>
          </a:p>
          <a:p>
            <a:pPr>
              <a:buNone/>
            </a:pPr>
            <a:endParaRPr lang="en-US"/>
          </a:p>
          <a:p>
            <a:pPr>
              <a:buNone/>
            </a:pPr>
            <a:r>
              <a:rPr lang="en-US"/>
              <a:t>Software process dapat didefinisikan sebagai berikut :</a:t>
            </a:r>
          </a:p>
          <a:p>
            <a:r>
              <a:rPr lang="sv-SE"/>
              <a:t>Merupakan suatu deskripsi proses yang dijadikan panduan kerja bagi para software </a:t>
            </a:r>
            <a:r>
              <a:rPr lang="en-US"/>
              <a:t>engineer dengan memetakan peran dan tanggung jawab mereka masing-masing.</a:t>
            </a:r>
          </a:p>
          <a:p>
            <a:r>
              <a:rPr lang="en-US"/>
              <a:t>Merupakan sekumpulan aktifitas yang ditujukan untuk melakukan pengembangan maupun evolusi software.</a:t>
            </a:r>
          </a:p>
        </p:txBody>
      </p:sp>
      <p:sp>
        <p:nvSpPr>
          <p:cNvPr id="3" name="Title 2"/>
          <p:cNvSpPr>
            <a:spLocks noGrp="1"/>
          </p:cNvSpPr>
          <p:nvPr>
            <p:ph type="title"/>
          </p:nvPr>
        </p:nvSpPr>
        <p:spPr/>
        <p:txBody>
          <a:bodyPr/>
          <a:lstStyle/>
          <a:p>
            <a:r>
              <a:rPr lang="en-US" i="1"/>
              <a:t>SOFTWARE PROCESS</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a:t>Merupakan suatu urutan langkah yang diperlukan dalam pengembangan atau pemeliharaan software.</a:t>
            </a:r>
          </a:p>
          <a:p>
            <a:r>
              <a:rPr lang="en-US"/>
              <a:t>Merupakan kerangka teknis dan manajemen untuk menerapkan metode, alat bantu(tool) serta komponen SDM dalam pengerjaan software.</a:t>
            </a:r>
          </a:p>
          <a:p>
            <a:r>
              <a:rPr lang="en-US"/>
              <a:t>(Menurut Ian Sommerville) : merupakan sekumpulan proses dan hasil yang terkait dengan proses tersebut dalam rangka pengembangan produk software</a:t>
            </a:r>
          </a:p>
        </p:txBody>
      </p:sp>
      <p:sp>
        <p:nvSpPr>
          <p:cNvPr id="3" name="Title 2"/>
          <p:cNvSpPr>
            <a:spLocks noGrp="1"/>
          </p:cNvSpPr>
          <p:nvPr>
            <p:ph type="title"/>
          </p:nvPr>
        </p:nvSpPr>
        <p:spPr/>
        <p:txBody>
          <a:bodyPr/>
          <a:lstStyle/>
          <a:p>
            <a:r>
              <a:rPr lang="en-US" i="1"/>
              <a:t>SOFTWARE PROCESS</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a:t>Untuk mengembangkan perangkat lunak secara memadai, proses pengembangan perangkat lunak harus didefinisikan terlebih dahulu.</a:t>
            </a:r>
          </a:p>
          <a:p>
            <a:r>
              <a:rPr lang="en-US"/>
              <a:t>Usaha yang berhubungan dengan rekayasa perangkat lunak dapat dikategorikan ke alam beberapa aktifitas dengan tanpa mempedulikan area aplikasi, ukuran proyek atau kompleksitasnya.</a:t>
            </a:r>
          </a:p>
        </p:txBody>
      </p:sp>
      <p:sp>
        <p:nvSpPr>
          <p:cNvPr id="3" name="Title 2"/>
          <p:cNvSpPr>
            <a:spLocks noGrp="1"/>
          </p:cNvSpPr>
          <p:nvPr>
            <p:ph type="title"/>
          </p:nvPr>
        </p:nvSpPr>
        <p:spPr/>
        <p:txBody>
          <a:bodyPr>
            <a:noAutofit/>
          </a:bodyPr>
          <a:lstStyle/>
          <a:p>
            <a:r>
              <a:rPr lang="pt-BR" sz="2800">
                <a:solidFill>
                  <a:schemeClr val="tx1"/>
                </a:solidFill>
                <a:effectLst/>
              </a:rPr>
              <a:t>AKTIFITAS UMUM DALAM </a:t>
            </a:r>
            <a:r>
              <a:rPr lang="pt-BR" sz="2800" i="1">
                <a:solidFill>
                  <a:schemeClr val="tx1"/>
                </a:solidFill>
                <a:effectLst/>
              </a:rPr>
              <a:t>SOFTWARE PROCESS</a:t>
            </a:r>
            <a:endParaRPr lang="en-US" sz="2800">
              <a:solidFill>
                <a:schemeClr val="tx1"/>
              </a:solidFill>
              <a:effectL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pt-BR" sz="2800">
                <a:solidFill>
                  <a:schemeClr val="tx1"/>
                </a:solidFill>
                <a:effectLst/>
              </a:rPr>
              <a:t>AKTIFITAS UMUM DALAM </a:t>
            </a:r>
            <a:r>
              <a:rPr lang="pt-BR" sz="2800" i="1">
                <a:solidFill>
                  <a:schemeClr val="tx1"/>
                </a:solidFill>
                <a:effectLst/>
              </a:rPr>
              <a:t>SOFTWARE PROCESS</a:t>
            </a:r>
            <a:endParaRPr lang="en-US" sz="2800"/>
          </a:p>
        </p:txBody>
      </p:sp>
      <p:pic>
        <p:nvPicPr>
          <p:cNvPr id="1026" name="Picture 2"/>
          <p:cNvPicPr>
            <a:picLocks noChangeAspect="1" noChangeArrowheads="1"/>
          </p:cNvPicPr>
          <p:nvPr/>
        </p:nvPicPr>
        <p:blipFill>
          <a:blip r:embed="rId2"/>
          <a:srcRect/>
          <a:stretch>
            <a:fillRect/>
          </a:stretch>
        </p:blipFill>
        <p:spPr bwMode="auto">
          <a:xfrm>
            <a:off x="1447800" y="1085850"/>
            <a:ext cx="6680200" cy="5010150"/>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09600"/>
            <a:ext cx="8229600" cy="5397691"/>
          </a:xfrm>
        </p:spPr>
        <p:txBody>
          <a:bodyPr>
            <a:normAutofit fontScale="85000" lnSpcReduction="20000"/>
          </a:bodyPr>
          <a:lstStyle/>
          <a:p>
            <a:r>
              <a:rPr lang="en-US" b="1"/>
              <a:t>Requirement</a:t>
            </a:r>
            <a:r>
              <a:rPr lang="en-US"/>
              <a:t>. </a:t>
            </a:r>
          </a:p>
          <a:p>
            <a:pPr lvl="1"/>
            <a:r>
              <a:rPr lang="en-US" sz="2400"/>
              <a:t>Merupakan aktifitas dimana didefinisikan mengenai “apa” (what) yang akan dibangun terkait dengan produk perangkat lunak yang akan dihasilkan. </a:t>
            </a:r>
          </a:p>
          <a:p>
            <a:pPr lvl="1"/>
            <a:r>
              <a:rPr lang="en-US" sz="2400"/>
              <a:t>Dari aktifitas ini akan diperoleh pernyataan global mengenai kegunaan sistem serta ketersediaan sumber daya yang akan mendukung pembangunan sistem seperti : kebutuhan sumber daya waktu, biaya dan tenaga (manusia).</a:t>
            </a:r>
          </a:p>
          <a:p>
            <a:r>
              <a:rPr lang="en-US" b="1"/>
              <a:t>Specification</a:t>
            </a:r>
            <a:r>
              <a:rPr lang="en-US"/>
              <a:t>. </a:t>
            </a:r>
          </a:p>
          <a:p>
            <a:pPr lvl="1"/>
            <a:r>
              <a:rPr lang="sv-SE"/>
              <a:t>Merupakan aktifitas dimana kebutuhan pelanggan (requirement) yang telah ditetapkan </a:t>
            </a:r>
            <a:r>
              <a:rPr lang="en-US"/>
              <a:t>ditransformasikan ke dalam kebutuhan sistem. </a:t>
            </a:r>
          </a:p>
          <a:p>
            <a:pPr lvl="1"/>
            <a:r>
              <a:rPr lang="en-US"/>
              <a:t>Dari aktifitas ini akan diperoleh spesifikasi detil mengenai produk perangkat lunak yang akan dibangun antara lain seputar fungsionalitasnya (mengidentifikasikan informasi apa yang akan diproses, fungsi dan unjuk kerja apa yang dibutuhkan, tingkah laku sistem seperti apa yang diharapkan), kebutuhan perangkat keras dan perangkat lunak pendukung dalam pembangunannya, dan lain-lain.</a:t>
            </a:r>
          </a:p>
          <a:p>
            <a:endParaRPr lang="en-US"/>
          </a:p>
          <a:p>
            <a:pPr>
              <a:buNone/>
            </a:pP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85800"/>
            <a:ext cx="8229600" cy="5321491"/>
          </a:xfrm>
        </p:spPr>
        <p:txBody>
          <a:bodyPr>
            <a:normAutofit fontScale="92500" lnSpcReduction="10000"/>
          </a:bodyPr>
          <a:lstStyle/>
          <a:p>
            <a:r>
              <a:rPr lang="en-US" b="1"/>
              <a:t>Design</a:t>
            </a:r>
            <a:r>
              <a:rPr lang="en-US"/>
              <a:t> </a:t>
            </a:r>
          </a:p>
          <a:p>
            <a:pPr lvl="1"/>
            <a:r>
              <a:rPr lang="en-US"/>
              <a:t>Merupakan aktifitas dimana hasil analisis kebutuhan dan spesifikasi sistem dibentuk dalam suatu model. </a:t>
            </a:r>
          </a:p>
          <a:p>
            <a:pPr lvl="1"/>
            <a:r>
              <a:rPr lang="nn-NO"/>
              <a:t>Pengembang harus mendefinisikan bagaimana data dikonstruksikan, </a:t>
            </a:r>
            <a:r>
              <a:rPr lang="en-US"/>
              <a:t>bagaimana fungsi-fungsi diimplementasikan sebagai sebuah arsitektur perangkat lunak, bagaimana detail prosedur akan diimplementasikan, bagaimana interface ditandai (dikarakterisasi). </a:t>
            </a:r>
          </a:p>
          <a:p>
            <a:pPr lvl="1"/>
            <a:r>
              <a:rPr lang="en-US"/>
              <a:t>Dalam membuat pemodelan, pengembang dapat menggambarkan pemodelan berdasarkan prilaku sistem ataupun secara struktural. </a:t>
            </a:r>
          </a:p>
          <a:p>
            <a:pPr lvl="1"/>
            <a:r>
              <a:rPr lang="en-US"/>
              <a:t>Dari aktifitas ini akan diperoleh penggambaran sistem dalam bentuk model semacam use case diagram, data flow diagram, sequence diagram, entity relationship diagram, dan lain-lain.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533400"/>
            <a:ext cx="8229600" cy="5473891"/>
          </a:xfrm>
        </p:spPr>
        <p:txBody>
          <a:bodyPr/>
          <a:lstStyle/>
          <a:p>
            <a:r>
              <a:rPr lang="en-US" sz="2400" b="1"/>
              <a:t>Code</a:t>
            </a:r>
            <a:r>
              <a:rPr lang="en-US" sz="2400"/>
              <a:t> </a:t>
            </a:r>
            <a:endParaRPr lang="en-US"/>
          </a:p>
          <a:p>
            <a:pPr lvl="1"/>
            <a:r>
              <a:rPr lang="en-US"/>
              <a:t>Merupakan aktifitas dimana hasil rancangan (model) dari tahapan sebelumnya </a:t>
            </a:r>
            <a:r>
              <a:rPr lang="sv-SE"/>
              <a:t>diterjemahkan dalam bentuk coding program pada sebuah bahasa pemrograman.</a:t>
            </a:r>
          </a:p>
          <a:p>
            <a:pPr lvl="1">
              <a:buNone/>
            </a:pPr>
            <a:endParaRPr lang="sv-SE"/>
          </a:p>
          <a:p>
            <a:r>
              <a:rPr lang="sv-SE" sz="2400" b="1"/>
              <a:t>Test (verification dan validation) </a:t>
            </a:r>
          </a:p>
          <a:p>
            <a:pPr lvl="1"/>
            <a:r>
              <a:rPr lang="en-US"/>
              <a:t>Setelah rancangan diterjemahkan ke dalam bentuk coding program selanjutnya akan dilakukan proses pengujian untuk memastikan apakah aplikasi yang dibangun sudah sesuai dengan spesifikasi dan kebutuhan pelanggan yang ditahapan awal ditetapkan.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85800"/>
            <a:ext cx="8229600" cy="5321491"/>
          </a:xfrm>
        </p:spPr>
        <p:txBody>
          <a:bodyPr>
            <a:normAutofit lnSpcReduction="10000"/>
          </a:bodyPr>
          <a:lstStyle/>
          <a:p>
            <a:r>
              <a:rPr lang="en-US" sz="2600" b="1"/>
              <a:t>Debug</a:t>
            </a:r>
            <a:r>
              <a:rPr lang="en-US" sz="2600"/>
              <a:t> </a:t>
            </a:r>
            <a:endParaRPr lang="en-US"/>
          </a:p>
          <a:p>
            <a:pPr lvl="1"/>
            <a:r>
              <a:rPr lang="en-US" sz="2400"/>
              <a:t>Merupakan tahapan dimana akan dilakukan proses perbaikan yang diperlukan apabila pada fase pengujian masih ditemukan adanya kesalahan.</a:t>
            </a:r>
          </a:p>
          <a:p>
            <a:pPr lvl="1">
              <a:buNone/>
            </a:pPr>
            <a:endParaRPr lang="en-US" sz="2400"/>
          </a:p>
          <a:p>
            <a:r>
              <a:rPr lang="en-US" sz="2600" b="1"/>
              <a:t>Maintenance </a:t>
            </a:r>
            <a:endParaRPr lang="en-US" sz="2400" b="1"/>
          </a:p>
          <a:p>
            <a:pPr lvl="1"/>
            <a:r>
              <a:rPr lang="sv-SE" sz="2400"/>
              <a:t>Aktifitas ini berfokus pada perubahan, yang dihubungkan dengan koreksi </a:t>
            </a:r>
            <a:r>
              <a:rPr lang="en-US" sz="2400"/>
              <a:t>kesalahan, penyesuaian yang dibutuhkan ketika lingkungan perangkat lunak berkembang, serta perubahan sehubungan dengan perkembangan yang disebabkan oleh perubahan kebutuhan pelanggan.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09600"/>
            <a:ext cx="8229600" cy="5397691"/>
          </a:xfrm>
        </p:spPr>
        <p:txBody>
          <a:bodyPr>
            <a:normAutofit/>
          </a:bodyPr>
          <a:lstStyle/>
          <a:p>
            <a:pPr marL="290513" lvl="1"/>
            <a:r>
              <a:rPr lang="en-US"/>
              <a:t>Fase pemeliharaan mengaplikasikan lagi langkahlangkah pada fase definisi dan fase pengembangan, tetapi semuanya tetap bergantung pada konteks perangkat lunak yang ada. Ada empat tipe perubahan yang terjadi selama masa fase pengembangan yaitu: koreksi, adaptasi, pengembangan, dan pencegahan</a:t>
            </a:r>
          </a:p>
          <a:p>
            <a:pPr marL="290513" lvl="1"/>
            <a:endParaRPr lang="en-US"/>
          </a:p>
          <a:p>
            <a:pPr marL="566738" lvl="2"/>
            <a:r>
              <a:rPr lang="en-US"/>
              <a:t>Koreksi (</a:t>
            </a:r>
            <a:r>
              <a:rPr lang="en-US" i="1"/>
              <a:t>corrective</a:t>
            </a:r>
            <a:r>
              <a:rPr lang="en-US"/>
              <a:t>) </a:t>
            </a:r>
          </a:p>
          <a:p>
            <a:pPr marL="563563" indent="0">
              <a:buNone/>
            </a:pPr>
            <a:r>
              <a:rPr lang="en-US" sz="2000"/>
              <a:t>Meskipun dengan jaminan kualitas yang terbaik, sepertinya pelanggan akan tetap menemukan cacat pada perangkat lunak. Pemeliharaan korektif mengubah perangkat lunak, membetulkan cacat atau rusak</a:t>
            </a:r>
          </a:p>
          <a:p>
            <a:pPr lvl="1"/>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457200"/>
            <a:ext cx="8229600" cy="5550091"/>
          </a:xfrm>
        </p:spPr>
        <p:txBody>
          <a:bodyPr>
            <a:normAutofit/>
          </a:bodyPr>
          <a:lstStyle/>
          <a:p>
            <a:pPr marL="228600" lvl="2"/>
            <a:r>
              <a:rPr lang="en-US" sz="2400"/>
              <a:t>Adaptasi (</a:t>
            </a:r>
            <a:r>
              <a:rPr lang="en-US" sz="2400" i="1"/>
              <a:t>adaptive</a:t>
            </a:r>
            <a:r>
              <a:rPr lang="en-US" sz="2400"/>
              <a:t>)</a:t>
            </a:r>
          </a:p>
          <a:p>
            <a:pPr>
              <a:buNone/>
            </a:pPr>
            <a:r>
              <a:rPr lang="en-US" sz="2800"/>
              <a:t>	</a:t>
            </a:r>
            <a:r>
              <a:rPr lang="en-US" sz="2000"/>
              <a:t>Dari waktu ke waktu, lingkungan original (contohnya CPU, sistem operasi, aturanaturan bisnis, karakterisasi produk eksternal) dimana perangkat lunak </a:t>
            </a:r>
            <a:r>
              <a:rPr lang="sv-SE" sz="2000"/>
              <a:t>dikembangkan akan terus berubah. Pemeliharaan adaptif menghasilkan modifikasi </a:t>
            </a:r>
            <a:r>
              <a:rPr lang="en-US" sz="2000"/>
              <a:t>kepada perangkat lunak untuk mengakomodasi perubahan pada kebutuhan fungsional original.</a:t>
            </a:r>
          </a:p>
          <a:p>
            <a:pPr>
              <a:buNone/>
            </a:pPr>
            <a:endParaRPr lang="en-US" sz="2000"/>
          </a:p>
          <a:p>
            <a:pPr marL="228600" lvl="2"/>
            <a:r>
              <a:rPr lang="en-US" sz="2600"/>
              <a:t>Pengembangan (</a:t>
            </a:r>
            <a:r>
              <a:rPr lang="en-US" sz="2600" i="1"/>
              <a:t>perfective</a:t>
            </a:r>
            <a:r>
              <a:rPr lang="en-US" sz="2600"/>
              <a:t>)</a:t>
            </a:r>
          </a:p>
          <a:p>
            <a:pPr>
              <a:buNone/>
            </a:pPr>
            <a:r>
              <a:rPr lang="en-US" sz="2800"/>
              <a:t>	</a:t>
            </a:r>
            <a:r>
              <a:rPr lang="en-US" sz="2200"/>
              <a:t>Ketika perangkat lunak dipakai, pelanggan akan mengenali fungsi-sungsi tambahan yang memberi mereka keuntungan. Pemeliharaan perfektif memperluas perangkat lunak sehingga melampaui kebutuhan fungsi originalnya.</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533400"/>
            <a:ext cx="8229600" cy="5473891"/>
          </a:xfrm>
        </p:spPr>
        <p:txBody>
          <a:bodyPr>
            <a:normAutofit/>
          </a:bodyPr>
          <a:lstStyle/>
          <a:p>
            <a:pPr marL="295275" lvl="2"/>
            <a:r>
              <a:rPr lang="en-US" sz="2800"/>
              <a:t>Pencegahan (</a:t>
            </a:r>
            <a:r>
              <a:rPr lang="en-US" sz="2800" i="1"/>
              <a:t>preventive</a:t>
            </a:r>
            <a:r>
              <a:rPr lang="en-US" sz="2800"/>
              <a:t>)</a:t>
            </a:r>
          </a:p>
          <a:p>
            <a:pPr>
              <a:buNone/>
            </a:pPr>
            <a:r>
              <a:rPr lang="en-US" sz="2400"/>
              <a:t>	Keadaan perangkat lunak semakin memburuk sehubungan dengan waktu, dan karena itu preventive maintenance yang sering juga disebut software engineering (rekayasa perangkat lunak), harus dilakukan untuk memungkinkan perangkat lunak melayani kebutuhan para pemakainya. Pada dasarnya preventive maintenance melakukan perubahan pada program komputer sehingga bisa menjadi lebih mudah untuk dikoreksi, disesuaikan dan dikembangkan.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a:t>Understandability</a:t>
            </a:r>
          </a:p>
          <a:p>
            <a:pPr lvl="1"/>
            <a:r>
              <a:rPr lang="en-US"/>
              <a:t>Proses secara eksplisit didefinisikan sehingga mudah dipahami bagi siapapun yang terlibat di dalam proses pengembangan</a:t>
            </a:r>
          </a:p>
          <a:p>
            <a:r>
              <a:rPr lang="en-US"/>
              <a:t>Visibility</a:t>
            </a:r>
          </a:p>
          <a:p>
            <a:pPr lvl="1"/>
            <a:r>
              <a:rPr lang="nb-NO"/>
              <a:t>Aktifitas proses memberi hasil yang jelas sehingga kemajuan proses dapat terlihat </a:t>
            </a:r>
            <a:r>
              <a:rPr lang="en-US"/>
              <a:t>dari luar pihak pengembang</a:t>
            </a:r>
          </a:p>
          <a:p>
            <a:r>
              <a:rPr lang="en-US"/>
              <a:t>Supportability </a:t>
            </a:r>
          </a:p>
          <a:p>
            <a:pPr lvl="1"/>
            <a:r>
              <a:rPr lang="en-US"/>
              <a:t>Proses dapat didukung oleh teknologi semacam CASE tools.</a:t>
            </a:r>
          </a:p>
          <a:p>
            <a:endParaRPr lang="en-US"/>
          </a:p>
        </p:txBody>
      </p:sp>
      <p:sp>
        <p:nvSpPr>
          <p:cNvPr id="3" name="Title 2"/>
          <p:cNvSpPr>
            <a:spLocks noGrp="1"/>
          </p:cNvSpPr>
          <p:nvPr>
            <p:ph type="title"/>
          </p:nvPr>
        </p:nvSpPr>
        <p:spPr/>
        <p:txBody>
          <a:bodyPr>
            <a:normAutofit/>
          </a:bodyPr>
          <a:lstStyle/>
          <a:p>
            <a:r>
              <a:rPr lang="sv-SE" sz="3200">
                <a:effectLst/>
              </a:rPr>
              <a:t>KARAKTERISTIK </a:t>
            </a:r>
            <a:r>
              <a:rPr lang="sv-SE" sz="3200" i="1">
                <a:effectLst/>
              </a:rPr>
              <a:t>SOFTWARE PROCESS </a:t>
            </a:r>
            <a:r>
              <a:rPr lang="sv-SE" sz="3200">
                <a:effectLst/>
              </a:rPr>
              <a:t>YANG BAIK</a:t>
            </a:r>
            <a:endParaRPr lang="en-US" sz="3200">
              <a:effectLs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a:t>Acceptability </a:t>
            </a:r>
          </a:p>
          <a:p>
            <a:pPr lvl="1"/>
            <a:r>
              <a:rPr lang="en-US"/>
              <a:t>Penerimaan atas proses yang terdefinisi dan yang digunakan oleh software engineer selama pembangunan produk perangkat lunak</a:t>
            </a:r>
          </a:p>
          <a:p>
            <a:pPr lvl="1">
              <a:buNone/>
            </a:pPr>
            <a:endParaRPr lang="en-US"/>
          </a:p>
          <a:p>
            <a:r>
              <a:rPr lang="en-US"/>
              <a:t>Reliability </a:t>
            </a:r>
          </a:p>
          <a:p>
            <a:pPr lvl="1"/>
            <a:r>
              <a:rPr lang="en-US"/>
              <a:t>Proses didisain dengan suatu metode untuk menghindar dari kesalahan, dan apabila ada kesalahan dapat terdeteksi sedini mungkin sebelum mengakibatkan cacat pada produk akhir</a:t>
            </a:r>
          </a:p>
        </p:txBody>
      </p:sp>
      <p:sp>
        <p:nvSpPr>
          <p:cNvPr id="3" name="Title 2"/>
          <p:cNvSpPr>
            <a:spLocks noGrp="1"/>
          </p:cNvSpPr>
          <p:nvPr>
            <p:ph type="title"/>
          </p:nvPr>
        </p:nvSpPr>
        <p:spPr/>
        <p:txBody>
          <a:bodyPr>
            <a:noAutofit/>
          </a:bodyPr>
          <a:lstStyle/>
          <a:p>
            <a:r>
              <a:rPr lang="sv-SE" sz="3200">
                <a:effectLst/>
              </a:rPr>
              <a:t>KARAKTERISTIK </a:t>
            </a:r>
            <a:r>
              <a:rPr lang="sv-SE" sz="3200" i="1">
                <a:effectLst/>
              </a:rPr>
              <a:t>SOFTWARE PROCESS </a:t>
            </a:r>
            <a:r>
              <a:rPr lang="sv-SE" sz="3200">
                <a:effectLst/>
              </a:rPr>
              <a:t>YANG BAIK</a:t>
            </a:r>
            <a:endParaRPr lang="en-US" sz="32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a:t>Robustness</a:t>
            </a:r>
          </a:p>
          <a:p>
            <a:pPr lvl="1"/>
            <a:r>
              <a:rPr lang="en-US"/>
              <a:t>Proses dapat terus dilanjutkan meskipun terdapat masalah yang tidak diharapkan muncul.</a:t>
            </a:r>
          </a:p>
          <a:p>
            <a:r>
              <a:rPr lang="en-US"/>
              <a:t>Maintainability</a:t>
            </a:r>
          </a:p>
          <a:p>
            <a:pPr lvl="1"/>
            <a:r>
              <a:rPr lang="en-US"/>
              <a:t>Proses dapat mengadaptasi terhadap permintaan perubahan ataupun perbaikan</a:t>
            </a:r>
          </a:p>
          <a:p>
            <a:r>
              <a:rPr lang="en-US"/>
              <a:t>Rapidity</a:t>
            </a:r>
          </a:p>
          <a:p>
            <a:pPr lvl="1"/>
            <a:r>
              <a:rPr lang="en-US"/>
              <a:t>Proses dapat diselesaikan dalam waktu yang relatif cepat</a:t>
            </a:r>
          </a:p>
        </p:txBody>
      </p:sp>
      <p:sp>
        <p:nvSpPr>
          <p:cNvPr id="3" name="Title 2"/>
          <p:cNvSpPr>
            <a:spLocks noGrp="1"/>
          </p:cNvSpPr>
          <p:nvPr>
            <p:ph type="title"/>
          </p:nvPr>
        </p:nvSpPr>
        <p:spPr/>
        <p:txBody>
          <a:bodyPr>
            <a:noAutofit/>
          </a:bodyPr>
          <a:lstStyle/>
          <a:p>
            <a:r>
              <a:rPr lang="sv-SE" sz="3200">
                <a:effectLst/>
              </a:rPr>
              <a:t>KARAKTERISTIK </a:t>
            </a:r>
            <a:r>
              <a:rPr lang="sv-SE" sz="3200" i="1">
                <a:effectLst/>
              </a:rPr>
              <a:t>SOFTWARE PROCESS </a:t>
            </a:r>
            <a:r>
              <a:rPr lang="sv-SE" sz="3200">
                <a:effectLst/>
              </a:rPr>
              <a:t>YANG BAIK</a:t>
            </a:r>
            <a:endParaRPr lang="en-US" sz="32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7E35EC2-E325-74EC-6B45-7277F483255F}"/>
              </a:ext>
            </a:extLst>
          </p:cNvPr>
          <p:cNvSpPr>
            <a:spLocks noGrp="1"/>
          </p:cNvSpPr>
          <p:nvPr>
            <p:ph idx="1"/>
          </p:nvPr>
        </p:nvSpPr>
        <p:spPr/>
        <p:txBody>
          <a:bodyPr>
            <a:normAutofit fontScale="77500" lnSpcReduction="20000"/>
          </a:bodyPr>
          <a:lstStyle/>
          <a:p>
            <a:pPr lvl="0"/>
            <a:r>
              <a:rPr lang="en-ID" sz="2800" b="1" dirty="0" err="1"/>
              <a:t>roduct</a:t>
            </a:r>
            <a:r>
              <a:rPr lang="en-ID" sz="2800" b="1" dirty="0"/>
              <a:t> Owner (</a:t>
            </a:r>
            <a:r>
              <a:rPr lang="en-ID" sz="2800" b="1" dirty="0" err="1"/>
              <a:t>Pemilik</a:t>
            </a:r>
            <a:r>
              <a:rPr lang="en-ID" sz="2800" b="1" dirty="0"/>
              <a:t> </a:t>
            </a:r>
            <a:r>
              <a:rPr lang="en-ID" sz="2800" b="1" dirty="0" err="1"/>
              <a:t>Produk</a:t>
            </a:r>
            <a:r>
              <a:rPr lang="en-ID" sz="2800" b="1" dirty="0"/>
              <a:t>)</a:t>
            </a:r>
            <a:r>
              <a:rPr lang="en-ID" sz="2800" dirty="0"/>
              <a:t>: </a:t>
            </a:r>
            <a:r>
              <a:rPr lang="en-ID" sz="2800" dirty="0" err="1"/>
              <a:t>Menentukan</a:t>
            </a:r>
            <a:r>
              <a:rPr lang="en-ID" sz="2800" dirty="0"/>
              <a:t> </a:t>
            </a:r>
            <a:r>
              <a:rPr lang="en-ID" sz="2800" dirty="0" err="1"/>
              <a:t>arah</a:t>
            </a:r>
            <a:r>
              <a:rPr lang="en-ID" sz="2800" dirty="0"/>
              <a:t> dan </a:t>
            </a:r>
            <a:r>
              <a:rPr lang="en-ID" sz="2800" dirty="0" err="1"/>
              <a:t>fitur</a:t>
            </a:r>
            <a:r>
              <a:rPr lang="en-ID" sz="2800" dirty="0"/>
              <a:t> </a:t>
            </a:r>
            <a:r>
              <a:rPr lang="en-ID" sz="2800" dirty="0" err="1"/>
              <a:t>produk</a:t>
            </a:r>
            <a:r>
              <a:rPr lang="en-ID" sz="2800" dirty="0"/>
              <a:t> </a:t>
            </a:r>
            <a:r>
              <a:rPr lang="en-ID" sz="2800" dirty="0" err="1"/>
              <a:t>berdasarkan</a:t>
            </a:r>
            <a:r>
              <a:rPr lang="en-ID" sz="2800" dirty="0"/>
              <a:t> </a:t>
            </a:r>
            <a:r>
              <a:rPr lang="en-ID" sz="2800" dirty="0" err="1"/>
              <a:t>kebutuhan</a:t>
            </a:r>
            <a:r>
              <a:rPr lang="en-ID" sz="2800" dirty="0"/>
              <a:t> </a:t>
            </a:r>
            <a:r>
              <a:rPr lang="en-ID" sz="2800" dirty="0" err="1"/>
              <a:t>pengguna</a:t>
            </a:r>
            <a:r>
              <a:rPr lang="en-ID" sz="2800" dirty="0"/>
              <a:t> dan </a:t>
            </a:r>
            <a:r>
              <a:rPr lang="en-ID" sz="2800" dirty="0" err="1"/>
              <a:t>bisnis</a:t>
            </a:r>
            <a:r>
              <a:rPr lang="en-ID" sz="2800" dirty="0"/>
              <a:t>.</a:t>
            </a:r>
          </a:p>
          <a:p>
            <a:pPr lvl="1"/>
            <a:r>
              <a:rPr lang="en-ID" sz="2400" dirty="0"/>
              <a:t>Menyusun dan </a:t>
            </a:r>
            <a:r>
              <a:rPr lang="en-ID" sz="2400" dirty="0" err="1"/>
              <a:t>memprioritaskan</a:t>
            </a:r>
            <a:r>
              <a:rPr lang="en-ID" sz="2400" dirty="0"/>
              <a:t> daftar </a:t>
            </a:r>
            <a:r>
              <a:rPr lang="en-ID" sz="2400" dirty="0" err="1"/>
              <a:t>tugas</a:t>
            </a:r>
            <a:r>
              <a:rPr lang="en-ID" sz="2400" dirty="0"/>
              <a:t> (</a:t>
            </a:r>
            <a:r>
              <a:rPr lang="en-ID" sz="2400" i="1" dirty="0"/>
              <a:t>backlog</a:t>
            </a:r>
            <a:r>
              <a:rPr lang="en-ID" sz="2400" dirty="0"/>
              <a:t>).</a:t>
            </a:r>
          </a:p>
          <a:p>
            <a:pPr lvl="1"/>
            <a:r>
              <a:rPr lang="en-ID" sz="2400" dirty="0" err="1"/>
              <a:t>Menjadi</a:t>
            </a:r>
            <a:r>
              <a:rPr lang="en-ID" sz="2400" dirty="0"/>
              <a:t> </a:t>
            </a:r>
            <a:r>
              <a:rPr lang="en-ID" sz="2400" dirty="0" err="1"/>
              <a:t>jembatan</a:t>
            </a:r>
            <a:r>
              <a:rPr lang="en-ID" sz="2400" dirty="0"/>
              <a:t> </a:t>
            </a:r>
            <a:r>
              <a:rPr lang="en-ID" sz="2400" dirty="0" err="1"/>
              <a:t>antara</a:t>
            </a:r>
            <a:r>
              <a:rPr lang="en-ID" sz="2400" dirty="0"/>
              <a:t> </a:t>
            </a:r>
            <a:r>
              <a:rPr lang="en-ID" sz="2400" dirty="0" err="1"/>
              <a:t>klien</a:t>
            </a:r>
            <a:r>
              <a:rPr lang="en-ID" sz="2400" dirty="0"/>
              <a:t>/</a:t>
            </a:r>
            <a:r>
              <a:rPr lang="en-ID" sz="2400" dirty="0" err="1"/>
              <a:t>bisnis</a:t>
            </a:r>
            <a:r>
              <a:rPr lang="en-ID" sz="2400" dirty="0"/>
              <a:t> </a:t>
            </a:r>
            <a:r>
              <a:rPr lang="en-ID" sz="2400" dirty="0" err="1"/>
              <a:t>dengan</a:t>
            </a:r>
            <a:r>
              <a:rPr lang="en-ID" sz="2400" dirty="0"/>
              <a:t> </a:t>
            </a:r>
            <a:r>
              <a:rPr lang="en-ID" sz="2400" dirty="0" err="1"/>
              <a:t>tim</a:t>
            </a:r>
            <a:r>
              <a:rPr lang="en-ID" sz="2400" dirty="0"/>
              <a:t> </a:t>
            </a:r>
            <a:r>
              <a:rPr lang="en-ID" sz="2400" dirty="0" err="1"/>
              <a:t>pengembang</a:t>
            </a:r>
            <a:r>
              <a:rPr lang="en-ID" sz="2400" dirty="0"/>
              <a:t>.</a:t>
            </a:r>
          </a:p>
          <a:p>
            <a:pPr lvl="0"/>
            <a:r>
              <a:rPr lang="en-ID" sz="2800" b="1" dirty="0"/>
              <a:t>Scrum Master / Project Manager (</a:t>
            </a:r>
            <a:r>
              <a:rPr lang="en-ID" sz="2800" b="1" dirty="0" err="1"/>
              <a:t>Manajer</a:t>
            </a:r>
            <a:r>
              <a:rPr lang="en-ID" sz="2800" b="1" dirty="0"/>
              <a:t> </a:t>
            </a:r>
            <a:r>
              <a:rPr lang="en-ID" sz="2800" b="1" dirty="0" err="1"/>
              <a:t>Proyek</a:t>
            </a:r>
            <a:r>
              <a:rPr lang="en-ID" sz="2800" b="1" dirty="0"/>
              <a:t>)</a:t>
            </a:r>
            <a:r>
              <a:rPr lang="en-ID" sz="2800" dirty="0"/>
              <a:t>: </a:t>
            </a:r>
            <a:r>
              <a:rPr lang="en-ID" sz="2800" dirty="0" err="1"/>
              <a:t>Memastikan</a:t>
            </a:r>
            <a:r>
              <a:rPr lang="en-ID" sz="2800" dirty="0"/>
              <a:t> </a:t>
            </a:r>
            <a:r>
              <a:rPr lang="en-ID" sz="2800" dirty="0" err="1"/>
              <a:t>proyek</a:t>
            </a:r>
            <a:r>
              <a:rPr lang="en-ID" sz="2800" dirty="0"/>
              <a:t> </a:t>
            </a:r>
            <a:r>
              <a:rPr lang="en-ID" sz="2800" dirty="0" err="1"/>
              <a:t>berjalan</a:t>
            </a:r>
            <a:r>
              <a:rPr lang="en-ID" sz="2800" dirty="0"/>
              <a:t> </a:t>
            </a:r>
            <a:r>
              <a:rPr lang="en-ID" sz="2800" dirty="0" err="1"/>
              <a:t>lancar</a:t>
            </a:r>
            <a:r>
              <a:rPr lang="en-ID" sz="2800" dirty="0"/>
              <a:t> dan </a:t>
            </a:r>
            <a:r>
              <a:rPr lang="en-ID" sz="2800" dirty="0" err="1"/>
              <a:t>sesuai</a:t>
            </a:r>
            <a:r>
              <a:rPr lang="en-ID" sz="2800" dirty="0"/>
              <a:t> </a:t>
            </a:r>
            <a:r>
              <a:rPr lang="en-ID" sz="2800" dirty="0" err="1"/>
              <a:t>jadwal</a:t>
            </a:r>
            <a:r>
              <a:rPr lang="en-ID" sz="2800" dirty="0"/>
              <a:t>.</a:t>
            </a:r>
          </a:p>
          <a:p>
            <a:pPr lvl="1"/>
            <a:r>
              <a:rPr lang="en-ID" sz="2400" dirty="0" err="1"/>
              <a:t>Menghilangkan</a:t>
            </a:r>
            <a:r>
              <a:rPr lang="en-ID" sz="2400" dirty="0"/>
              <a:t> </a:t>
            </a:r>
            <a:r>
              <a:rPr lang="en-ID" sz="2400" dirty="0" err="1"/>
              <a:t>hambatan</a:t>
            </a:r>
            <a:r>
              <a:rPr lang="en-ID" sz="2400" dirty="0"/>
              <a:t> yang </a:t>
            </a:r>
            <a:r>
              <a:rPr lang="en-ID" sz="2400" dirty="0" err="1"/>
              <a:t>dialami</a:t>
            </a:r>
            <a:r>
              <a:rPr lang="en-ID" sz="2400" dirty="0"/>
              <a:t> </a:t>
            </a:r>
            <a:r>
              <a:rPr lang="en-ID" sz="2400" dirty="0" err="1"/>
              <a:t>tim.</a:t>
            </a:r>
            <a:endParaRPr lang="en-ID" sz="2400" dirty="0"/>
          </a:p>
          <a:p>
            <a:pPr lvl="1"/>
            <a:r>
              <a:rPr lang="en-ID" sz="2400" dirty="0" err="1"/>
              <a:t>Mengatur</a:t>
            </a:r>
            <a:r>
              <a:rPr lang="en-ID" sz="2400" dirty="0"/>
              <a:t> </a:t>
            </a:r>
            <a:r>
              <a:rPr lang="en-ID" sz="2400" dirty="0" err="1"/>
              <a:t>jalannya</a:t>
            </a:r>
            <a:r>
              <a:rPr lang="en-ID" sz="2400" dirty="0"/>
              <a:t> </a:t>
            </a:r>
            <a:r>
              <a:rPr lang="en-ID" sz="2400" dirty="0" err="1"/>
              <a:t>rapat</a:t>
            </a:r>
            <a:r>
              <a:rPr lang="en-ID" sz="2400" dirty="0"/>
              <a:t> rutin dan </a:t>
            </a:r>
            <a:r>
              <a:rPr lang="en-ID" sz="2400" dirty="0" err="1"/>
              <a:t>komunikasi</a:t>
            </a:r>
            <a:r>
              <a:rPr lang="en-ID" sz="2400" dirty="0"/>
              <a:t> </a:t>
            </a:r>
            <a:r>
              <a:rPr lang="en-ID" sz="2400" dirty="0" err="1"/>
              <a:t>dalam</a:t>
            </a:r>
            <a:r>
              <a:rPr lang="en-ID" sz="2400" dirty="0"/>
              <a:t> </a:t>
            </a:r>
            <a:r>
              <a:rPr lang="en-ID" sz="2400" dirty="0" err="1"/>
              <a:t>tim.</a:t>
            </a:r>
            <a:endParaRPr lang="en-ID" sz="2400" dirty="0"/>
          </a:p>
          <a:p>
            <a:pPr lvl="0"/>
            <a:r>
              <a:rPr lang="en-ID" sz="2800" b="1" dirty="0"/>
              <a:t>Software Engineer / Developer (</a:t>
            </a:r>
            <a:r>
              <a:rPr lang="en-ID" sz="2800" b="1" dirty="0" err="1"/>
              <a:t>Pengembang</a:t>
            </a:r>
            <a:r>
              <a:rPr lang="en-ID" sz="2800" b="1" dirty="0"/>
              <a:t> </a:t>
            </a:r>
            <a:r>
              <a:rPr lang="en-ID" sz="2800" b="1" dirty="0" err="1"/>
              <a:t>Perangkat</a:t>
            </a:r>
            <a:r>
              <a:rPr lang="en-ID" sz="2800" b="1" dirty="0"/>
              <a:t> Lunak)</a:t>
            </a:r>
            <a:r>
              <a:rPr lang="en-ID" sz="2800" dirty="0"/>
              <a:t>: </a:t>
            </a:r>
            <a:r>
              <a:rPr lang="en-ID" sz="2800" dirty="0" err="1"/>
              <a:t>Menulis</a:t>
            </a:r>
            <a:r>
              <a:rPr lang="en-ID" sz="2800" dirty="0"/>
              <a:t> </a:t>
            </a:r>
            <a:r>
              <a:rPr lang="en-ID" sz="2800" dirty="0" err="1"/>
              <a:t>kode</a:t>
            </a:r>
            <a:r>
              <a:rPr lang="en-ID" sz="2800" dirty="0"/>
              <a:t> </a:t>
            </a:r>
            <a:r>
              <a:rPr lang="en-ID" sz="2800" dirty="0" err="1"/>
              <a:t>untuk</a:t>
            </a:r>
            <a:r>
              <a:rPr lang="en-ID" sz="2800" dirty="0"/>
              <a:t> </a:t>
            </a:r>
            <a:r>
              <a:rPr lang="en-ID" sz="2800" dirty="0" err="1"/>
              <a:t>membangun</a:t>
            </a:r>
            <a:r>
              <a:rPr lang="en-ID" sz="2800" dirty="0"/>
              <a:t> </a:t>
            </a:r>
            <a:r>
              <a:rPr lang="en-ID" sz="2800" dirty="0" err="1"/>
              <a:t>aplikasi</a:t>
            </a:r>
            <a:r>
              <a:rPr lang="en-ID" sz="2800" dirty="0"/>
              <a:t> </a:t>
            </a:r>
            <a:r>
              <a:rPr lang="en-ID" sz="2800" dirty="0" err="1"/>
              <a:t>atau</a:t>
            </a:r>
            <a:r>
              <a:rPr lang="en-ID" sz="2800" dirty="0"/>
              <a:t> </a:t>
            </a:r>
            <a:r>
              <a:rPr lang="en-ID" sz="2800" dirty="0" err="1"/>
              <a:t>sistem</a:t>
            </a:r>
            <a:r>
              <a:rPr lang="en-ID" sz="2800" dirty="0"/>
              <a:t>.</a:t>
            </a:r>
          </a:p>
          <a:p>
            <a:pPr lvl="1"/>
            <a:r>
              <a:rPr lang="en-ID" sz="2400" dirty="0" err="1"/>
              <a:t>Membuat</a:t>
            </a:r>
            <a:r>
              <a:rPr lang="en-ID" sz="2400" dirty="0"/>
              <a:t> </a:t>
            </a:r>
            <a:r>
              <a:rPr lang="en-ID" sz="2400" dirty="0" err="1"/>
              <a:t>fitur</a:t>
            </a:r>
            <a:r>
              <a:rPr lang="en-ID" sz="2400" dirty="0"/>
              <a:t> </a:t>
            </a:r>
            <a:r>
              <a:rPr lang="en-ID" sz="2400" dirty="0" err="1"/>
              <a:t>baru</a:t>
            </a:r>
            <a:r>
              <a:rPr lang="en-ID" sz="2400" dirty="0"/>
              <a:t> </a:t>
            </a:r>
            <a:r>
              <a:rPr lang="en-ID" sz="2400" dirty="0" err="1"/>
              <a:t>sesuai</a:t>
            </a:r>
            <a:r>
              <a:rPr lang="en-ID" sz="2400" dirty="0"/>
              <a:t> </a:t>
            </a:r>
            <a:r>
              <a:rPr lang="en-ID" sz="2400" dirty="0" err="1"/>
              <a:t>spesifikasi</a:t>
            </a:r>
            <a:r>
              <a:rPr lang="en-ID" sz="2400" dirty="0"/>
              <a:t>.</a:t>
            </a:r>
          </a:p>
          <a:p>
            <a:pPr lvl="1"/>
            <a:r>
              <a:rPr lang="en-ID" sz="2400" dirty="0" err="1"/>
              <a:t>Memperbaiki</a:t>
            </a:r>
            <a:r>
              <a:rPr lang="en-ID" sz="2400" dirty="0"/>
              <a:t> </a:t>
            </a:r>
            <a:r>
              <a:rPr lang="en-ID" sz="2400" i="1" dirty="0"/>
              <a:t>bug</a:t>
            </a:r>
            <a:r>
              <a:rPr lang="en-ID" sz="2400" dirty="0"/>
              <a:t> </a:t>
            </a:r>
            <a:r>
              <a:rPr lang="en-ID" sz="2400" dirty="0" err="1"/>
              <a:t>atau</a:t>
            </a:r>
            <a:r>
              <a:rPr lang="en-ID" sz="2400" dirty="0"/>
              <a:t> </a:t>
            </a:r>
            <a:r>
              <a:rPr lang="en-ID" sz="2400" dirty="0" err="1"/>
              <a:t>kesalahan</a:t>
            </a:r>
            <a:r>
              <a:rPr lang="en-ID" sz="2400" dirty="0"/>
              <a:t> pada program.</a:t>
            </a:r>
          </a:p>
          <a:p>
            <a:endParaRPr lang="en-ID" dirty="0"/>
          </a:p>
        </p:txBody>
      </p:sp>
      <p:sp>
        <p:nvSpPr>
          <p:cNvPr id="3" name="Title 2">
            <a:extLst>
              <a:ext uri="{FF2B5EF4-FFF2-40B4-BE49-F238E27FC236}">
                <a16:creationId xmlns:a16="http://schemas.microsoft.com/office/drawing/2014/main" id="{67641DA1-FED6-3DE1-9FFD-58ABA4ABB3D3}"/>
              </a:ext>
            </a:extLst>
          </p:cNvPr>
          <p:cNvSpPr>
            <a:spLocks noGrp="1"/>
          </p:cNvSpPr>
          <p:nvPr>
            <p:ph type="title"/>
          </p:nvPr>
        </p:nvSpPr>
        <p:spPr/>
        <p:txBody>
          <a:bodyPr>
            <a:normAutofit fontScale="90000"/>
          </a:bodyPr>
          <a:lstStyle/>
          <a:p>
            <a:r>
              <a:rPr lang="en-ID" dirty="0"/>
              <a:t>Peran Utama </a:t>
            </a:r>
            <a:r>
              <a:rPr lang="en-ID" dirty="0" err="1"/>
              <a:t>dalam</a:t>
            </a:r>
            <a:r>
              <a:rPr lang="en-ID" dirty="0"/>
              <a:t> Tim </a:t>
            </a:r>
            <a:r>
              <a:rPr lang="en-ID" dirty="0" err="1"/>
              <a:t>Perangkat</a:t>
            </a:r>
            <a:r>
              <a:rPr lang="en-ID" dirty="0"/>
              <a:t> Lunak</a:t>
            </a:r>
          </a:p>
        </p:txBody>
      </p:sp>
    </p:spTree>
    <p:extLst>
      <p:ext uri="{BB962C8B-B14F-4D97-AF65-F5344CB8AC3E}">
        <p14:creationId xmlns:p14="http://schemas.microsoft.com/office/powerpoint/2010/main" val="7478147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3C11A-5877-50C0-3008-C5F230B4B21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D93630D-0C90-2A59-1DAF-3305C540D05B}"/>
              </a:ext>
            </a:extLst>
          </p:cNvPr>
          <p:cNvSpPr>
            <a:spLocks noGrp="1"/>
          </p:cNvSpPr>
          <p:nvPr>
            <p:ph idx="1"/>
          </p:nvPr>
        </p:nvSpPr>
        <p:spPr/>
        <p:txBody>
          <a:bodyPr>
            <a:normAutofit fontScale="85000" lnSpcReduction="20000"/>
          </a:bodyPr>
          <a:lstStyle/>
          <a:p>
            <a:pPr lvl="0"/>
            <a:r>
              <a:rPr lang="en-ID" sz="2800" b="1" dirty="0"/>
              <a:t>QA / Quality Assurance (</a:t>
            </a:r>
            <a:r>
              <a:rPr lang="en-ID" sz="2800" b="1" dirty="0" err="1"/>
              <a:t>Penjamin</a:t>
            </a:r>
            <a:r>
              <a:rPr lang="en-ID" sz="2800" b="1" dirty="0"/>
              <a:t> </a:t>
            </a:r>
            <a:r>
              <a:rPr lang="en-ID" sz="2800" b="1" dirty="0" err="1"/>
              <a:t>Kualitas</a:t>
            </a:r>
            <a:r>
              <a:rPr lang="en-ID" sz="2800" b="1" dirty="0"/>
              <a:t>)</a:t>
            </a:r>
            <a:r>
              <a:rPr lang="en-ID" sz="2800" dirty="0"/>
              <a:t>: </a:t>
            </a:r>
            <a:r>
              <a:rPr lang="en-ID" sz="2800" dirty="0" err="1"/>
              <a:t>Memastikan</a:t>
            </a:r>
            <a:r>
              <a:rPr lang="en-ID" sz="2800" dirty="0"/>
              <a:t> </a:t>
            </a:r>
            <a:r>
              <a:rPr lang="en-ID" sz="2800" dirty="0" err="1"/>
              <a:t>perangkat</a:t>
            </a:r>
            <a:r>
              <a:rPr lang="en-ID" sz="2800" dirty="0"/>
              <a:t> </a:t>
            </a:r>
            <a:r>
              <a:rPr lang="en-ID" sz="2800" dirty="0" err="1"/>
              <a:t>lunak</a:t>
            </a:r>
            <a:r>
              <a:rPr lang="en-ID" sz="2800" dirty="0"/>
              <a:t> </a:t>
            </a:r>
            <a:r>
              <a:rPr lang="en-ID" sz="2800" dirty="0" err="1"/>
              <a:t>bebas</a:t>
            </a:r>
            <a:r>
              <a:rPr lang="en-ID" sz="2800" dirty="0"/>
              <a:t> </a:t>
            </a:r>
            <a:r>
              <a:rPr lang="en-ID" sz="2800" dirty="0" err="1"/>
              <a:t>dari</a:t>
            </a:r>
            <a:r>
              <a:rPr lang="en-ID" sz="2800" dirty="0"/>
              <a:t> </a:t>
            </a:r>
            <a:r>
              <a:rPr lang="en-ID" sz="2800" i="1" dirty="0"/>
              <a:t>bug</a:t>
            </a:r>
            <a:r>
              <a:rPr lang="en-ID" sz="2800" dirty="0"/>
              <a:t> </a:t>
            </a:r>
            <a:r>
              <a:rPr lang="en-ID" sz="2800" dirty="0" err="1"/>
              <a:t>sebelum</a:t>
            </a:r>
            <a:r>
              <a:rPr lang="en-ID" sz="2800" dirty="0"/>
              <a:t> </a:t>
            </a:r>
            <a:r>
              <a:rPr lang="en-ID" sz="2800" dirty="0" err="1"/>
              <a:t>dirilis</a:t>
            </a:r>
            <a:r>
              <a:rPr lang="en-ID" sz="2800" dirty="0"/>
              <a:t>.</a:t>
            </a:r>
          </a:p>
          <a:p>
            <a:pPr lvl="1"/>
            <a:r>
              <a:rPr lang="en-ID" sz="2400" dirty="0" err="1"/>
              <a:t>Membuat</a:t>
            </a:r>
            <a:r>
              <a:rPr lang="en-ID" sz="2400" dirty="0"/>
              <a:t> dan </a:t>
            </a:r>
            <a:r>
              <a:rPr lang="en-ID" sz="2400" dirty="0" err="1"/>
              <a:t>menjalankan</a:t>
            </a:r>
            <a:r>
              <a:rPr lang="en-ID" sz="2400" dirty="0"/>
              <a:t> </a:t>
            </a:r>
            <a:r>
              <a:rPr lang="en-ID" sz="2400" dirty="0" err="1"/>
              <a:t>skenario</a:t>
            </a:r>
            <a:r>
              <a:rPr lang="en-ID" sz="2400" dirty="0"/>
              <a:t> </a:t>
            </a:r>
            <a:r>
              <a:rPr lang="en-ID" sz="2400" dirty="0" err="1"/>
              <a:t>pengujian</a:t>
            </a:r>
            <a:r>
              <a:rPr lang="en-ID" sz="2400" dirty="0"/>
              <a:t> (</a:t>
            </a:r>
            <a:r>
              <a:rPr lang="en-ID" sz="2400" i="1" dirty="0"/>
              <a:t>testing</a:t>
            </a:r>
            <a:r>
              <a:rPr lang="en-ID" sz="2400" dirty="0"/>
              <a:t>).</a:t>
            </a:r>
          </a:p>
          <a:p>
            <a:pPr lvl="1"/>
            <a:r>
              <a:rPr lang="en-ID" sz="2400" dirty="0" err="1"/>
              <a:t>Melaporkan</a:t>
            </a:r>
            <a:r>
              <a:rPr lang="en-ID" sz="2400" dirty="0"/>
              <a:t> </a:t>
            </a:r>
            <a:r>
              <a:rPr lang="en-ID" sz="2400" i="1" dirty="0"/>
              <a:t>bug</a:t>
            </a:r>
            <a:r>
              <a:rPr lang="en-ID" sz="2400" dirty="0"/>
              <a:t> </a:t>
            </a:r>
            <a:r>
              <a:rPr lang="en-ID" sz="2400" dirty="0" err="1"/>
              <a:t>kepada</a:t>
            </a:r>
            <a:r>
              <a:rPr lang="en-ID" sz="2400" dirty="0"/>
              <a:t> </a:t>
            </a:r>
            <a:r>
              <a:rPr lang="en-ID" sz="2400" dirty="0" err="1"/>
              <a:t>tim</a:t>
            </a:r>
            <a:r>
              <a:rPr lang="en-ID" sz="2400" dirty="0"/>
              <a:t> </a:t>
            </a:r>
            <a:r>
              <a:rPr lang="en-ID" sz="2400" dirty="0" err="1"/>
              <a:t>pengembang</a:t>
            </a:r>
            <a:r>
              <a:rPr lang="en-ID" sz="2400" dirty="0"/>
              <a:t>.</a:t>
            </a:r>
          </a:p>
          <a:p>
            <a:pPr lvl="0"/>
            <a:r>
              <a:rPr lang="en-ID" sz="2800" b="1" dirty="0"/>
              <a:t>UI/UX Designer (</a:t>
            </a:r>
            <a:r>
              <a:rPr lang="en-ID" sz="2800" b="1" dirty="0" err="1"/>
              <a:t>Perancang</a:t>
            </a:r>
            <a:r>
              <a:rPr lang="en-ID" sz="2800" b="1" dirty="0"/>
              <a:t> </a:t>
            </a:r>
            <a:r>
              <a:rPr lang="en-ID" sz="2800" b="1" dirty="0" err="1"/>
              <a:t>Antarmuka</a:t>
            </a:r>
            <a:r>
              <a:rPr lang="en-ID" sz="2800" b="1" dirty="0"/>
              <a:t> dan </a:t>
            </a:r>
            <a:r>
              <a:rPr lang="en-ID" sz="2800" b="1" dirty="0" err="1"/>
              <a:t>Pengalaman</a:t>
            </a:r>
            <a:r>
              <a:rPr lang="en-ID" sz="2800" b="1" dirty="0"/>
              <a:t> </a:t>
            </a:r>
            <a:r>
              <a:rPr lang="en-ID" sz="2800" b="1" dirty="0" err="1"/>
              <a:t>Pengguna</a:t>
            </a:r>
            <a:r>
              <a:rPr lang="en-ID" sz="2800" b="1" dirty="0"/>
              <a:t>)</a:t>
            </a:r>
            <a:r>
              <a:rPr lang="en-ID" sz="2800" dirty="0"/>
              <a:t>: </a:t>
            </a:r>
            <a:r>
              <a:rPr lang="en-ID" sz="2800" dirty="0" err="1"/>
              <a:t>Merancang</a:t>
            </a:r>
            <a:r>
              <a:rPr lang="en-ID" sz="2800" dirty="0"/>
              <a:t> </a:t>
            </a:r>
            <a:r>
              <a:rPr lang="en-ID" sz="2800" dirty="0" err="1"/>
              <a:t>tampilan</a:t>
            </a:r>
            <a:r>
              <a:rPr lang="en-ID" sz="2800" dirty="0"/>
              <a:t> </a:t>
            </a:r>
            <a:r>
              <a:rPr lang="en-ID" sz="2800" dirty="0" err="1"/>
              <a:t>aplikasi</a:t>
            </a:r>
            <a:r>
              <a:rPr lang="en-ID" sz="2800" dirty="0"/>
              <a:t> dan </a:t>
            </a:r>
            <a:r>
              <a:rPr lang="en-ID" sz="2800" dirty="0" err="1"/>
              <a:t>alur</a:t>
            </a:r>
            <a:r>
              <a:rPr lang="en-ID" sz="2800" dirty="0"/>
              <a:t> </a:t>
            </a:r>
            <a:r>
              <a:rPr lang="en-ID" sz="2800" dirty="0" err="1"/>
              <a:t>penggunaan</a:t>
            </a:r>
            <a:r>
              <a:rPr lang="en-ID" sz="2800" dirty="0"/>
              <a:t> yang </a:t>
            </a:r>
            <a:r>
              <a:rPr lang="en-ID" sz="2800" dirty="0" err="1"/>
              <a:t>nyaman</a:t>
            </a:r>
            <a:r>
              <a:rPr lang="en-ID" sz="2800" dirty="0"/>
              <a:t>.</a:t>
            </a:r>
          </a:p>
          <a:p>
            <a:pPr lvl="1"/>
            <a:r>
              <a:rPr lang="en-ID" sz="2400" dirty="0" err="1"/>
              <a:t>Membuat</a:t>
            </a:r>
            <a:r>
              <a:rPr lang="en-ID" sz="2400" dirty="0"/>
              <a:t> </a:t>
            </a:r>
            <a:r>
              <a:rPr lang="en-ID" sz="2400" dirty="0" err="1"/>
              <a:t>sketsa</a:t>
            </a:r>
            <a:r>
              <a:rPr lang="en-ID" sz="2400" dirty="0"/>
              <a:t> (</a:t>
            </a:r>
            <a:r>
              <a:rPr lang="en-ID" sz="2400" i="1" dirty="0"/>
              <a:t>wireframe</a:t>
            </a:r>
            <a:r>
              <a:rPr lang="en-ID" sz="2400" dirty="0"/>
              <a:t>) dan </a:t>
            </a:r>
            <a:r>
              <a:rPr lang="en-ID" sz="2400" dirty="0" err="1"/>
              <a:t>desain</a:t>
            </a:r>
            <a:r>
              <a:rPr lang="en-ID" sz="2400" dirty="0"/>
              <a:t> visual.</a:t>
            </a:r>
          </a:p>
          <a:p>
            <a:pPr lvl="1"/>
            <a:r>
              <a:rPr lang="en-ID" sz="2400" dirty="0" err="1"/>
              <a:t>Melakukan</a:t>
            </a:r>
            <a:r>
              <a:rPr lang="en-ID" sz="2400" dirty="0"/>
              <a:t> </a:t>
            </a:r>
            <a:r>
              <a:rPr lang="en-ID" sz="2400" dirty="0" err="1"/>
              <a:t>riset</a:t>
            </a:r>
            <a:r>
              <a:rPr lang="en-ID" sz="2400" dirty="0"/>
              <a:t> </a:t>
            </a:r>
            <a:r>
              <a:rPr lang="en-ID" sz="2400" dirty="0" err="1"/>
              <a:t>pengguna</a:t>
            </a:r>
            <a:r>
              <a:rPr lang="en-ID" sz="2400" dirty="0"/>
              <a:t>.</a:t>
            </a:r>
          </a:p>
          <a:p>
            <a:pPr lvl="0"/>
            <a:r>
              <a:rPr lang="en-ID" sz="2800" b="1" dirty="0"/>
              <a:t>DevOps Engineer</a:t>
            </a:r>
            <a:r>
              <a:rPr lang="en-ID" sz="2800" dirty="0"/>
              <a:t>: </a:t>
            </a:r>
            <a:r>
              <a:rPr lang="en-ID" sz="2800" dirty="0" err="1"/>
              <a:t>Mengelola</a:t>
            </a:r>
            <a:r>
              <a:rPr lang="en-ID" sz="2800" dirty="0"/>
              <a:t> </a:t>
            </a:r>
            <a:r>
              <a:rPr lang="en-ID" sz="2800" dirty="0" err="1"/>
              <a:t>infrastruktur</a:t>
            </a:r>
            <a:r>
              <a:rPr lang="en-ID" sz="2800" dirty="0"/>
              <a:t>, server, dan proses </a:t>
            </a:r>
            <a:r>
              <a:rPr lang="en-ID" sz="2800" dirty="0" err="1"/>
              <a:t>peluncuran</a:t>
            </a:r>
            <a:r>
              <a:rPr lang="en-ID" sz="2800" dirty="0"/>
              <a:t> </a:t>
            </a:r>
            <a:r>
              <a:rPr lang="en-ID" sz="2800" dirty="0" err="1"/>
              <a:t>aplikasi</a:t>
            </a:r>
            <a:r>
              <a:rPr lang="en-ID" sz="2800" dirty="0"/>
              <a:t> (</a:t>
            </a:r>
            <a:r>
              <a:rPr lang="en-ID" sz="2800" i="1" dirty="0"/>
              <a:t>deployment</a:t>
            </a:r>
            <a:r>
              <a:rPr lang="en-ID" sz="2800" dirty="0"/>
              <a:t>).</a:t>
            </a:r>
          </a:p>
          <a:p>
            <a:pPr lvl="1"/>
            <a:r>
              <a:rPr lang="en-ID" sz="2400" dirty="0" err="1"/>
              <a:t>Mengotomatisasi</a:t>
            </a:r>
            <a:r>
              <a:rPr lang="en-ID" sz="2400" dirty="0"/>
              <a:t> proses </a:t>
            </a:r>
            <a:r>
              <a:rPr lang="en-ID" sz="2400" dirty="0" err="1"/>
              <a:t>rilis</a:t>
            </a:r>
            <a:r>
              <a:rPr lang="en-ID" sz="2400" dirty="0"/>
              <a:t> </a:t>
            </a:r>
            <a:r>
              <a:rPr lang="en-ID" sz="2400" dirty="0" err="1"/>
              <a:t>perangkat</a:t>
            </a:r>
            <a:r>
              <a:rPr lang="en-ID" sz="2400" dirty="0"/>
              <a:t> </a:t>
            </a:r>
            <a:r>
              <a:rPr lang="en-ID" sz="2400" dirty="0" err="1"/>
              <a:t>lunak</a:t>
            </a:r>
            <a:r>
              <a:rPr lang="en-ID" sz="2400" dirty="0"/>
              <a:t>.</a:t>
            </a:r>
          </a:p>
          <a:p>
            <a:pPr lvl="1"/>
            <a:r>
              <a:rPr lang="en-ID" sz="2400" dirty="0" err="1"/>
              <a:t>Memastikan</a:t>
            </a:r>
            <a:r>
              <a:rPr lang="en-ID" sz="2400" dirty="0"/>
              <a:t> </a:t>
            </a:r>
            <a:r>
              <a:rPr lang="en-ID" sz="2400" dirty="0" err="1"/>
              <a:t>sistem</a:t>
            </a:r>
            <a:r>
              <a:rPr lang="en-ID" sz="2400" dirty="0"/>
              <a:t> </a:t>
            </a:r>
            <a:r>
              <a:rPr lang="en-ID" sz="2400" dirty="0" err="1"/>
              <a:t>aman</a:t>
            </a:r>
            <a:r>
              <a:rPr lang="en-ID" sz="2400" dirty="0"/>
              <a:t> dan </a:t>
            </a:r>
            <a:r>
              <a:rPr lang="en-ID" sz="2400" dirty="0" err="1"/>
              <a:t>stabil</a:t>
            </a:r>
            <a:endParaRPr lang="en-ID" sz="2400" dirty="0"/>
          </a:p>
          <a:p>
            <a:endParaRPr lang="en-ID" dirty="0"/>
          </a:p>
        </p:txBody>
      </p:sp>
      <p:sp>
        <p:nvSpPr>
          <p:cNvPr id="3" name="Title 2">
            <a:extLst>
              <a:ext uri="{FF2B5EF4-FFF2-40B4-BE49-F238E27FC236}">
                <a16:creationId xmlns:a16="http://schemas.microsoft.com/office/drawing/2014/main" id="{353685F5-CCEF-3173-30CC-33BEE55CEED9}"/>
              </a:ext>
            </a:extLst>
          </p:cNvPr>
          <p:cNvSpPr>
            <a:spLocks noGrp="1"/>
          </p:cNvSpPr>
          <p:nvPr>
            <p:ph type="title"/>
          </p:nvPr>
        </p:nvSpPr>
        <p:spPr/>
        <p:txBody>
          <a:bodyPr>
            <a:normAutofit fontScale="90000"/>
          </a:bodyPr>
          <a:lstStyle/>
          <a:p>
            <a:r>
              <a:rPr lang="en-ID" dirty="0"/>
              <a:t>Peran Utama </a:t>
            </a:r>
            <a:r>
              <a:rPr lang="en-ID" dirty="0" err="1"/>
              <a:t>dalam</a:t>
            </a:r>
            <a:r>
              <a:rPr lang="en-ID" dirty="0"/>
              <a:t> Tim </a:t>
            </a:r>
            <a:r>
              <a:rPr lang="en-ID" dirty="0" err="1"/>
              <a:t>Perangkat</a:t>
            </a:r>
            <a:r>
              <a:rPr lang="en-ID" dirty="0"/>
              <a:t> Lunak</a:t>
            </a:r>
          </a:p>
        </p:txBody>
      </p:sp>
    </p:spTree>
    <p:extLst>
      <p:ext uri="{BB962C8B-B14F-4D97-AF65-F5344CB8AC3E}">
        <p14:creationId xmlns:p14="http://schemas.microsoft.com/office/powerpoint/2010/main" val="8471567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2971800"/>
            <a:ext cx="8229600" cy="1143000"/>
          </a:xfrm>
        </p:spPr>
        <p:txBody>
          <a:bodyPr/>
          <a:lstStyle/>
          <a:p>
            <a:pPr algn="ctr"/>
            <a:r>
              <a:rPr lang="en-US"/>
              <a:t>Terimakasih</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397</TotalTime>
  <Words>1481</Words>
  <Application>Microsoft Office PowerPoint</Application>
  <PresentationFormat>On-screen Show (4:3)</PresentationFormat>
  <Paragraphs>125</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Lucida Sans Unicode</vt:lpstr>
      <vt:lpstr>Verdana</vt:lpstr>
      <vt:lpstr>Wingdings 2</vt:lpstr>
      <vt:lpstr>Wingdings 3</vt:lpstr>
      <vt:lpstr>Concourse</vt:lpstr>
      <vt:lpstr>Software Development Life Cycle (SDLC)</vt:lpstr>
      <vt:lpstr>Definisi</vt:lpstr>
      <vt:lpstr>Definisi</vt:lpstr>
      <vt:lpstr>Definisi</vt:lpstr>
      <vt:lpstr>Tahapan utama dari SDLC</vt:lpstr>
      <vt:lpstr>Tahapan utama dari SDLC</vt:lpstr>
      <vt:lpstr>Manfaat SDLC</vt:lpstr>
      <vt:lpstr>Manfaat SDLC</vt:lpstr>
      <vt:lpstr>Model SDLC</vt:lpstr>
      <vt:lpstr>SOFTWARE PROCESS</vt:lpstr>
      <vt:lpstr>SOFTWARE PROCESS</vt:lpstr>
      <vt:lpstr>AKTIFITAS UMUM DALAM SOFTWARE PROCESS</vt:lpstr>
      <vt:lpstr>AKTIFITAS UMUM DALAM SOFTWARE PROCESS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KARAKTERISTIK SOFTWARE PROCESS YANG BAIK</vt:lpstr>
      <vt:lpstr>KARAKTERISTIK SOFTWARE PROCESS YANG BAIK</vt:lpstr>
      <vt:lpstr>KARAKTERISTIK SOFTWARE PROCESS YANG BAIK</vt:lpstr>
      <vt:lpstr>Peran Utama dalam Tim Perangkat Lunak</vt:lpstr>
      <vt:lpstr>Peran Utama dalam Tim Perangkat Lunak</vt:lpstr>
      <vt:lpstr>Terimakasih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Development Life Cycle (SDLC)</dc:title>
  <dc:creator>LENOVO</dc:creator>
  <cp:lastModifiedBy>girihardana@gmail.com</cp:lastModifiedBy>
  <cp:revision>56</cp:revision>
  <dcterms:created xsi:type="dcterms:W3CDTF">2023-03-27T10:59:59Z</dcterms:created>
  <dcterms:modified xsi:type="dcterms:W3CDTF">2026-09-06T02:34:51Z</dcterms:modified>
</cp:coreProperties>
</file>